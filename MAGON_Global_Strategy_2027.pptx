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jpg"/><Relationship Id="rId4" Type="http://schemas.openxmlformats.org/officeDocument/2006/relationships/image" Target="../media/image6.jpg"/><Relationship Id="rId5" Type="http://schemas.openxmlformats.org/officeDocument/2006/relationships/image" Target="../media/image7.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9.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jpg"/><Relationship Id="rId4" Type="http://schemas.openxmlformats.org/officeDocument/2006/relationships/image" Target="../media/image17.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8.jpg"/><Relationship Id="rId4" Type="http://schemas.openxmlformats.org/officeDocument/2006/relationships/image" Target="../media/image1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jpg"/><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25.jpg"/><Relationship Id="rId4" Type="http://schemas.openxmlformats.org/officeDocument/2006/relationships/image" Target="../media/image2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36.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 Id="rId8" Type="http://schemas.openxmlformats.org/officeDocument/2006/relationships/image" Target="../media/image43.png"/><Relationship Id="rId9" Type="http://schemas.openxmlformats.org/officeDocument/2006/relationships/image" Target="../media/image44.png"/><Relationship Id="rId10" Type="http://schemas.openxmlformats.org/officeDocument/2006/relationships/image" Target="../media/image45.png"/><Relationship Id="rId11" Type="http://schemas.openxmlformats.org/officeDocument/2006/relationships/image" Target="../media/image46.png"/><Relationship Id="rId12" Type="http://schemas.openxmlformats.org/officeDocument/2006/relationships/image" Target="../media/image47.png"/><Relationship Id="rId13" Type="http://schemas.openxmlformats.org/officeDocument/2006/relationships/image" Target="../media/image48.png"/><Relationship Id="rId14" Type="http://schemas.openxmlformats.org/officeDocument/2006/relationships/image" Target="../media/image49.png"/><Relationship Id="rId15" Type="http://schemas.openxmlformats.org/officeDocument/2006/relationships/image" Target="../media/image50.png"/><Relationship Id="rId16" Type="http://schemas.openxmlformats.org/officeDocument/2006/relationships/image" Target="../media/image51.png"/><Relationship Id="rId17" Type="http://schemas.openxmlformats.org/officeDocument/2006/relationships/image" Target="../media/image52.png"/><Relationship Id="rId18" Type="http://schemas.openxmlformats.org/officeDocument/2006/relationships/image" Target="../media/image53.png"/><Relationship Id="rId19" Type="http://schemas.openxmlformats.org/officeDocument/2006/relationships/image" Target="../media/image54.png"/><Relationship Id="rId20" Type="http://schemas.openxmlformats.org/officeDocument/2006/relationships/image" Target="../media/image55.png"/><Relationship Id="rId21" Type="http://schemas.openxmlformats.org/officeDocument/2006/relationships/image" Target="../media/image5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10.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jpg"/><Relationship Id="rId4" Type="http://schemas.openxmlformats.org/officeDocument/2006/relationships/image" Target="../media/image61.jpg"/><Relationship Id="rId5" Type="http://schemas.openxmlformats.org/officeDocument/2006/relationships/image" Target="../media/image62.jpg"/><Relationship Id="rId6" Type="http://schemas.openxmlformats.org/officeDocument/2006/relationships/image" Target="../media/image6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 Id="rId3" Type="http://schemas.openxmlformats.org/officeDocument/2006/relationships/image" Target="../media/image1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jpg"/><Relationship Id="rId4" Type="http://schemas.openxmlformats.org/officeDocument/2006/relationships/image" Target="../media/image71.jpg"/><Relationship Id="rId5" Type="http://schemas.openxmlformats.org/officeDocument/2006/relationships/image" Target="../media/image72.jpg"/><Relationship Id="rId6" Type="http://schemas.openxmlformats.org/officeDocument/2006/relationships/image" Target="../media/image73.jpg"/><Relationship Id="rId7" Type="http://schemas.openxmlformats.org/officeDocument/2006/relationships/image" Target="../media/image74.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 Id="rId3" Type="http://schemas.openxmlformats.org/officeDocument/2006/relationships/image" Target="../media/image12.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 Id="rId3" Type="http://schemas.openxmlformats.org/officeDocument/2006/relationships/image" Target="../media/image8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 Id="rId3" Type="http://schemas.openxmlformats.org/officeDocument/2006/relationships/image" Target="../media/image9.jpg"/><Relationship Id="rId4" Type="http://schemas.openxmlformats.org/officeDocument/2006/relationships/image" Target="../media/image10.jpg"/><Relationship Id="rId5" Type="http://schemas.openxmlformats.org/officeDocument/2006/relationships/image" Target="../media/image11.jpg"/><Relationship Id="rId6" Type="http://schemas.openxmlformats.org/officeDocument/2006/relationships/image" Target="../media/image12.jpg"/><Relationship Id="rId7" Type="http://schemas.openxmlformats.org/officeDocument/2006/relationships/image" Target="../media/image13.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 Id="rId3" Type="http://schemas.openxmlformats.org/officeDocument/2006/relationships/image" Target="../media/image1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 Id="rId3" Type="http://schemas.openxmlformats.org/officeDocument/2006/relationships/image" Target="../media/image90.png"/><Relationship Id="rId4" Type="http://schemas.openxmlformats.org/officeDocument/2006/relationships/image" Target="../media/image91.png"/><Relationship Id="rId5" Type="http://schemas.openxmlformats.org/officeDocument/2006/relationships/image" Target="../media/image9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 Id="rId3" Type="http://schemas.openxmlformats.org/officeDocument/2006/relationships/image" Target="../media/image9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0.png"/>
          <p:cNvPicPr>
            <a:picLocks noChangeAspect="1"/>
          </p:cNvPicPr>
          <p:nvPr/>
        </p:nvPicPr>
        <p:blipFill>
          <a:blip r:embed="rId2"/>
          <a:stretch>
            <a:fillRect/>
          </a:stretch>
        </p:blipFill>
        <p:spPr>
          <a:xfrm>
            <a:off x="0" y="0"/>
            <a:ext cx="9144000" cy="5143500"/>
          </a:xfrm>
          <a:prstGeom prst="rect">
            <a:avLst/>
          </a:prstGeom>
        </p:spPr>
      </p:pic>
      <p:pic>
        <p:nvPicPr>
          <p:cNvPr id="3" name="Picture 2" descr="7b88e4626f94107e532202482c16acb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1390650"/>
            <a:ext cx="3619500" cy="205740"/>
          </a:xfrm>
          <a:prstGeom prst="rect">
            <a:avLst/>
          </a:prstGeom>
          <a:noFill/>
        </p:spPr>
        <p:txBody>
          <a:bodyPr wrap="square">
            <a:spAutoFit/>
          </a:bodyPr>
          <a:lstStyle/>
          <a:p>
            <a:pPr algn="l"/>
            <a:r>
              <a:rPr sz="1800" b="0" i="0" spc="600">
                <a:solidFill>
                  <a:srgbClr val="D9B45A"/>
                </a:solidFill>
                <a:latin typeface="Rubik"/>
              </a:rPr>
              <a:t>GLOBAL MARKETING STRATEGY</a:t>
            </a:r>
          </a:p>
        </p:txBody>
      </p:sp>
      <p:sp>
        <p:nvSpPr>
          <p:cNvPr id="5" name="TextBox 4"/>
          <p:cNvSpPr txBox="1"/>
          <p:nvPr/>
        </p:nvSpPr>
        <p:spPr>
          <a:xfrm>
            <a:off x="571500" y="1600200"/>
            <a:ext cx="3333750" cy="1337310"/>
          </a:xfrm>
          <a:prstGeom prst="rect">
            <a:avLst/>
          </a:prstGeom>
          <a:noFill/>
        </p:spPr>
        <p:txBody>
          <a:bodyPr wrap="square">
            <a:spAutoFit/>
          </a:bodyPr>
          <a:lstStyle/>
          <a:p>
            <a:pPr algn="l"/>
            <a:r>
              <a:rPr sz="11700" b="0" i="0" spc="1050">
                <a:solidFill>
                  <a:srgbClr val="F7F4EC"/>
                </a:solidFill>
                <a:latin typeface="Cormorant Garamond"/>
              </a:rPr>
              <a:t>MAGON</a:t>
            </a:r>
          </a:p>
        </p:txBody>
      </p:sp>
      <p:sp>
        <p:nvSpPr>
          <p:cNvPr id="6" name="TextBox 5"/>
          <p:cNvSpPr txBox="1"/>
          <p:nvPr/>
        </p:nvSpPr>
        <p:spPr>
          <a:xfrm>
            <a:off x="609600" y="2628900"/>
            <a:ext cx="3333750" cy="569565"/>
          </a:xfrm>
          <a:prstGeom prst="rect">
            <a:avLst/>
          </a:prstGeom>
          <a:noFill/>
        </p:spPr>
        <p:txBody>
          <a:bodyPr wrap="square">
            <a:spAutoFit/>
          </a:bodyPr>
          <a:lstStyle/>
          <a:p>
            <a:pPr algn="l"/>
            <a:r>
              <a:rPr sz="3900" b="0" i="1">
                <a:solidFill>
                  <a:srgbClr val="D9B45A"/>
                </a:solidFill>
                <a:latin typeface="Cormorant Garamond"/>
              </a:rPr>
              <a:t>From the Ancient Mediterranean to the Modern Table</a:t>
            </a:r>
          </a:p>
        </p:txBody>
      </p:sp>
      <p:sp>
        <p:nvSpPr>
          <p:cNvPr id="7" name="TextBox 6"/>
          <p:cNvSpPr txBox="1"/>
          <p:nvPr/>
        </p:nvSpPr>
        <p:spPr>
          <a:xfrm>
            <a:off x="609600" y="3505200"/>
            <a:ext cx="3048000" cy="400050"/>
          </a:xfrm>
          <a:prstGeom prst="rect">
            <a:avLst/>
          </a:prstGeom>
          <a:noFill/>
        </p:spPr>
        <p:txBody>
          <a:bodyPr wrap="square">
            <a:spAutoFit/>
          </a:bodyPr>
          <a:lstStyle/>
          <a:p>
            <a:pPr algn="l"/>
            <a:r>
              <a:rPr sz="2250" b="0" i="0">
                <a:solidFill>
                  <a:srgbClr val="F7F4EC"/>
                </a:solidFill>
                <a:latin typeface="Rubik"/>
              </a:rPr>
              <a:t>Tunisian heritage × Mediterranean taste × Japanese reliability</a:t>
            </a:r>
          </a:p>
        </p:txBody>
      </p:sp>
      <p:sp>
        <p:nvSpPr>
          <p:cNvPr id="8" name="TextBox 7"/>
          <p:cNvSpPr txBox="1"/>
          <p:nvPr/>
        </p:nvSpPr>
        <p:spPr>
          <a:xfrm>
            <a:off x="609600" y="4678709"/>
            <a:ext cx="3619500" cy="205740"/>
          </a:xfrm>
          <a:prstGeom prst="rect">
            <a:avLst/>
          </a:prstGeom>
          <a:noFill/>
        </p:spPr>
        <p:txBody>
          <a:bodyPr wrap="square">
            <a:spAutoFit/>
          </a:bodyPr>
          <a:lstStyle/>
          <a:p>
            <a:pPr algn="l"/>
            <a:r>
              <a:rPr sz="1800" b="0" i="0" spc="300">
                <a:solidFill>
                  <a:srgbClr val="A9BFA7"/>
                </a:solidFill>
                <a:latin typeface="Rubik"/>
              </a:rPr>
              <a:t>SARAYA NATURAL PRODUCTS TUNISIA</a:t>
            </a:r>
          </a:p>
        </p:txBody>
      </p:sp>
    </p:spTree>
  </p:cSld>
  <p:clrMapOvr>
    <a:masterClrMapping/>
  </p:clrMapOvr>
  <p:transition dur="500" advClick="1">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1.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359149" cy="205740"/>
          </a:xfrm>
          <a:prstGeom prst="rect">
            <a:avLst/>
          </a:prstGeom>
          <a:noFill/>
        </p:spPr>
        <p:txBody>
          <a:bodyPr wrap="square">
            <a:spAutoFit/>
          </a:bodyPr>
          <a:lstStyle/>
          <a:p>
            <a:pPr algn="l"/>
            <a:r>
              <a:rPr sz="1800" b="0" i="0" spc="300">
                <a:solidFill>
                  <a:srgbClr val="8A6A22"/>
                </a:solidFill>
                <a:latin typeface="Rubik"/>
              </a:rPr>
              <a:t>MAGON · 1</a:t>
            </a:r>
          </a:p>
        </p:txBody>
      </p:sp>
      <p:sp>
        <p:nvSpPr>
          <p:cNvPr id="4" name="TextBox 3"/>
          <p:cNvSpPr txBox="1"/>
          <p:nvPr/>
        </p:nvSpPr>
        <p:spPr>
          <a:xfrm>
            <a:off x="609600" y="721965"/>
            <a:ext cx="2359149" cy="548640"/>
          </a:xfrm>
          <a:prstGeom prst="rect">
            <a:avLst/>
          </a:prstGeom>
          <a:noFill/>
        </p:spPr>
        <p:txBody>
          <a:bodyPr wrap="square">
            <a:spAutoFit/>
          </a:bodyPr>
          <a:lstStyle/>
          <a:p>
            <a:pPr algn="l"/>
            <a:r>
              <a:rPr sz="4800" b="0" i="0">
                <a:solidFill>
                  <a:srgbClr val="14281C"/>
                </a:solidFill>
                <a:latin typeface="Cormorant Garamond"/>
              </a:rPr>
              <a:t>Executive Summary</a:t>
            </a:r>
          </a:p>
        </p:txBody>
      </p:sp>
      <p:sp>
        <p:nvSpPr>
          <p:cNvPr id="5" name="TextBox 4"/>
          <p:cNvSpPr txBox="1"/>
          <p:nvPr/>
        </p:nvSpPr>
        <p:spPr>
          <a:xfrm>
            <a:off x="609600" y="1190550"/>
            <a:ext cx="7924800" cy="342900"/>
          </a:xfrm>
          <a:prstGeom prst="rect">
            <a:avLst/>
          </a:prstGeom>
          <a:noFill/>
        </p:spPr>
        <p:txBody>
          <a:bodyPr wrap="square">
            <a:spAutoFit/>
          </a:bodyPr>
          <a:lstStyle/>
          <a:p>
            <a:pPr algn="l"/>
            <a:r>
              <a:rPr sz="3000" b="0" i="1">
                <a:solidFill>
                  <a:srgbClr val="8A6A22"/>
                </a:solidFill>
                <a:latin typeface="Cormorant Garamond"/>
              </a:rPr>
              <a:t>Build MAGON as a global Mediterranean premium brand — not a commodity olive oil</a:t>
            </a:r>
          </a:p>
        </p:txBody>
      </p:sp>
      <p:sp>
        <p:nvSpPr>
          <p:cNvPr id="6" name="TextBox 5"/>
          <p:cNvSpPr txBox="1"/>
          <p:nvPr/>
        </p:nvSpPr>
        <p:spPr>
          <a:xfrm>
            <a:off x="842962" y="1764506"/>
            <a:ext cx="3429000" cy="617220"/>
          </a:xfrm>
          <a:prstGeom prst="rect">
            <a:avLst/>
          </a:prstGeom>
          <a:noFill/>
        </p:spPr>
        <p:txBody>
          <a:bodyPr wrap="square">
            <a:spAutoFit/>
          </a:bodyPr>
          <a:lstStyle/>
          <a:p>
            <a:pPr algn="l"/>
            <a:r>
              <a:rPr sz="5400" b="0" i="0">
                <a:solidFill>
                  <a:srgbClr val="D9B45A"/>
                </a:solidFill>
                <a:latin typeface="Cormorant Garamond"/>
              </a:rPr>
              <a:t>01</a:t>
            </a:r>
          </a:p>
        </p:txBody>
      </p:sp>
      <p:sp>
        <p:nvSpPr>
          <p:cNvPr id="7" name="TextBox 6"/>
          <p:cNvSpPr txBox="1"/>
          <p:nvPr/>
        </p:nvSpPr>
        <p:spPr>
          <a:xfrm>
            <a:off x="842962" y="2174081"/>
            <a:ext cx="3429000" cy="411360"/>
          </a:xfrm>
          <a:prstGeom prst="rect">
            <a:avLst/>
          </a:prstGeom>
          <a:noFill/>
        </p:spPr>
        <p:txBody>
          <a:bodyPr wrap="square">
            <a:spAutoFit/>
          </a:bodyPr>
          <a:lstStyle/>
          <a:p>
            <a:pPr algn="l"/>
            <a:r>
              <a:rPr sz="2400" b="0" i="0">
                <a:solidFill>
                  <a:srgbClr val="F7F4EC"/>
                </a:solidFill>
                <a:latin typeface="Rubik"/>
              </a:rPr>
              <a:t>Shift from product-led selling to story-led, experience-led marketing.</a:t>
            </a:r>
          </a:p>
        </p:txBody>
      </p:sp>
      <p:sp>
        <p:nvSpPr>
          <p:cNvPr id="8" name="TextBox 7"/>
          <p:cNvSpPr txBox="1"/>
          <p:nvPr/>
        </p:nvSpPr>
        <p:spPr>
          <a:xfrm>
            <a:off x="4872037" y="1764506"/>
            <a:ext cx="3429000" cy="617220"/>
          </a:xfrm>
          <a:prstGeom prst="rect">
            <a:avLst/>
          </a:prstGeom>
          <a:noFill/>
        </p:spPr>
        <p:txBody>
          <a:bodyPr wrap="square">
            <a:spAutoFit/>
          </a:bodyPr>
          <a:lstStyle/>
          <a:p>
            <a:pPr algn="l"/>
            <a:r>
              <a:rPr sz="5400" b="0" i="0">
                <a:solidFill>
                  <a:srgbClr val="D9B45A"/>
                </a:solidFill>
                <a:latin typeface="Cormorant Garamond"/>
              </a:rPr>
              <a:t>02</a:t>
            </a:r>
          </a:p>
        </p:txBody>
      </p:sp>
      <p:sp>
        <p:nvSpPr>
          <p:cNvPr id="9" name="TextBox 8"/>
          <p:cNvSpPr txBox="1"/>
          <p:nvPr/>
        </p:nvSpPr>
        <p:spPr>
          <a:xfrm>
            <a:off x="4872037" y="2174081"/>
            <a:ext cx="3429000" cy="411360"/>
          </a:xfrm>
          <a:prstGeom prst="rect">
            <a:avLst/>
          </a:prstGeom>
          <a:noFill/>
        </p:spPr>
        <p:txBody>
          <a:bodyPr wrap="square">
            <a:spAutoFit/>
          </a:bodyPr>
          <a:lstStyle/>
          <a:p>
            <a:pPr algn="l"/>
            <a:r>
              <a:rPr sz="2400" b="0" i="0">
                <a:solidFill>
                  <a:srgbClr val="F7F4EC"/>
                </a:solidFill>
                <a:latin typeface="Rubik"/>
              </a:rPr>
              <a:t>Use Flavored as the digital growth engine and MOHRA as the luxury halo.</a:t>
            </a:r>
          </a:p>
        </p:txBody>
      </p:sp>
      <p:sp>
        <p:nvSpPr>
          <p:cNvPr id="10" name="TextBox 9"/>
          <p:cNvSpPr txBox="1"/>
          <p:nvPr/>
        </p:nvSpPr>
        <p:spPr>
          <a:xfrm>
            <a:off x="842962" y="3245643"/>
            <a:ext cx="3429000" cy="617220"/>
          </a:xfrm>
          <a:prstGeom prst="rect">
            <a:avLst/>
          </a:prstGeom>
          <a:noFill/>
        </p:spPr>
        <p:txBody>
          <a:bodyPr wrap="square">
            <a:spAutoFit/>
          </a:bodyPr>
          <a:lstStyle/>
          <a:p>
            <a:pPr algn="l"/>
            <a:r>
              <a:rPr sz="5400" b="0" i="0">
                <a:solidFill>
                  <a:srgbClr val="D9B45A"/>
                </a:solidFill>
                <a:latin typeface="Cormorant Garamond"/>
              </a:rPr>
              <a:t>03</a:t>
            </a:r>
          </a:p>
        </p:txBody>
      </p:sp>
      <p:sp>
        <p:nvSpPr>
          <p:cNvPr id="11" name="TextBox 10"/>
          <p:cNvSpPr txBox="1"/>
          <p:nvPr/>
        </p:nvSpPr>
        <p:spPr>
          <a:xfrm>
            <a:off x="842962" y="3655218"/>
            <a:ext cx="3429000" cy="411360"/>
          </a:xfrm>
          <a:prstGeom prst="rect">
            <a:avLst/>
          </a:prstGeom>
          <a:noFill/>
        </p:spPr>
        <p:txBody>
          <a:bodyPr wrap="square">
            <a:spAutoFit/>
          </a:bodyPr>
          <a:lstStyle/>
          <a:p>
            <a:pPr algn="l"/>
            <a:r>
              <a:rPr sz="2400" b="0" i="0">
                <a:solidFill>
                  <a:srgbClr val="F7F4EC"/>
                </a:solidFill>
                <a:latin typeface="Rubik"/>
              </a:rPr>
              <a:t>Prioritize premium food, gourmet retail, hospitality, restaurants and gifting.</a:t>
            </a:r>
          </a:p>
        </p:txBody>
      </p:sp>
      <p:sp>
        <p:nvSpPr>
          <p:cNvPr id="12" name="TextBox 11"/>
          <p:cNvSpPr txBox="1"/>
          <p:nvPr/>
        </p:nvSpPr>
        <p:spPr>
          <a:xfrm>
            <a:off x="4872037" y="3142803"/>
            <a:ext cx="3429000" cy="617220"/>
          </a:xfrm>
          <a:prstGeom prst="rect">
            <a:avLst/>
          </a:prstGeom>
          <a:noFill/>
        </p:spPr>
        <p:txBody>
          <a:bodyPr wrap="square">
            <a:spAutoFit/>
          </a:bodyPr>
          <a:lstStyle/>
          <a:p>
            <a:pPr algn="l"/>
            <a:r>
              <a:rPr sz="5400" b="0" i="0">
                <a:solidFill>
                  <a:srgbClr val="D9B45A"/>
                </a:solidFill>
                <a:latin typeface="Cormorant Garamond"/>
              </a:rPr>
              <a:t>04</a:t>
            </a:r>
          </a:p>
        </p:txBody>
      </p:sp>
      <p:sp>
        <p:nvSpPr>
          <p:cNvPr id="13" name="TextBox 12"/>
          <p:cNvSpPr txBox="1"/>
          <p:nvPr/>
        </p:nvSpPr>
        <p:spPr>
          <a:xfrm>
            <a:off x="4872037" y="3552378"/>
            <a:ext cx="3429000" cy="617041"/>
          </a:xfrm>
          <a:prstGeom prst="rect">
            <a:avLst/>
          </a:prstGeom>
          <a:noFill/>
        </p:spPr>
        <p:txBody>
          <a:bodyPr wrap="square">
            <a:spAutoFit/>
          </a:bodyPr>
          <a:lstStyle/>
          <a:p>
            <a:pPr algn="l"/>
            <a:r>
              <a:rPr sz="2400" b="0" i="0">
                <a:solidFill>
                  <a:srgbClr val="F7F4EC"/>
                </a:solidFill>
                <a:latin typeface="Rubik"/>
              </a:rPr>
              <a:t>Create a repeatable global playbook: Story → Sampling → Trial → First Order → Repeat Purchase.</a:t>
            </a:r>
          </a:p>
        </p:txBody>
      </p:sp>
      <p:sp>
        <p:nvSpPr>
          <p:cNvPr id="14" name="TextBox 13"/>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02 / 35</a:t>
            </a:r>
          </a:p>
        </p:txBody>
      </p:sp>
    </p:spTree>
  </p:cSld>
  <p:clrMapOvr>
    <a:masterClrMapping/>
  </p:clrMapOvr>
  <p:transition dur="500" advClick="1">
    <p:fade/>
  </p:transition>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2.png"/>
          <p:cNvPicPr>
            <a:picLocks noChangeAspect="1"/>
          </p:cNvPicPr>
          <p:nvPr/>
        </p:nvPicPr>
        <p:blipFill>
          <a:blip r:embed="rId2"/>
          <a:stretch>
            <a:fillRect/>
          </a:stretch>
        </p:blipFill>
        <p:spPr>
          <a:xfrm>
            <a:off x="0" y="0"/>
            <a:ext cx="9144000" cy="5143500"/>
          </a:xfrm>
          <a:prstGeom prst="rect">
            <a:avLst/>
          </a:prstGeom>
        </p:spPr>
      </p:pic>
      <p:pic>
        <p:nvPicPr>
          <p:cNvPr id="3" name="Picture 2" descr="f20194ef2368b006854b5693094c0860.jpg"/>
          <p:cNvPicPr>
            <a:picLocks noChangeAspect="1"/>
          </p:cNvPicPr>
          <p:nvPr/>
        </p:nvPicPr>
        <p:blipFill>
          <a:blip r:embed="rId3"/>
          <a:stretch>
            <a:fillRect/>
          </a:stretch>
        </p:blipFill>
        <p:spPr>
          <a:xfrm>
            <a:off x="623887" y="1223888"/>
            <a:ext cx="2543175" cy="1190625"/>
          </a:xfrm>
          <a:prstGeom prst="rect">
            <a:avLst/>
          </a:prstGeom>
        </p:spPr>
      </p:pic>
      <p:pic>
        <p:nvPicPr>
          <p:cNvPr id="4" name="Picture 3" descr="61a96a52447c82517fae791f5e8cdf05.jpg"/>
          <p:cNvPicPr>
            <a:picLocks noChangeAspect="1"/>
          </p:cNvPicPr>
          <p:nvPr/>
        </p:nvPicPr>
        <p:blipFill>
          <a:blip r:embed="rId4"/>
          <a:stretch>
            <a:fillRect/>
          </a:stretch>
        </p:blipFill>
        <p:spPr>
          <a:xfrm>
            <a:off x="3309937" y="1223888"/>
            <a:ext cx="2543175" cy="1190625"/>
          </a:xfrm>
          <a:prstGeom prst="rect">
            <a:avLst/>
          </a:prstGeom>
        </p:spPr>
      </p:pic>
      <p:pic>
        <p:nvPicPr>
          <p:cNvPr id="5" name="Picture 4" descr="ea1c390cc14c9d016d2da09c3b5c7ee1.jpg"/>
          <p:cNvPicPr>
            <a:picLocks noChangeAspect="1"/>
          </p:cNvPicPr>
          <p:nvPr/>
        </p:nvPicPr>
        <p:blipFill>
          <a:blip r:embed="rId5"/>
          <a:stretch>
            <a:fillRect/>
          </a:stretch>
        </p:blipFill>
        <p:spPr>
          <a:xfrm>
            <a:off x="5995987" y="1223888"/>
            <a:ext cx="2543175" cy="1190625"/>
          </a:xfrm>
          <a:prstGeom prst="rect">
            <a:avLst/>
          </a:prstGeom>
        </p:spPr>
      </p:pic>
      <p:sp>
        <p:nvSpPr>
          <p:cNvPr id="6" name="TextBox 5"/>
          <p:cNvSpPr txBox="1"/>
          <p:nvPr/>
        </p:nvSpPr>
        <p:spPr>
          <a:xfrm>
            <a:off x="609600" y="533400"/>
            <a:ext cx="3035424" cy="205740"/>
          </a:xfrm>
          <a:prstGeom prst="rect">
            <a:avLst/>
          </a:prstGeom>
          <a:noFill/>
        </p:spPr>
        <p:txBody>
          <a:bodyPr wrap="square">
            <a:spAutoFit/>
          </a:bodyPr>
          <a:lstStyle/>
          <a:p>
            <a:pPr algn="l"/>
            <a:r>
              <a:rPr sz="1800" b="0" i="0" spc="300">
                <a:solidFill>
                  <a:srgbClr val="8A6A22"/>
                </a:solidFill>
                <a:latin typeface="Rubik"/>
              </a:rPr>
              <a:t>MAGON · 2</a:t>
            </a:r>
          </a:p>
        </p:txBody>
      </p:sp>
      <p:sp>
        <p:nvSpPr>
          <p:cNvPr id="7" name="TextBox 6"/>
          <p:cNvSpPr txBox="1"/>
          <p:nvPr/>
        </p:nvSpPr>
        <p:spPr>
          <a:xfrm>
            <a:off x="609600" y="721965"/>
            <a:ext cx="3035424" cy="548640"/>
          </a:xfrm>
          <a:prstGeom prst="rect">
            <a:avLst/>
          </a:prstGeom>
          <a:noFill/>
        </p:spPr>
        <p:txBody>
          <a:bodyPr wrap="square">
            <a:spAutoFit/>
          </a:bodyPr>
          <a:lstStyle/>
          <a:p>
            <a:pPr algn="l"/>
            <a:r>
              <a:rPr sz="4800" b="0" i="0">
                <a:solidFill>
                  <a:srgbClr val="14281C"/>
                </a:solidFill>
                <a:latin typeface="Cormorant Garamond"/>
              </a:rPr>
              <a:t>Global Brand Positioning</a:t>
            </a:r>
          </a:p>
        </p:txBody>
      </p:sp>
      <p:sp>
        <p:nvSpPr>
          <p:cNvPr id="8" name="TextBox 7"/>
          <p:cNvSpPr txBox="1"/>
          <p:nvPr/>
        </p:nvSpPr>
        <p:spPr>
          <a:xfrm>
            <a:off x="1138237" y="2597422"/>
            <a:ext cx="763488" cy="222885"/>
          </a:xfrm>
          <a:prstGeom prst="rect">
            <a:avLst/>
          </a:prstGeom>
          <a:noFill/>
        </p:spPr>
        <p:txBody>
          <a:bodyPr wrap="square">
            <a:spAutoFit/>
          </a:bodyPr>
          <a:lstStyle/>
          <a:p>
            <a:pPr algn="l"/>
            <a:r>
              <a:rPr sz="1950" b="0" i="0" spc="300">
                <a:solidFill>
                  <a:srgbClr val="8A6A22"/>
                </a:solidFill>
                <a:latin typeface="Rubik"/>
              </a:rPr>
              <a:t>HERITAGE</a:t>
            </a:r>
          </a:p>
        </p:txBody>
      </p:sp>
      <p:sp>
        <p:nvSpPr>
          <p:cNvPr id="9" name="TextBox 8"/>
          <p:cNvSpPr txBox="1"/>
          <p:nvPr/>
        </p:nvSpPr>
        <p:spPr>
          <a:xfrm>
            <a:off x="943198" y="2871713"/>
            <a:ext cx="2033364" cy="231457"/>
          </a:xfrm>
          <a:prstGeom prst="rect">
            <a:avLst/>
          </a:prstGeom>
          <a:noFill/>
        </p:spPr>
        <p:txBody>
          <a:bodyPr wrap="square">
            <a:spAutoFit/>
          </a:bodyPr>
          <a:lstStyle/>
          <a:p>
            <a:pPr algn="l"/>
            <a:r>
              <a:rPr sz="2025" b="0" i="0">
                <a:solidFill>
                  <a:srgbClr val="1F2B23"/>
                </a:solidFill>
                <a:latin typeface="Rubik"/>
              </a:rPr>
              <a:t>Magon</a:t>
            </a:r>
          </a:p>
        </p:txBody>
      </p:sp>
      <p:sp>
        <p:nvSpPr>
          <p:cNvPr id="10" name="TextBox 9"/>
          <p:cNvSpPr txBox="1"/>
          <p:nvPr/>
        </p:nvSpPr>
        <p:spPr>
          <a:xfrm>
            <a:off x="943198" y="3058120"/>
            <a:ext cx="2033364" cy="231457"/>
          </a:xfrm>
          <a:prstGeom prst="rect">
            <a:avLst/>
          </a:prstGeom>
          <a:noFill/>
        </p:spPr>
        <p:txBody>
          <a:bodyPr wrap="square">
            <a:spAutoFit/>
          </a:bodyPr>
          <a:lstStyle/>
          <a:p>
            <a:pPr algn="l"/>
            <a:r>
              <a:rPr sz="2025" b="0" i="0">
                <a:solidFill>
                  <a:srgbClr val="1F2B23"/>
                </a:solidFill>
                <a:latin typeface="Rubik"/>
              </a:rPr>
              <a:t>Carthage</a:t>
            </a:r>
          </a:p>
        </p:txBody>
      </p:sp>
      <p:sp>
        <p:nvSpPr>
          <p:cNvPr id="11" name="TextBox 10"/>
          <p:cNvSpPr txBox="1"/>
          <p:nvPr/>
        </p:nvSpPr>
        <p:spPr>
          <a:xfrm>
            <a:off x="943198" y="3244527"/>
            <a:ext cx="2033364" cy="231457"/>
          </a:xfrm>
          <a:prstGeom prst="rect">
            <a:avLst/>
          </a:prstGeom>
          <a:noFill/>
        </p:spPr>
        <p:txBody>
          <a:bodyPr wrap="square">
            <a:spAutoFit/>
          </a:bodyPr>
          <a:lstStyle/>
          <a:p>
            <a:pPr algn="l"/>
            <a:r>
              <a:rPr sz="2025" b="0" i="0">
                <a:solidFill>
                  <a:srgbClr val="1F2B23"/>
                </a:solidFill>
                <a:latin typeface="Rubik"/>
              </a:rPr>
              <a:t>3,000 years</a:t>
            </a:r>
          </a:p>
        </p:txBody>
      </p:sp>
      <p:sp>
        <p:nvSpPr>
          <p:cNvPr id="12" name="TextBox 11"/>
          <p:cNvSpPr txBox="1"/>
          <p:nvPr/>
        </p:nvSpPr>
        <p:spPr>
          <a:xfrm>
            <a:off x="943198" y="3430934"/>
            <a:ext cx="2033364" cy="231457"/>
          </a:xfrm>
          <a:prstGeom prst="rect">
            <a:avLst/>
          </a:prstGeom>
          <a:noFill/>
        </p:spPr>
        <p:txBody>
          <a:bodyPr wrap="square">
            <a:spAutoFit/>
          </a:bodyPr>
          <a:lstStyle/>
          <a:p>
            <a:pPr algn="l"/>
            <a:r>
              <a:rPr sz="2025" b="0" i="0">
                <a:solidFill>
                  <a:srgbClr val="1F2B23"/>
                </a:solidFill>
                <a:latin typeface="Rubik"/>
              </a:rPr>
              <a:t>Tunisian olive culture</a:t>
            </a:r>
          </a:p>
        </p:txBody>
      </p:sp>
      <p:sp>
        <p:nvSpPr>
          <p:cNvPr id="13" name="TextBox 12"/>
          <p:cNvSpPr txBox="1"/>
          <p:nvPr/>
        </p:nvSpPr>
        <p:spPr>
          <a:xfrm>
            <a:off x="3824287" y="2597422"/>
            <a:ext cx="1135707" cy="222885"/>
          </a:xfrm>
          <a:prstGeom prst="rect">
            <a:avLst/>
          </a:prstGeom>
          <a:noFill/>
        </p:spPr>
        <p:txBody>
          <a:bodyPr wrap="square">
            <a:spAutoFit/>
          </a:bodyPr>
          <a:lstStyle/>
          <a:p>
            <a:pPr algn="l"/>
            <a:r>
              <a:rPr sz="1950" b="0" i="0" spc="300">
                <a:solidFill>
                  <a:srgbClr val="8A6A22"/>
                </a:solidFill>
                <a:latin typeface="Rubik"/>
              </a:rPr>
              <a:t>AUTHENTICITY</a:t>
            </a:r>
          </a:p>
        </p:txBody>
      </p:sp>
      <p:sp>
        <p:nvSpPr>
          <p:cNvPr id="14" name="TextBox 13"/>
          <p:cNvSpPr txBox="1"/>
          <p:nvPr/>
        </p:nvSpPr>
        <p:spPr>
          <a:xfrm>
            <a:off x="3629248" y="2871713"/>
            <a:ext cx="2033364" cy="231457"/>
          </a:xfrm>
          <a:prstGeom prst="rect">
            <a:avLst/>
          </a:prstGeom>
          <a:noFill/>
        </p:spPr>
        <p:txBody>
          <a:bodyPr wrap="square">
            <a:spAutoFit/>
          </a:bodyPr>
          <a:lstStyle/>
          <a:p>
            <a:pPr algn="l"/>
            <a:r>
              <a:rPr sz="2025" b="0" i="0">
                <a:solidFill>
                  <a:srgbClr val="1F2B23"/>
                </a:solidFill>
                <a:latin typeface="Rubik"/>
              </a:rPr>
              <a:t>100% Tunisian</a:t>
            </a:r>
          </a:p>
        </p:txBody>
      </p:sp>
      <p:sp>
        <p:nvSpPr>
          <p:cNvPr id="15" name="TextBox 14"/>
          <p:cNvSpPr txBox="1"/>
          <p:nvPr/>
        </p:nvSpPr>
        <p:spPr>
          <a:xfrm>
            <a:off x="3629248" y="3058120"/>
            <a:ext cx="2033364" cy="231457"/>
          </a:xfrm>
          <a:prstGeom prst="rect">
            <a:avLst/>
          </a:prstGeom>
          <a:noFill/>
        </p:spPr>
        <p:txBody>
          <a:bodyPr wrap="square">
            <a:spAutoFit/>
          </a:bodyPr>
          <a:lstStyle/>
          <a:p>
            <a:pPr algn="l"/>
            <a:r>
              <a:rPr sz="2025" b="0" i="0">
                <a:solidFill>
                  <a:srgbClr val="1F2B23"/>
                </a:solidFill>
                <a:latin typeface="Rubik"/>
              </a:rPr>
              <a:t>Handpicked olives</a:t>
            </a:r>
          </a:p>
        </p:txBody>
      </p:sp>
      <p:sp>
        <p:nvSpPr>
          <p:cNvPr id="16" name="TextBox 15"/>
          <p:cNvSpPr txBox="1"/>
          <p:nvPr/>
        </p:nvSpPr>
        <p:spPr>
          <a:xfrm>
            <a:off x="3629248" y="3244527"/>
            <a:ext cx="2033364" cy="231457"/>
          </a:xfrm>
          <a:prstGeom prst="rect">
            <a:avLst/>
          </a:prstGeom>
          <a:noFill/>
        </p:spPr>
        <p:txBody>
          <a:bodyPr wrap="square">
            <a:spAutoFit/>
          </a:bodyPr>
          <a:lstStyle/>
          <a:p>
            <a:pPr algn="l"/>
            <a:r>
              <a:rPr sz="2025" b="0" i="0">
                <a:solidFill>
                  <a:srgbClr val="1F2B23"/>
                </a:solidFill>
                <a:latin typeface="Rubik"/>
              </a:rPr>
              <a:t>Cold pressing</a:t>
            </a:r>
          </a:p>
        </p:txBody>
      </p:sp>
      <p:sp>
        <p:nvSpPr>
          <p:cNvPr id="17" name="TextBox 16"/>
          <p:cNvSpPr txBox="1"/>
          <p:nvPr/>
        </p:nvSpPr>
        <p:spPr>
          <a:xfrm>
            <a:off x="3629248" y="3430934"/>
            <a:ext cx="2033364" cy="231457"/>
          </a:xfrm>
          <a:prstGeom prst="rect">
            <a:avLst/>
          </a:prstGeom>
          <a:noFill/>
        </p:spPr>
        <p:txBody>
          <a:bodyPr wrap="square">
            <a:spAutoFit/>
          </a:bodyPr>
          <a:lstStyle/>
          <a:p>
            <a:pPr algn="l"/>
            <a:r>
              <a:rPr sz="2025" b="0" i="0">
                <a:solidFill>
                  <a:srgbClr val="1F2B23"/>
                </a:solidFill>
                <a:latin typeface="Rubik"/>
              </a:rPr>
              <a:t>Natural / Organic</a:t>
            </a:r>
          </a:p>
        </p:txBody>
      </p:sp>
      <p:sp>
        <p:nvSpPr>
          <p:cNvPr id="18" name="TextBox 17"/>
          <p:cNvSpPr txBox="1"/>
          <p:nvPr/>
        </p:nvSpPr>
        <p:spPr>
          <a:xfrm>
            <a:off x="6510337" y="2597422"/>
            <a:ext cx="1653629" cy="222885"/>
          </a:xfrm>
          <a:prstGeom prst="rect">
            <a:avLst/>
          </a:prstGeom>
          <a:noFill/>
        </p:spPr>
        <p:txBody>
          <a:bodyPr wrap="square">
            <a:spAutoFit/>
          </a:bodyPr>
          <a:lstStyle/>
          <a:p>
            <a:pPr algn="l"/>
            <a:r>
              <a:rPr sz="1950" b="0" i="0" spc="300">
                <a:solidFill>
                  <a:srgbClr val="8A6A22"/>
                </a:solidFill>
                <a:latin typeface="Rubik"/>
              </a:rPr>
              <a:t>MODERN EXPERIENCE</a:t>
            </a:r>
          </a:p>
        </p:txBody>
      </p:sp>
      <p:sp>
        <p:nvSpPr>
          <p:cNvPr id="19" name="TextBox 18"/>
          <p:cNvSpPr txBox="1"/>
          <p:nvPr/>
        </p:nvSpPr>
        <p:spPr>
          <a:xfrm>
            <a:off x="6315298" y="2871713"/>
            <a:ext cx="2033364" cy="231457"/>
          </a:xfrm>
          <a:prstGeom prst="rect">
            <a:avLst/>
          </a:prstGeom>
          <a:noFill/>
        </p:spPr>
        <p:txBody>
          <a:bodyPr wrap="square">
            <a:spAutoFit/>
          </a:bodyPr>
          <a:lstStyle/>
          <a:p>
            <a:pPr algn="l"/>
            <a:r>
              <a:rPr sz="2025" b="0" i="0">
                <a:solidFill>
                  <a:srgbClr val="1F2B23"/>
                </a:solidFill>
                <a:latin typeface="Rubik"/>
              </a:rPr>
              <a:t>Flavored oils</a:t>
            </a:r>
          </a:p>
        </p:txBody>
      </p:sp>
      <p:sp>
        <p:nvSpPr>
          <p:cNvPr id="20" name="TextBox 19"/>
          <p:cNvSpPr txBox="1"/>
          <p:nvPr/>
        </p:nvSpPr>
        <p:spPr>
          <a:xfrm>
            <a:off x="6315298" y="3058120"/>
            <a:ext cx="2033364" cy="231457"/>
          </a:xfrm>
          <a:prstGeom prst="rect">
            <a:avLst/>
          </a:prstGeom>
          <a:noFill/>
        </p:spPr>
        <p:txBody>
          <a:bodyPr wrap="square">
            <a:spAutoFit/>
          </a:bodyPr>
          <a:lstStyle/>
          <a:p>
            <a:pPr algn="l"/>
            <a:r>
              <a:rPr sz="2025" b="0" i="0">
                <a:solidFill>
                  <a:srgbClr val="1F2B23"/>
                </a:solidFill>
                <a:latin typeface="Rubik"/>
              </a:rPr>
              <a:t>Premium cuisine</a:t>
            </a:r>
          </a:p>
        </p:txBody>
      </p:sp>
      <p:sp>
        <p:nvSpPr>
          <p:cNvPr id="21" name="TextBox 20"/>
          <p:cNvSpPr txBox="1"/>
          <p:nvPr/>
        </p:nvSpPr>
        <p:spPr>
          <a:xfrm>
            <a:off x="6315298" y="3244527"/>
            <a:ext cx="2033364" cy="231457"/>
          </a:xfrm>
          <a:prstGeom prst="rect">
            <a:avLst/>
          </a:prstGeom>
          <a:noFill/>
        </p:spPr>
        <p:txBody>
          <a:bodyPr wrap="square">
            <a:spAutoFit/>
          </a:bodyPr>
          <a:lstStyle/>
          <a:p>
            <a:pPr algn="l"/>
            <a:r>
              <a:rPr sz="2025" b="0" i="0">
                <a:solidFill>
                  <a:srgbClr val="1F2B23"/>
                </a:solidFill>
                <a:latin typeface="Rubik"/>
              </a:rPr>
              <a:t>Gift / design</a:t>
            </a:r>
          </a:p>
        </p:txBody>
      </p:sp>
      <p:sp>
        <p:nvSpPr>
          <p:cNvPr id="22" name="TextBox 21"/>
          <p:cNvSpPr txBox="1"/>
          <p:nvPr/>
        </p:nvSpPr>
        <p:spPr>
          <a:xfrm>
            <a:off x="6315298" y="3430934"/>
            <a:ext cx="2033364" cy="231457"/>
          </a:xfrm>
          <a:prstGeom prst="rect">
            <a:avLst/>
          </a:prstGeom>
          <a:noFill/>
        </p:spPr>
        <p:txBody>
          <a:bodyPr wrap="square">
            <a:spAutoFit/>
          </a:bodyPr>
          <a:lstStyle/>
          <a:p>
            <a:pPr algn="l"/>
            <a:r>
              <a:rPr sz="2025" b="0" i="0">
                <a:solidFill>
                  <a:srgbClr val="1F2B23"/>
                </a:solidFill>
                <a:latin typeface="Rubik"/>
              </a:rPr>
              <a:t>Global lifestyle</a:t>
            </a:r>
          </a:p>
        </p:txBody>
      </p:sp>
      <p:sp>
        <p:nvSpPr>
          <p:cNvPr id="23" name="TextBox 22"/>
          <p:cNvSpPr txBox="1"/>
          <p:nvPr/>
        </p:nvSpPr>
        <p:spPr>
          <a:xfrm>
            <a:off x="2103164" y="4082132"/>
            <a:ext cx="1073348" cy="205740"/>
          </a:xfrm>
          <a:prstGeom prst="rect">
            <a:avLst/>
          </a:prstGeom>
          <a:noFill/>
        </p:spPr>
        <p:txBody>
          <a:bodyPr wrap="square">
            <a:spAutoFit/>
          </a:bodyPr>
          <a:lstStyle/>
          <a:p>
            <a:pPr algn="l"/>
            <a:r>
              <a:rPr sz="1800" b="0" i="0" spc="300">
                <a:solidFill>
                  <a:srgbClr val="F7F4EC"/>
                </a:solidFill>
                <a:latin typeface="Rubik"/>
              </a:rPr>
              <a:t>CORE PROMISE</a:t>
            </a:r>
          </a:p>
        </p:txBody>
      </p:sp>
      <p:sp>
        <p:nvSpPr>
          <p:cNvPr id="24" name="TextBox 23"/>
          <p:cNvSpPr txBox="1"/>
          <p:nvPr/>
        </p:nvSpPr>
        <p:spPr>
          <a:xfrm>
            <a:off x="3447975" y="4022154"/>
            <a:ext cx="3592859" cy="360045"/>
          </a:xfrm>
          <a:prstGeom prst="rect">
            <a:avLst/>
          </a:prstGeom>
          <a:noFill/>
        </p:spPr>
        <p:txBody>
          <a:bodyPr wrap="square">
            <a:spAutoFit/>
          </a:bodyPr>
          <a:lstStyle/>
          <a:p>
            <a:pPr algn="l"/>
            <a:r>
              <a:rPr sz="3150" b="0" i="1">
                <a:solidFill>
                  <a:srgbClr val="D9B45A"/>
                </a:solidFill>
                <a:latin typeface="Cormorant Garamond"/>
              </a:rPr>
              <a:t>A modern expression of the ancient Mediterranean.</a:t>
            </a:r>
          </a:p>
        </p:txBody>
      </p:sp>
      <p:sp>
        <p:nvSpPr>
          <p:cNvPr id="25" name="TextBox 24"/>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03 / 35</a:t>
            </a:r>
          </a:p>
        </p:txBody>
      </p:sp>
    </p:spTree>
  </p:cSld>
  <p:clrMapOvr>
    <a:masterClrMapping/>
  </p:clrMapOvr>
  <p:transition dur="500" advClick="1">
    <p:fade/>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3.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pic>
        <p:nvPicPr>
          <p:cNvPr id="4" name="Picture 3"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pic>
        <p:nvPicPr>
          <p:cNvPr id="5" name="Picture 4"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pic>
        <p:nvPicPr>
          <p:cNvPr id="6" name="Picture 5"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pic>
        <p:nvPicPr>
          <p:cNvPr id="7" name="Picture 6"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8" name="TextBox 7"/>
          <p:cNvSpPr txBox="1"/>
          <p:nvPr/>
        </p:nvSpPr>
        <p:spPr>
          <a:xfrm>
            <a:off x="714375" y="533400"/>
            <a:ext cx="754112" cy="205740"/>
          </a:xfrm>
          <a:prstGeom prst="rect">
            <a:avLst/>
          </a:prstGeom>
          <a:noFill/>
        </p:spPr>
        <p:txBody>
          <a:bodyPr wrap="square">
            <a:spAutoFit/>
          </a:bodyPr>
          <a:lstStyle/>
          <a:p>
            <a:pPr algn="l"/>
            <a:r>
              <a:rPr sz="1800" b="0" i="0" spc="300">
                <a:solidFill>
                  <a:srgbClr val="8A6A22"/>
                </a:solidFill>
                <a:latin typeface="Rubik"/>
              </a:rPr>
              <a:t>CONTENTS</a:t>
            </a:r>
          </a:p>
        </p:txBody>
      </p:sp>
      <p:sp>
        <p:nvSpPr>
          <p:cNvPr id="9" name="TextBox 8"/>
          <p:cNvSpPr txBox="1"/>
          <p:nvPr/>
        </p:nvSpPr>
        <p:spPr>
          <a:xfrm>
            <a:off x="714375" y="695325"/>
            <a:ext cx="1030113" cy="617220"/>
          </a:xfrm>
          <a:prstGeom prst="rect">
            <a:avLst/>
          </a:prstGeom>
          <a:noFill/>
        </p:spPr>
        <p:txBody>
          <a:bodyPr wrap="square">
            <a:spAutoFit/>
          </a:bodyPr>
          <a:lstStyle/>
          <a:p>
            <a:pPr algn="l"/>
            <a:r>
              <a:rPr sz="5400" b="0" i="0">
                <a:solidFill>
                  <a:srgbClr val="14281C"/>
                </a:solidFill>
                <a:latin typeface="Cormorant Garamond"/>
              </a:rPr>
              <a:t>Agenda</a:t>
            </a:r>
          </a:p>
        </p:txBody>
      </p:sp>
      <p:sp>
        <p:nvSpPr>
          <p:cNvPr id="10" name="TextBox 9"/>
          <p:cNvSpPr txBox="1"/>
          <p:nvPr/>
        </p:nvSpPr>
        <p:spPr>
          <a:xfrm>
            <a:off x="838200" y="1524000"/>
            <a:ext cx="323701" cy="720090"/>
          </a:xfrm>
          <a:prstGeom prst="rect">
            <a:avLst/>
          </a:prstGeom>
          <a:noFill/>
        </p:spPr>
        <p:txBody>
          <a:bodyPr wrap="square">
            <a:spAutoFit/>
          </a:bodyPr>
          <a:lstStyle/>
          <a:p>
            <a:pPr algn="l"/>
            <a:r>
              <a:rPr sz="6300" b="0" i="0">
                <a:solidFill>
                  <a:srgbClr val="D9B45A"/>
                </a:solidFill>
                <a:latin typeface="Cormorant Garamond"/>
              </a:rPr>
              <a:t>01</a:t>
            </a:r>
          </a:p>
        </p:txBody>
      </p:sp>
      <p:sp>
        <p:nvSpPr>
          <p:cNvPr id="11" name="TextBox 10"/>
          <p:cNvSpPr txBox="1"/>
          <p:nvPr/>
        </p:nvSpPr>
        <p:spPr>
          <a:xfrm>
            <a:off x="838200" y="3142803"/>
            <a:ext cx="1143000" cy="360045"/>
          </a:xfrm>
          <a:prstGeom prst="rect">
            <a:avLst/>
          </a:prstGeom>
          <a:noFill/>
        </p:spPr>
        <p:txBody>
          <a:bodyPr wrap="square">
            <a:spAutoFit/>
          </a:bodyPr>
          <a:lstStyle/>
          <a:p>
            <a:pPr algn="l"/>
            <a:r>
              <a:rPr sz="3150" b="0" i="0">
                <a:solidFill>
                  <a:srgbClr val="F7F4EC"/>
                </a:solidFill>
                <a:latin typeface="Cormorant Garamond"/>
              </a:rPr>
              <a:t>Product</a:t>
            </a:r>
          </a:p>
        </p:txBody>
      </p:sp>
      <p:sp>
        <p:nvSpPr>
          <p:cNvPr id="12" name="TextBox 11"/>
          <p:cNvSpPr txBox="1"/>
          <p:nvPr/>
        </p:nvSpPr>
        <p:spPr>
          <a:xfrm>
            <a:off x="714375" y="3619500"/>
            <a:ext cx="1390650" cy="308520"/>
          </a:xfrm>
          <a:prstGeom prst="rect">
            <a:avLst/>
          </a:prstGeom>
          <a:noFill/>
        </p:spPr>
        <p:txBody>
          <a:bodyPr wrap="square">
            <a:spAutoFit/>
          </a:bodyPr>
          <a:lstStyle/>
          <a:p>
            <a:pPr algn="ctr"/>
            <a:r>
              <a:rPr sz="1800" b="0" i="0">
                <a:solidFill>
                  <a:srgbClr val="14281C"/>
                </a:solidFill>
                <a:latin typeface="Rubik"/>
              </a:rPr>
              <a:t>Range · Pricing · Flavored · MOHRA</a:t>
            </a:r>
          </a:p>
        </p:txBody>
      </p:sp>
      <p:sp>
        <p:nvSpPr>
          <p:cNvPr id="13" name="TextBox 12"/>
          <p:cNvSpPr txBox="1"/>
          <p:nvPr/>
        </p:nvSpPr>
        <p:spPr>
          <a:xfrm>
            <a:off x="2419350" y="1524000"/>
            <a:ext cx="351680" cy="720090"/>
          </a:xfrm>
          <a:prstGeom prst="rect">
            <a:avLst/>
          </a:prstGeom>
          <a:noFill/>
        </p:spPr>
        <p:txBody>
          <a:bodyPr wrap="square">
            <a:spAutoFit/>
          </a:bodyPr>
          <a:lstStyle/>
          <a:p>
            <a:pPr algn="l"/>
            <a:r>
              <a:rPr sz="6300" b="0" i="0">
                <a:solidFill>
                  <a:srgbClr val="D9B45A"/>
                </a:solidFill>
                <a:latin typeface="Cormorant Garamond"/>
              </a:rPr>
              <a:t>02</a:t>
            </a:r>
          </a:p>
        </p:txBody>
      </p:sp>
      <p:sp>
        <p:nvSpPr>
          <p:cNvPr id="14" name="TextBox 13"/>
          <p:cNvSpPr txBox="1"/>
          <p:nvPr/>
        </p:nvSpPr>
        <p:spPr>
          <a:xfrm>
            <a:off x="2419350" y="3142803"/>
            <a:ext cx="1143000" cy="360045"/>
          </a:xfrm>
          <a:prstGeom prst="rect">
            <a:avLst/>
          </a:prstGeom>
          <a:noFill/>
        </p:spPr>
        <p:txBody>
          <a:bodyPr wrap="square">
            <a:spAutoFit/>
          </a:bodyPr>
          <a:lstStyle/>
          <a:p>
            <a:pPr algn="l"/>
            <a:r>
              <a:rPr sz="3150" b="0" i="0">
                <a:solidFill>
                  <a:srgbClr val="F7F4EC"/>
                </a:solidFill>
                <a:latin typeface="Cormorant Garamond"/>
              </a:rPr>
              <a:t>Customers</a:t>
            </a:r>
          </a:p>
        </p:txBody>
      </p:sp>
      <p:sp>
        <p:nvSpPr>
          <p:cNvPr id="15" name="TextBox 14"/>
          <p:cNvSpPr txBox="1"/>
          <p:nvPr/>
        </p:nvSpPr>
        <p:spPr>
          <a:xfrm>
            <a:off x="2295525" y="3619500"/>
            <a:ext cx="1390650" cy="308520"/>
          </a:xfrm>
          <a:prstGeom prst="rect">
            <a:avLst/>
          </a:prstGeom>
          <a:noFill/>
        </p:spPr>
        <p:txBody>
          <a:bodyPr wrap="square">
            <a:spAutoFit/>
          </a:bodyPr>
          <a:lstStyle/>
          <a:p>
            <a:pPr algn="ctr"/>
            <a:r>
              <a:rPr sz="1800" b="0" i="0">
                <a:solidFill>
                  <a:srgbClr val="6B776E"/>
                </a:solidFill>
                <a:latin typeface="Rubik"/>
              </a:rPr>
              <a:t>Segments · Markets · B2B · Unit economics</a:t>
            </a:r>
          </a:p>
        </p:txBody>
      </p:sp>
      <p:sp>
        <p:nvSpPr>
          <p:cNvPr id="16" name="TextBox 15"/>
          <p:cNvSpPr txBox="1"/>
          <p:nvPr/>
        </p:nvSpPr>
        <p:spPr>
          <a:xfrm>
            <a:off x="4000500" y="1524000"/>
            <a:ext cx="347662" cy="720090"/>
          </a:xfrm>
          <a:prstGeom prst="rect">
            <a:avLst/>
          </a:prstGeom>
          <a:noFill/>
        </p:spPr>
        <p:txBody>
          <a:bodyPr wrap="square">
            <a:spAutoFit/>
          </a:bodyPr>
          <a:lstStyle/>
          <a:p>
            <a:pPr algn="l"/>
            <a:r>
              <a:rPr sz="6300" b="0" i="0">
                <a:solidFill>
                  <a:srgbClr val="D9B45A"/>
                </a:solidFill>
                <a:latin typeface="Cormorant Garamond"/>
              </a:rPr>
              <a:t>03</a:t>
            </a:r>
          </a:p>
        </p:txBody>
      </p:sp>
      <p:sp>
        <p:nvSpPr>
          <p:cNvPr id="17" name="TextBox 16"/>
          <p:cNvSpPr txBox="1"/>
          <p:nvPr/>
        </p:nvSpPr>
        <p:spPr>
          <a:xfrm>
            <a:off x="4000500" y="3142803"/>
            <a:ext cx="1143000" cy="360045"/>
          </a:xfrm>
          <a:prstGeom prst="rect">
            <a:avLst/>
          </a:prstGeom>
          <a:noFill/>
        </p:spPr>
        <p:txBody>
          <a:bodyPr wrap="square">
            <a:spAutoFit/>
          </a:bodyPr>
          <a:lstStyle/>
          <a:p>
            <a:pPr algn="l"/>
            <a:r>
              <a:rPr sz="3150" b="0" i="0">
                <a:solidFill>
                  <a:srgbClr val="F7F4EC"/>
                </a:solidFill>
                <a:latin typeface="Cormorant Garamond"/>
              </a:rPr>
              <a:t>Marketing</a:t>
            </a:r>
          </a:p>
        </p:txBody>
      </p:sp>
      <p:sp>
        <p:nvSpPr>
          <p:cNvPr id="18" name="TextBox 17"/>
          <p:cNvSpPr txBox="1"/>
          <p:nvPr/>
        </p:nvSpPr>
        <p:spPr>
          <a:xfrm>
            <a:off x="3876675" y="3619500"/>
            <a:ext cx="1390650" cy="462781"/>
          </a:xfrm>
          <a:prstGeom prst="rect">
            <a:avLst/>
          </a:prstGeom>
          <a:noFill/>
        </p:spPr>
        <p:txBody>
          <a:bodyPr wrap="square">
            <a:spAutoFit/>
          </a:bodyPr>
          <a:lstStyle/>
          <a:p>
            <a:pPr algn="ctr"/>
            <a:r>
              <a:rPr sz="1800" b="0" i="0">
                <a:solidFill>
                  <a:srgbClr val="6B776E"/>
                </a:solidFill>
                <a:latin typeface="Rubik"/>
              </a:rPr>
              <a:t>Content · KPIs · Operating model · Budget · Distributors</a:t>
            </a:r>
          </a:p>
        </p:txBody>
      </p:sp>
      <p:sp>
        <p:nvSpPr>
          <p:cNvPr id="19" name="TextBox 18"/>
          <p:cNvSpPr txBox="1"/>
          <p:nvPr/>
        </p:nvSpPr>
        <p:spPr>
          <a:xfrm>
            <a:off x="5581650" y="1524000"/>
            <a:ext cx="372516" cy="720090"/>
          </a:xfrm>
          <a:prstGeom prst="rect">
            <a:avLst/>
          </a:prstGeom>
          <a:noFill/>
        </p:spPr>
        <p:txBody>
          <a:bodyPr wrap="square">
            <a:spAutoFit/>
          </a:bodyPr>
          <a:lstStyle/>
          <a:p>
            <a:pPr algn="l"/>
            <a:r>
              <a:rPr sz="6300" b="0" i="0">
                <a:solidFill>
                  <a:srgbClr val="D9B45A"/>
                </a:solidFill>
                <a:latin typeface="Cormorant Garamond"/>
              </a:rPr>
              <a:t>04</a:t>
            </a:r>
          </a:p>
        </p:txBody>
      </p:sp>
      <p:sp>
        <p:nvSpPr>
          <p:cNvPr id="20" name="TextBox 19"/>
          <p:cNvSpPr txBox="1"/>
          <p:nvPr/>
        </p:nvSpPr>
        <p:spPr>
          <a:xfrm>
            <a:off x="5581650" y="3142803"/>
            <a:ext cx="1143000" cy="360045"/>
          </a:xfrm>
          <a:prstGeom prst="rect">
            <a:avLst/>
          </a:prstGeom>
          <a:noFill/>
        </p:spPr>
        <p:txBody>
          <a:bodyPr wrap="square">
            <a:spAutoFit/>
          </a:bodyPr>
          <a:lstStyle/>
          <a:p>
            <a:pPr algn="l"/>
            <a:r>
              <a:rPr sz="3150" b="0" i="0">
                <a:solidFill>
                  <a:srgbClr val="F7F4EC"/>
                </a:solidFill>
                <a:latin typeface="Cormorant Garamond"/>
              </a:rPr>
              <a:t>Financial Plan</a:t>
            </a:r>
          </a:p>
        </p:txBody>
      </p:sp>
      <p:sp>
        <p:nvSpPr>
          <p:cNvPr id="21" name="TextBox 20"/>
          <p:cNvSpPr txBox="1"/>
          <p:nvPr/>
        </p:nvSpPr>
        <p:spPr>
          <a:xfrm>
            <a:off x="5457825" y="3619500"/>
            <a:ext cx="1390650" cy="308520"/>
          </a:xfrm>
          <a:prstGeom prst="rect">
            <a:avLst/>
          </a:prstGeom>
          <a:noFill/>
        </p:spPr>
        <p:txBody>
          <a:bodyPr wrap="square">
            <a:spAutoFit/>
          </a:bodyPr>
          <a:lstStyle/>
          <a:p>
            <a:pPr algn="ctr"/>
            <a:r>
              <a:rPr sz="1800" b="0" i="0">
                <a:solidFill>
                  <a:srgbClr val="6B776E"/>
                </a:solidFill>
                <a:latin typeface="Rubik"/>
              </a:rPr>
              <a:t>P&amp;L · Balance sheet · Investment &amp; ROI</a:t>
            </a:r>
          </a:p>
        </p:txBody>
      </p:sp>
      <p:sp>
        <p:nvSpPr>
          <p:cNvPr id="22" name="TextBox 21"/>
          <p:cNvSpPr txBox="1"/>
          <p:nvPr/>
        </p:nvSpPr>
        <p:spPr>
          <a:xfrm>
            <a:off x="7162800" y="1524000"/>
            <a:ext cx="354508" cy="720090"/>
          </a:xfrm>
          <a:prstGeom prst="rect">
            <a:avLst/>
          </a:prstGeom>
          <a:noFill/>
        </p:spPr>
        <p:txBody>
          <a:bodyPr wrap="squar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squar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squar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4.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square">
            <a:spAutoFit/>
          </a:bodyPr>
          <a:lstStyle/>
          <a:p>
            <a:pPr algn="l"/>
            <a:r>
              <a:rPr sz="19500" b="0" i="0">
                <a:solidFill>
                  <a:srgbClr val="D9B45A"/>
                </a:solidFill>
                <a:latin typeface="Cormorant Garamond"/>
              </a:rPr>
              <a:t>01</a:t>
            </a:r>
          </a:p>
        </p:txBody>
      </p:sp>
      <p:sp>
        <p:nvSpPr>
          <p:cNvPr id="5" name="TextBox 4"/>
          <p:cNvSpPr txBox="1"/>
          <p:nvPr/>
        </p:nvSpPr>
        <p:spPr>
          <a:xfrm>
            <a:off x="609600" y="2286000"/>
            <a:ext cx="3619500" cy="1097280"/>
          </a:xfrm>
          <a:prstGeom prst="rect">
            <a:avLst/>
          </a:prstGeom>
          <a:noFill/>
        </p:spPr>
        <p:txBody>
          <a:bodyPr wrap="square">
            <a:spAutoFit/>
          </a:bodyPr>
          <a:lstStyle/>
          <a:p>
            <a:pPr algn="l"/>
            <a:r>
              <a:rPr sz="9600" b="0" i="0">
                <a:solidFill>
                  <a:srgbClr val="F7F4EC"/>
                </a:solidFill>
                <a:latin typeface="Cormorant Garamond"/>
              </a:rPr>
              <a:t>Product</a:t>
            </a:r>
          </a:p>
        </p:txBody>
      </p:sp>
      <p:sp>
        <p:nvSpPr>
          <p:cNvPr id="6" name="TextBox 5"/>
          <p:cNvSpPr txBox="1"/>
          <p:nvPr/>
        </p:nvSpPr>
        <p:spPr>
          <a:xfrm>
            <a:off x="609600" y="3048000"/>
            <a:ext cx="3619500" cy="257175"/>
          </a:xfrm>
          <a:prstGeom prst="rect">
            <a:avLst/>
          </a:prstGeom>
          <a:noFill/>
        </p:spPr>
        <p:txBody>
          <a:bodyPr wrap="squar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square">
            <a:spAutoFit/>
          </a:bodyPr>
          <a:lstStyle/>
          <a:p>
            <a:pPr algn="l"/>
            <a:r>
              <a:rPr sz="3000" b="0" i="1">
                <a:solidFill>
                  <a:srgbClr val="E6C46E"/>
                </a:solidFill>
                <a:latin typeface="Cormorant Garamond"/>
              </a:rPr>
              <a:t>Range · Pricing · Flavored · MOHRA</a:t>
            </a:r>
          </a:p>
        </p:txBody>
      </p:sp>
    </p:spTree>
  </p:cSld>
  <p:clrMapOvr>
    <a:masterClrMapping/>
  </p:clrMapOvr>
  <p:transition dur="500" advClick="1">
    <p:fade/>
  </p:transition>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5.png"/>
          <p:cNvPicPr>
            <a:picLocks noChangeAspect="1"/>
          </p:cNvPicPr>
          <p:nvPr/>
        </p:nvPicPr>
        <p:blipFill>
          <a:blip r:embed="rId2"/>
          <a:stretch>
            <a:fillRect/>
          </a:stretch>
        </p:blipFill>
        <p:spPr>
          <a:xfrm>
            <a:off x="0" y="0"/>
            <a:ext cx="9144000" cy="5143500"/>
          </a:xfrm>
          <a:prstGeom prst="rect">
            <a:avLst/>
          </a:prstGeom>
        </p:spPr>
      </p:pic>
      <p:pic>
        <p:nvPicPr>
          <p:cNvPr id="3" name="Picture 2" descr="cde7df4d8a22376a8a692e5d6e910c73.jpg"/>
          <p:cNvPicPr>
            <a:picLocks noChangeAspect="1"/>
          </p:cNvPicPr>
          <p:nvPr/>
        </p:nvPicPr>
        <p:blipFill>
          <a:blip r:embed="rId3"/>
          <a:stretch>
            <a:fillRect/>
          </a:stretch>
        </p:blipFill>
        <p:spPr>
          <a:xfrm>
            <a:off x="6672262" y="2495550"/>
            <a:ext cx="1862137" cy="1885950"/>
          </a:xfrm>
          <a:prstGeom prst="rect">
            <a:avLst/>
          </a:prstGeom>
        </p:spPr>
      </p:pic>
      <p:pic>
        <p:nvPicPr>
          <p:cNvPr id="4" name="Picture 3" descr="13802beec6173f582ed8b7b7536d3cda.jpg"/>
          <p:cNvPicPr>
            <a:picLocks noChangeAspect="1"/>
          </p:cNvPicPr>
          <p:nvPr/>
        </p:nvPicPr>
        <p:blipFill>
          <a:blip r:embed="rId4"/>
          <a:stretch>
            <a:fillRect/>
          </a:stretch>
        </p:blipFill>
        <p:spPr>
          <a:xfrm>
            <a:off x="752475" y="2660898"/>
            <a:ext cx="5624512" cy="1044252"/>
          </a:xfrm>
          <a:prstGeom prst="rect">
            <a:avLst/>
          </a:prstGeom>
        </p:spPr>
      </p:pic>
      <p:sp>
        <p:nvSpPr>
          <p:cNvPr id="5" name="TextBox 4"/>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05 / 35</a:t>
            </a:r>
          </a:p>
        </p:txBody>
      </p:sp>
      <p:sp>
        <p:nvSpPr>
          <p:cNvPr id="6" name="TextBox 5"/>
          <p:cNvSpPr txBox="1"/>
          <p:nvPr/>
        </p:nvSpPr>
        <p:spPr>
          <a:xfrm>
            <a:off x="609600" y="533400"/>
            <a:ext cx="2661344" cy="205740"/>
          </a:xfrm>
          <a:prstGeom prst="rect">
            <a:avLst/>
          </a:prstGeom>
          <a:noFill/>
        </p:spPr>
        <p:txBody>
          <a:bodyPr wrap="square">
            <a:spAutoFit/>
          </a:bodyPr>
          <a:lstStyle/>
          <a:p>
            <a:pPr algn="l"/>
            <a:r>
              <a:rPr sz="1800" b="0" i="0" spc="300">
                <a:solidFill>
                  <a:srgbClr val="8A6A22"/>
                </a:solidFill>
                <a:latin typeface="Rubik"/>
              </a:rPr>
              <a:t>PRODUCTS · 1-1</a:t>
            </a:r>
          </a:p>
        </p:txBody>
      </p:sp>
      <p:sp>
        <p:nvSpPr>
          <p:cNvPr id="7" name="TextBox 6"/>
          <p:cNvSpPr txBox="1"/>
          <p:nvPr/>
        </p:nvSpPr>
        <p:spPr>
          <a:xfrm>
            <a:off x="609600" y="712440"/>
            <a:ext cx="2661344" cy="548640"/>
          </a:xfrm>
          <a:prstGeom prst="rect">
            <a:avLst/>
          </a:prstGeom>
          <a:noFill/>
        </p:spPr>
        <p:txBody>
          <a:bodyPr wrap="square">
            <a:spAutoFit/>
          </a:bodyPr>
          <a:lstStyle/>
          <a:p>
            <a:pPr algn="l"/>
            <a:r>
              <a:rPr sz="4800" b="0" i="0">
                <a:solidFill>
                  <a:srgbClr val="14281C"/>
                </a:solidFill>
                <a:latin typeface="Cormorant Garamond"/>
              </a:rPr>
              <a:t>Extra Virgin Olive Oil</a:t>
            </a:r>
          </a:p>
        </p:txBody>
      </p:sp>
      <p:sp>
        <p:nvSpPr>
          <p:cNvPr id="8" name="TextBox 7"/>
          <p:cNvSpPr txBox="1"/>
          <p:nvPr/>
        </p:nvSpPr>
        <p:spPr>
          <a:xfrm>
            <a:off x="609600" y="1343025"/>
            <a:ext cx="7924800" cy="1047750"/>
          </a:xfrm>
          <a:prstGeom prst="rect">
            <a:avLst/>
          </a:prstGeom>
          <a:noFill/>
        </p:spPr>
        <p:txBody>
          <a:bodyPr wrap="square">
            <a:spAutoFit/>
          </a:bodyPr>
          <a:lstStyle/>
          <a:p>
            <a:pPr algn="l"/>
            <a:r>
              <a:rPr sz="2325" b="0" i="0">
                <a:solidFill>
                  <a:srgbClr val="1F2B23"/>
                </a:solidFill>
                <a:latin typeface="Rubik"/>
              </a:rPr>
              <a:t>MAGON extra virgin olive oil is obtained from ripe olives, a variety with a fine taste and a soft and creamy texture, offering a very pleasant light fruitiness with notes of sweet almond. Ideal for seasoning your salads and accompanying your fish, cooked vegetables and chocolate pastries.</a:t>
            </a:r>
          </a:p>
        </p:txBody>
      </p:sp>
      <p:sp>
        <p:nvSpPr>
          <p:cNvPr id="9" name="TextBox 8"/>
          <p:cNvSpPr txBox="1"/>
          <p:nvPr/>
        </p:nvSpPr>
        <p:spPr>
          <a:xfrm>
            <a:off x="1232892" y="3762375"/>
            <a:ext cx="445293" cy="240030"/>
          </a:xfrm>
          <a:prstGeom prst="rect">
            <a:avLst/>
          </a:prstGeom>
          <a:noFill/>
        </p:spPr>
        <p:txBody>
          <a:bodyPr wrap="square">
            <a:spAutoFit/>
          </a:bodyPr>
          <a:lstStyle/>
          <a:p>
            <a:pPr algn="l"/>
            <a:r>
              <a:rPr sz="2100" b="0" i="0">
                <a:solidFill>
                  <a:srgbClr val="14281C"/>
                </a:solidFill>
                <a:latin typeface="Rubik"/>
              </a:rPr>
              <a:t>250 ml</a:t>
            </a:r>
          </a:p>
        </p:txBody>
      </p:sp>
      <p:sp>
        <p:nvSpPr>
          <p:cNvPr id="10" name="TextBox 9"/>
          <p:cNvSpPr txBox="1"/>
          <p:nvPr/>
        </p:nvSpPr>
        <p:spPr>
          <a:xfrm>
            <a:off x="1248593" y="3958530"/>
            <a:ext cx="413891" cy="205740"/>
          </a:xfrm>
          <a:prstGeom prst="rect">
            <a:avLst/>
          </a:prstGeom>
          <a:noFill/>
        </p:spPr>
        <p:txBody>
          <a:bodyPr wrap="square">
            <a:spAutoFit/>
          </a:bodyPr>
          <a:lstStyle/>
          <a:p>
            <a:pPr algn="l"/>
            <a:r>
              <a:rPr sz="1800" b="0" i="0">
                <a:solidFill>
                  <a:srgbClr val="5E6B62"/>
                </a:solidFill>
                <a:latin typeface="Rubik"/>
              </a:rPr>
              <a:t>8.5 fl oz</a:t>
            </a:r>
          </a:p>
        </p:txBody>
      </p:sp>
      <p:sp>
        <p:nvSpPr>
          <p:cNvPr id="11" name="TextBox 10"/>
          <p:cNvSpPr txBox="1"/>
          <p:nvPr/>
        </p:nvSpPr>
        <p:spPr>
          <a:xfrm>
            <a:off x="1030188" y="4128045"/>
            <a:ext cx="850627" cy="205740"/>
          </a:xfrm>
          <a:prstGeom prst="rect">
            <a:avLst/>
          </a:prstGeom>
          <a:noFill/>
        </p:spPr>
        <p:txBody>
          <a:bodyPr wrap="square">
            <a:spAutoFit/>
          </a:bodyPr>
          <a:lstStyle/>
          <a:p>
            <a:pPr algn="l"/>
            <a:r>
              <a:rPr sz="1800" b="0" i="0">
                <a:solidFill>
                  <a:srgbClr val="8A6A22"/>
                </a:solidFill>
                <a:latin typeface="Rubik"/>
              </a:rPr>
              <a:t>213 × 160 × 238</a:t>
            </a:r>
          </a:p>
        </p:txBody>
      </p:sp>
      <p:sp>
        <p:nvSpPr>
          <p:cNvPr id="12" name="TextBox 11"/>
          <p:cNvSpPr txBox="1"/>
          <p:nvPr/>
        </p:nvSpPr>
        <p:spPr>
          <a:xfrm>
            <a:off x="2636713" y="3762375"/>
            <a:ext cx="449833" cy="240030"/>
          </a:xfrm>
          <a:prstGeom prst="rect">
            <a:avLst/>
          </a:prstGeom>
          <a:noFill/>
        </p:spPr>
        <p:txBody>
          <a:bodyPr wrap="square">
            <a:spAutoFit/>
          </a:bodyPr>
          <a:lstStyle/>
          <a:p>
            <a:pPr algn="l"/>
            <a:r>
              <a:rPr sz="2100" b="0" i="0">
                <a:solidFill>
                  <a:srgbClr val="14281C"/>
                </a:solidFill>
                <a:latin typeface="Rubik"/>
              </a:rPr>
              <a:t>500 ml</a:t>
            </a:r>
          </a:p>
        </p:txBody>
      </p:sp>
      <p:sp>
        <p:nvSpPr>
          <p:cNvPr id="13" name="TextBox 12"/>
          <p:cNvSpPr txBox="1"/>
          <p:nvPr/>
        </p:nvSpPr>
        <p:spPr>
          <a:xfrm>
            <a:off x="2634183" y="3958530"/>
            <a:ext cx="454893" cy="205740"/>
          </a:xfrm>
          <a:prstGeom prst="rect">
            <a:avLst/>
          </a:prstGeom>
          <a:noFill/>
        </p:spPr>
        <p:txBody>
          <a:bodyPr wrap="square">
            <a:spAutoFit/>
          </a:bodyPr>
          <a:lstStyle/>
          <a:p>
            <a:pPr algn="l"/>
            <a:r>
              <a:rPr sz="1800" b="0" i="0">
                <a:solidFill>
                  <a:srgbClr val="5E6B62"/>
                </a:solidFill>
                <a:latin typeface="Rubik"/>
              </a:rPr>
              <a:t>16.9 fl oz</a:t>
            </a:r>
          </a:p>
        </p:txBody>
      </p:sp>
      <p:sp>
        <p:nvSpPr>
          <p:cNvPr id="14" name="TextBox 13"/>
          <p:cNvSpPr txBox="1"/>
          <p:nvPr/>
        </p:nvSpPr>
        <p:spPr>
          <a:xfrm>
            <a:off x="2426642" y="4128045"/>
            <a:ext cx="869974" cy="205740"/>
          </a:xfrm>
          <a:prstGeom prst="rect">
            <a:avLst/>
          </a:prstGeom>
          <a:noFill/>
        </p:spPr>
        <p:txBody>
          <a:bodyPr wrap="square">
            <a:spAutoFit/>
          </a:bodyPr>
          <a:lstStyle/>
          <a:p>
            <a:pPr algn="l"/>
            <a:r>
              <a:rPr sz="1800" b="0" i="0">
                <a:solidFill>
                  <a:srgbClr val="8A6A22"/>
                </a:solidFill>
                <a:latin typeface="Rubik"/>
              </a:rPr>
              <a:t>260 × 190 × 290</a:t>
            </a:r>
          </a:p>
        </p:txBody>
      </p:sp>
      <p:sp>
        <p:nvSpPr>
          <p:cNvPr id="15" name="TextBox 14"/>
          <p:cNvSpPr txBox="1"/>
          <p:nvPr/>
        </p:nvSpPr>
        <p:spPr>
          <a:xfrm>
            <a:off x="4050208" y="3762375"/>
            <a:ext cx="435173" cy="240030"/>
          </a:xfrm>
          <a:prstGeom prst="rect">
            <a:avLst/>
          </a:prstGeom>
          <a:noFill/>
        </p:spPr>
        <p:txBody>
          <a:bodyPr wrap="square">
            <a:spAutoFit/>
          </a:bodyPr>
          <a:lstStyle/>
          <a:p>
            <a:pPr algn="l"/>
            <a:r>
              <a:rPr sz="2100" b="0" i="0">
                <a:solidFill>
                  <a:srgbClr val="14281C"/>
                </a:solidFill>
                <a:latin typeface="Rubik"/>
              </a:rPr>
              <a:t>750 ml</a:t>
            </a:r>
          </a:p>
        </p:txBody>
      </p:sp>
      <p:sp>
        <p:nvSpPr>
          <p:cNvPr id="16" name="TextBox 15"/>
          <p:cNvSpPr txBox="1"/>
          <p:nvPr/>
        </p:nvSpPr>
        <p:spPr>
          <a:xfrm>
            <a:off x="4029000" y="3958530"/>
            <a:ext cx="477589" cy="205740"/>
          </a:xfrm>
          <a:prstGeom prst="rect">
            <a:avLst/>
          </a:prstGeom>
          <a:noFill/>
        </p:spPr>
        <p:txBody>
          <a:bodyPr wrap="square">
            <a:spAutoFit/>
          </a:bodyPr>
          <a:lstStyle/>
          <a:p>
            <a:pPr algn="l"/>
            <a:r>
              <a:rPr sz="1800" b="0" i="0">
                <a:solidFill>
                  <a:srgbClr val="5E6B62"/>
                </a:solidFill>
                <a:latin typeface="Rubik"/>
              </a:rPr>
              <a:t>25.4 fl oz</a:t>
            </a:r>
          </a:p>
        </p:txBody>
      </p:sp>
      <p:sp>
        <p:nvSpPr>
          <p:cNvPr id="17" name="TextBox 16"/>
          <p:cNvSpPr txBox="1"/>
          <p:nvPr/>
        </p:nvSpPr>
        <p:spPr>
          <a:xfrm>
            <a:off x="3834705" y="4128045"/>
            <a:ext cx="866179" cy="205740"/>
          </a:xfrm>
          <a:prstGeom prst="rect">
            <a:avLst/>
          </a:prstGeom>
          <a:noFill/>
        </p:spPr>
        <p:txBody>
          <a:bodyPr wrap="square">
            <a:spAutoFit/>
          </a:bodyPr>
          <a:lstStyle/>
          <a:p>
            <a:pPr algn="l"/>
            <a:r>
              <a:rPr sz="1800" b="0" i="0">
                <a:solidFill>
                  <a:srgbClr val="8A6A22"/>
                </a:solidFill>
                <a:latin typeface="Rubik"/>
              </a:rPr>
              <a:t>225 × 145 × 305</a:t>
            </a:r>
          </a:p>
        </p:txBody>
      </p:sp>
      <p:sp>
        <p:nvSpPr>
          <p:cNvPr id="18" name="TextBox 17"/>
          <p:cNvSpPr txBox="1"/>
          <p:nvPr/>
        </p:nvSpPr>
        <p:spPr>
          <a:xfrm>
            <a:off x="5587975" y="3762375"/>
            <a:ext cx="171822" cy="240030"/>
          </a:xfrm>
          <a:prstGeom prst="rect">
            <a:avLst/>
          </a:prstGeom>
          <a:noFill/>
        </p:spPr>
        <p:txBody>
          <a:bodyPr wrap="square">
            <a:spAutoFit/>
          </a:bodyPr>
          <a:lstStyle/>
          <a:p>
            <a:pPr algn="l"/>
            <a:r>
              <a:rPr sz="2100" b="0" i="0">
                <a:solidFill>
                  <a:srgbClr val="14281C"/>
                </a:solidFill>
                <a:latin typeface="Rubik"/>
              </a:rPr>
              <a:t>1 L</a:t>
            </a:r>
          </a:p>
        </p:txBody>
      </p:sp>
      <p:sp>
        <p:nvSpPr>
          <p:cNvPr id="19" name="TextBox 18"/>
          <p:cNvSpPr txBox="1"/>
          <p:nvPr/>
        </p:nvSpPr>
        <p:spPr>
          <a:xfrm>
            <a:off x="5432226" y="3958530"/>
            <a:ext cx="483393" cy="205740"/>
          </a:xfrm>
          <a:prstGeom prst="rect">
            <a:avLst/>
          </a:prstGeom>
          <a:noFill/>
        </p:spPr>
        <p:txBody>
          <a:bodyPr wrap="square">
            <a:spAutoFit/>
          </a:bodyPr>
          <a:lstStyle/>
          <a:p>
            <a:pPr algn="l"/>
            <a:r>
              <a:rPr sz="1800" b="0" i="0">
                <a:solidFill>
                  <a:srgbClr val="5E6B62"/>
                </a:solidFill>
                <a:latin typeface="Rubik"/>
              </a:rPr>
              <a:t>33.8 fl oz</a:t>
            </a:r>
          </a:p>
        </p:txBody>
      </p:sp>
      <p:sp>
        <p:nvSpPr>
          <p:cNvPr id="20" name="TextBox 19"/>
          <p:cNvSpPr txBox="1"/>
          <p:nvPr/>
        </p:nvSpPr>
        <p:spPr>
          <a:xfrm>
            <a:off x="5245596" y="4128045"/>
            <a:ext cx="856580" cy="205740"/>
          </a:xfrm>
          <a:prstGeom prst="rect">
            <a:avLst/>
          </a:prstGeom>
          <a:noFill/>
        </p:spPr>
        <p:txBody>
          <a:bodyPr wrap="square">
            <a:spAutoFit/>
          </a:bodyPr>
          <a:lstStyle/>
          <a:p>
            <a:pPr algn="l"/>
            <a:r>
              <a:rPr sz="1800" b="0" i="0">
                <a:solidFill>
                  <a:srgbClr val="8A6A22"/>
                </a:solidFill>
                <a:latin typeface="Rubik"/>
              </a:rPr>
              <a:t>245 × 170 × 325</a:t>
            </a:r>
          </a:p>
        </p:txBody>
      </p:sp>
    </p:spTree>
  </p:cSld>
  <p:clrMapOvr>
    <a:masterClrMapping/>
  </p:clrMapOvr>
  <p:transition dur="500" advClick="1">
    <p:fade/>
  </p:transition>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5.png"/>
          <p:cNvPicPr>
            <a:picLocks noChangeAspect="1"/>
          </p:cNvPicPr>
          <p:nvPr/>
        </p:nvPicPr>
        <p:blipFill>
          <a:blip r:embed="rId2"/>
          <a:stretch>
            <a:fillRect/>
          </a:stretch>
        </p:blipFill>
        <p:spPr>
          <a:xfrm>
            <a:off x="0" y="0"/>
            <a:ext cx="9144000" cy="5143500"/>
          </a:xfrm>
          <a:prstGeom prst="rect">
            <a:avLst/>
          </a:prstGeom>
        </p:spPr>
      </p:pic>
      <p:pic>
        <p:nvPicPr>
          <p:cNvPr id="3" name="Picture 2" descr="8c8d5063da35b16576b8eef0fc1bf8b2.jpg"/>
          <p:cNvPicPr>
            <a:picLocks noChangeAspect="1"/>
          </p:cNvPicPr>
          <p:nvPr/>
        </p:nvPicPr>
        <p:blipFill>
          <a:blip r:embed="rId3"/>
          <a:stretch>
            <a:fillRect/>
          </a:stretch>
        </p:blipFill>
        <p:spPr>
          <a:xfrm>
            <a:off x="752475" y="2638425"/>
            <a:ext cx="5624512" cy="1014412"/>
          </a:xfrm>
          <a:prstGeom prst="rect">
            <a:avLst/>
          </a:prstGeom>
        </p:spPr>
      </p:pic>
      <p:pic>
        <p:nvPicPr>
          <p:cNvPr id="4" name="Picture 3" descr="28e249ad1753e1f5b1eebdf84e6a7233.jpg"/>
          <p:cNvPicPr>
            <a:picLocks noChangeAspect="1"/>
          </p:cNvPicPr>
          <p:nvPr/>
        </p:nvPicPr>
        <p:blipFill>
          <a:blip r:embed="rId4"/>
          <a:stretch>
            <a:fillRect/>
          </a:stretch>
        </p:blipFill>
        <p:spPr>
          <a:xfrm>
            <a:off x="6672262" y="2495550"/>
            <a:ext cx="1862137" cy="1885950"/>
          </a:xfrm>
          <a:prstGeom prst="rect">
            <a:avLst/>
          </a:prstGeom>
        </p:spPr>
      </p:pic>
      <p:sp>
        <p:nvSpPr>
          <p:cNvPr id="5" name="TextBox 4"/>
          <p:cNvSpPr txBox="1"/>
          <p:nvPr/>
        </p:nvSpPr>
        <p:spPr>
          <a:xfrm>
            <a:off x="609600" y="533400"/>
            <a:ext cx="4037855" cy="205740"/>
          </a:xfrm>
          <a:prstGeom prst="rect">
            <a:avLst/>
          </a:prstGeom>
          <a:noFill/>
        </p:spPr>
        <p:txBody>
          <a:bodyPr wrap="square">
            <a:spAutoFit/>
          </a:bodyPr>
          <a:lstStyle/>
          <a:p>
            <a:pPr algn="l"/>
            <a:r>
              <a:rPr sz="1800" b="0" i="0" spc="300">
                <a:solidFill>
                  <a:srgbClr val="8A6A22"/>
                </a:solidFill>
                <a:latin typeface="Rubik"/>
              </a:rPr>
              <a:t>PRODUCTS · 1-2</a:t>
            </a:r>
          </a:p>
        </p:txBody>
      </p:sp>
      <p:sp>
        <p:nvSpPr>
          <p:cNvPr id="6" name="TextBox 5"/>
          <p:cNvSpPr txBox="1"/>
          <p:nvPr/>
        </p:nvSpPr>
        <p:spPr>
          <a:xfrm>
            <a:off x="609600" y="712440"/>
            <a:ext cx="4037855" cy="548640"/>
          </a:xfrm>
          <a:prstGeom prst="rect">
            <a:avLst/>
          </a:prstGeom>
          <a:noFill/>
        </p:spPr>
        <p:txBody>
          <a:bodyPr wrap="square">
            <a:spAutoFit/>
          </a:bodyPr>
          <a:lstStyle/>
          <a:p>
            <a:pPr algn="l"/>
            <a:r>
              <a:rPr sz="4800" b="0" i="0">
                <a:solidFill>
                  <a:srgbClr val="14281C"/>
                </a:solidFill>
                <a:latin typeface="Cormorant Garamond"/>
              </a:rPr>
              <a:t>Extra Virgin Olive Oil — Metallic</a:t>
            </a:r>
          </a:p>
        </p:txBody>
      </p:sp>
      <p:sp>
        <p:nvSpPr>
          <p:cNvPr id="7" name="TextBox 6"/>
          <p:cNvSpPr txBox="1"/>
          <p:nvPr/>
        </p:nvSpPr>
        <p:spPr>
          <a:xfrm>
            <a:off x="609600" y="1161975"/>
            <a:ext cx="7924800" cy="642044"/>
          </a:xfrm>
          <a:prstGeom prst="rect">
            <a:avLst/>
          </a:prstGeom>
          <a:noFill/>
        </p:spPr>
        <p:txBody>
          <a:bodyPr wrap="square">
            <a:spAutoFit/>
          </a:bodyPr>
          <a:lstStyle/>
          <a:p>
            <a:pPr algn="l"/>
            <a:r>
              <a:rPr sz="2325" b="0" i="0">
                <a:solidFill>
                  <a:srgbClr val="1F2B23"/>
                </a:solidFill>
                <a:latin typeface="Rubik"/>
              </a:rPr>
              <a:t>Practical and efficient, the metal packaging ensures that every drop of olive oil reaches your table with its quality intact. It protects the oil from light and air, thus preserving its freshness and flavors for a longer time. The metal packaging is ideal for ensuring optimal conservation, transportation, and travel.</a:t>
            </a:r>
          </a:p>
        </p:txBody>
      </p:sp>
      <p:sp>
        <p:nvSpPr>
          <p:cNvPr id="8" name="TextBox 7"/>
          <p:cNvSpPr txBox="1"/>
          <p:nvPr/>
        </p:nvSpPr>
        <p:spPr>
          <a:xfrm>
            <a:off x="1592981" y="3709987"/>
            <a:ext cx="193774" cy="240030"/>
          </a:xfrm>
          <a:prstGeom prst="rect">
            <a:avLst/>
          </a:prstGeom>
          <a:noFill/>
        </p:spPr>
        <p:txBody>
          <a:bodyPr wrap="square">
            <a:spAutoFit/>
          </a:bodyPr>
          <a:lstStyle/>
          <a:p>
            <a:pPr algn="l"/>
            <a:r>
              <a:rPr sz="2100" b="0" i="0">
                <a:solidFill>
                  <a:srgbClr val="14281C"/>
                </a:solidFill>
                <a:latin typeface="Rubik"/>
              </a:rPr>
              <a:t>3 L</a:t>
            </a:r>
          </a:p>
        </p:txBody>
      </p:sp>
      <p:sp>
        <p:nvSpPr>
          <p:cNvPr id="9" name="TextBox 8"/>
          <p:cNvSpPr txBox="1"/>
          <p:nvPr/>
        </p:nvSpPr>
        <p:spPr>
          <a:xfrm>
            <a:off x="1432842" y="3906142"/>
            <a:ext cx="514052" cy="205740"/>
          </a:xfrm>
          <a:prstGeom prst="rect">
            <a:avLst/>
          </a:prstGeom>
          <a:noFill/>
        </p:spPr>
        <p:txBody>
          <a:bodyPr wrap="square">
            <a:spAutoFit/>
          </a:bodyPr>
          <a:lstStyle/>
          <a:p>
            <a:pPr algn="l"/>
            <a:r>
              <a:rPr sz="1800" b="0" i="0">
                <a:solidFill>
                  <a:srgbClr val="5E6B62"/>
                </a:solidFill>
                <a:latin typeface="Rubik"/>
              </a:rPr>
              <a:t>101.4 fl oz</a:t>
            </a:r>
          </a:p>
        </p:txBody>
      </p:sp>
      <p:sp>
        <p:nvSpPr>
          <p:cNvPr id="10" name="TextBox 9"/>
          <p:cNvSpPr txBox="1"/>
          <p:nvPr/>
        </p:nvSpPr>
        <p:spPr>
          <a:xfrm>
            <a:off x="1247700" y="4075658"/>
            <a:ext cx="884336" cy="205740"/>
          </a:xfrm>
          <a:prstGeom prst="rect">
            <a:avLst/>
          </a:prstGeom>
          <a:noFill/>
        </p:spPr>
        <p:txBody>
          <a:bodyPr wrap="square">
            <a:spAutoFit/>
          </a:bodyPr>
          <a:lstStyle/>
          <a:p>
            <a:pPr algn="l"/>
            <a:r>
              <a:rPr sz="1800" b="0" i="0">
                <a:solidFill>
                  <a:srgbClr val="8A6A22"/>
                </a:solidFill>
                <a:latin typeface="Rubik"/>
              </a:rPr>
              <a:t>305 × 245 × 223</a:t>
            </a:r>
          </a:p>
        </p:txBody>
      </p:sp>
      <p:sp>
        <p:nvSpPr>
          <p:cNvPr id="11" name="TextBox 10"/>
          <p:cNvSpPr txBox="1"/>
          <p:nvPr/>
        </p:nvSpPr>
        <p:spPr>
          <a:xfrm>
            <a:off x="3466281" y="3709987"/>
            <a:ext cx="196899" cy="240030"/>
          </a:xfrm>
          <a:prstGeom prst="rect">
            <a:avLst/>
          </a:prstGeom>
          <a:noFill/>
        </p:spPr>
        <p:txBody>
          <a:bodyPr wrap="square">
            <a:spAutoFit/>
          </a:bodyPr>
          <a:lstStyle/>
          <a:p>
            <a:pPr algn="l"/>
            <a:r>
              <a:rPr sz="2100" b="0" i="0">
                <a:solidFill>
                  <a:srgbClr val="14281C"/>
                </a:solidFill>
                <a:latin typeface="Rubik"/>
              </a:rPr>
              <a:t>4 L</a:t>
            </a:r>
          </a:p>
        </p:txBody>
      </p:sp>
      <p:sp>
        <p:nvSpPr>
          <p:cNvPr id="12" name="TextBox 11"/>
          <p:cNvSpPr txBox="1"/>
          <p:nvPr/>
        </p:nvSpPr>
        <p:spPr>
          <a:xfrm>
            <a:off x="3300933" y="3906142"/>
            <a:ext cx="527595" cy="205740"/>
          </a:xfrm>
          <a:prstGeom prst="rect">
            <a:avLst/>
          </a:prstGeom>
          <a:noFill/>
        </p:spPr>
        <p:txBody>
          <a:bodyPr wrap="square">
            <a:spAutoFit/>
          </a:bodyPr>
          <a:lstStyle/>
          <a:p>
            <a:pPr algn="l"/>
            <a:r>
              <a:rPr sz="1800" b="0" i="0">
                <a:solidFill>
                  <a:srgbClr val="5E6B62"/>
                </a:solidFill>
                <a:latin typeface="Rubik"/>
              </a:rPr>
              <a:t>135.3 fl oz</a:t>
            </a:r>
          </a:p>
        </p:txBody>
      </p:sp>
      <p:sp>
        <p:nvSpPr>
          <p:cNvPr id="13" name="TextBox 12"/>
          <p:cNvSpPr txBox="1"/>
          <p:nvPr/>
        </p:nvSpPr>
        <p:spPr>
          <a:xfrm>
            <a:off x="3121000" y="4075658"/>
            <a:ext cx="887462" cy="205740"/>
          </a:xfrm>
          <a:prstGeom prst="rect">
            <a:avLst/>
          </a:prstGeom>
          <a:noFill/>
        </p:spPr>
        <p:txBody>
          <a:bodyPr wrap="square">
            <a:spAutoFit/>
          </a:bodyPr>
          <a:lstStyle/>
          <a:p>
            <a:pPr algn="l"/>
            <a:r>
              <a:rPr sz="1800" b="0" i="0">
                <a:solidFill>
                  <a:srgbClr val="8A6A22"/>
                </a:solidFill>
                <a:latin typeface="Rubik"/>
              </a:rPr>
              <a:t>305 × 245 × 285</a:t>
            </a:r>
          </a:p>
        </p:txBody>
      </p:sp>
      <p:sp>
        <p:nvSpPr>
          <p:cNvPr id="14" name="TextBox 13"/>
          <p:cNvSpPr txBox="1"/>
          <p:nvPr/>
        </p:nvSpPr>
        <p:spPr>
          <a:xfrm>
            <a:off x="5343525" y="3709987"/>
            <a:ext cx="192211" cy="240030"/>
          </a:xfrm>
          <a:prstGeom prst="rect">
            <a:avLst/>
          </a:prstGeom>
          <a:noFill/>
        </p:spPr>
        <p:txBody>
          <a:bodyPr wrap="square">
            <a:spAutoFit/>
          </a:bodyPr>
          <a:lstStyle/>
          <a:p>
            <a:pPr algn="l"/>
            <a:r>
              <a:rPr sz="2100" b="0" i="0">
                <a:solidFill>
                  <a:srgbClr val="14281C"/>
                </a:solidFill>
                <a:latin typeface="Rubik"/>
              </a:rPr>
              <a:t>5 L</a:t>
            </a:r>
          </a:p>
        </p:txBody>
      </p:sp>
      <p:sp>
        <p:nvSpPr>
          <p:cNvPr id="15" name="TextBox 14"/>
          <p:cNvSpPr txBox="1"/>
          <p:nvPr/>
        </p:nvSpPr>
        <p:spPr>
          <a:xfrm>
            <a:off x="5224016" y="3906142"/>
            <a:ext cx="431229" cy="205740"/>
          </a:xfrm>
          <a:prstGeom prst="rect">
            <a:avLst/>
          </a:prstGeom>
          <a:noFill/>
        </p:spPr>
        <p:txBody>
          <a:bodyPr wrap="square">
            <a:spAutoFit/>
          </a:bodyPr>
          <a:lstStyle/>
          <a:p>
            <a:pPr algn="l"/>
            <a:r>
              <a:rPr sz="1800" b="0" i="0">
                <a:solidFill>
                  <a:srgbClr val="5E6B62"/>
                </a:solidFill>
                <a:latin typeface="Rubik"/>
              </a:rPr>
              <a:t>169 fl oz</a:t>
            </a:r>
          </a:p>
        </p:txBody>
      </p:sp>
      <p:sp>
        <p:nvSpPr>
          <p:cNvPr id="16" name="TextBox 15"/>
          <p:cNvSpPr txBox="1"/>
          <p:nvPr/>
        </p:nvSpPr>
        <p:spPr>
          <a:xfrm>
            <a:off x="4997350" y="4075658"/>
            <a:ext cx="884485" cy="205740"/>
          </a:xfrm>
          <a:prstGeom prst="rect">
            <a:avLst/>
          </a:prstGeom>
          <a:noFill/>
        </p:spPr>
        <p:txBody>
          <a:bodyPr wrap="square">
            <a:spAutoFit/>
          </a:bodyPr>
          <a:lstStyle/>
          <a:p>
            <a:pPr algn="l"/>
            <a:r>
              <a:rPr sz="1800" b="0" i="0">
                <a:solidFill>
                  <a:srgbClr val="8A6A22"/>
                </a:solidFill>
                <a:latin typeface="Rubik"/>
              </a:rPr>
              <a:t>305 × 245 × 325</a:t>
            </a:r>
          </a:p>
        </p:txBody>
      </p:sp>
      <p:sp>
        <p:nvSpPr>
          <p:cNvPr id="17" name="TextBox 16"/>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06 / 35</a:t>
            </a:r>
          </a:p>
        </p:txBody>
      </p:sp>
    </p:spTree>
  </p:cSld>
  <p:clrMapOvr>
    <a:masterClrMapping/>
  </p:clrMapOvr>
  <p:transition dur="500" advClick="1">
    <p:fade/>
  </p:transition>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7.png"/>
          <p:cNvPicPr>
            <a:picLocks noChangeAspect="1"/>
          </p:cNvPicPr>
          <p:nvPr/>
        </p:nvPicPr>
        <p:blipFill>
          <a:blip r:embed="rId2"/>
          <a:stretch>
            <a:fillRect/>
          </a:stretch>
        </p:blipFill>
        <p:spPr>
          <a:xfrm>
            <a:off x="0" y="0"/>
            <a:ext cx="9144000" cy="5143500"/>
          </a:xfrm>
          <a:prstGeom prst="rect">
            <a:avLst/>
          </a:prstGeom>
        </p:spPr>
      </p:pic>
      <p:pic>
        <p:nvPicPr>
          <p:cNvPr id="3" name="Picture 2" descr="291343a1ea0990f465ac09f3557280ba.jpg"/>
          <p:cNvPicPr>
            <a:picLocks noChangeAspect="1"/>
          </p:cNvPicPr>
          <p:nvPr/>
        </p:nvPicPr>
        <p:blipFill>
          <a:blip r:embed="rId3"/>
          <a:stretch>
            <a:fillRect/>
          </a:stretch>
        </p:blipFill>
        <p:spPr>
          <a:xfrm>
            <a:off x="5676900" y="1161975"/>
            <a:ext cx="2857500" cy="2557462"/>
          </a:xfrm>
          <a:prstGeom prst="rect">
            <a:avLst/>
          </a:prstGeom>
        </p:spPr>
      </p:pic>
      <p:sp>
        <p:nvSpPr>
          <p:cNvPr id="4" name="TextBox 3"/>
          <p:cNvSpPr txBox="1"/>
          <p:nvPr/>
        </p:nvSpPr>
        <p:spPr>
          <a:xfrm>
            <a:off x="609600" y="533400"/>
            <a:ext cx="3761109" cy="205740"/>
          </a:xfrm>
          <a:prstGeom prst="rect">
            <a:avLst/>
          </a:prstGeom>
          <a:noFill/>
        </p:spPr>
        <p:txBody>
          <a:bodyPr wrap="square">
            <a:spAutoFit/>
          </a:bodyPr>
          <a:lstStyle/>
          <a:p>
            <a:pPr algn="l"/>
            <a:r>
              <a:rPr sz="1800" b="0" i="0" spc="300">
                <a:solidFill>
                  <a:srgbClr val="8A6A22"/>
                </a:solidFill>
                <a:latin typeface="Rubik"/>
              </a:rPr>
              <a:t>PRODUCTS · 1-3</a:t>
            </a:r>
          </a:p>
        </p:txBody>
      </p:sp>
      <p:sp>
        <p:nvSpPr>
          <p:cNvPr id="5" name="TextBox 4"/>
          <p:cNvSpPr txBox="1"/>
          <p:nvPr/>
        </p:nvSpPr>
        <p:spPr>
          <a:xfrm>
            <a:off x="609600" y="712440"/>
            <a:ext cx="3761109" cy="548640"/>
          </a:xfrm>
          <a:prstGeom prst="rect">
            <a:avLst/>
          </a:prstGeom>
          <a:noFill/>
        </p:spPr>
        <p:txBody>
          <a:bodyPr wrap="square">
            <a:spAutoFit/>
          </a:bodyPr>
          <a:lstStyle/>
          <a:p>
            <a:pPr algn="l"/>
            <a:r>
              <a:rPr sz="4800" b="0" i="0">
                <a:solidFill>
                  <a:srgbClr val="14281C"/>
                </a:solidFill>
                <a:latin typeface="Cormorant Garamond"/>
              </a:rPr>
              <a:t>Flavored Extra Virgin Olive Oil</a:t>
            </a:r>
          </a:p>
        </p:txBody>
      </p:sp>
      <p:sp>
        <p:nvSpPr>
          <p:cNvPr id="6" name="TextBox 5"/>
          <p:cNvSpPr txBox="1"/>
          <p:nvPr/>
        </p:nvSpPr>
        <p:spPr>
          <a:xfrm>
            <a:off x="609600" y="1161975"/>
            <a:ext cx="4838700" cy="1601985"/>
          </a:xfrm>
          <a:prstGeom prst="rect">
            <a:avLst/>
          </a:prstGeom>
          <a:noFill/>
        </p:spPr>
        <p:txBody>
          <a:bodyPr wrap="square">
            <a:spAutoFit/>
          </a:bodyPr>
          <a:lstStyle/>
          <a:p>
            <a:pPr algn="l"/>
            <a:r>
              <a:rPr sz="2175" b="0" i="0">
                <a:solidFill>
                  <a:srgbClr val="1F2B23"/>
                </a:solidFill>
                <a:latin typeface="Rubik"/>
              </a:rPr>
              <a:t>Extra Virgin Olive Oil MAGON is now available in a new flavored range composed of 7 natural flavors, along with other seasonal varieties. Produced by simultaneously pressing olives with natural ingredients such as lemon, rosemary, basil, or vanilla, it offers an oil with a delicate taste and a smooth, velvety texture. This unique blend reveals 100% natural and authentic flavors that will enhance your culinary creations. Ideal for seasoning salads or complementing your dishes, it adds a gourmet and refined touch to your kitchen.</a:t>
            </a:r>
          </a:p>
        </p:txBody>
      </p:sp>
      <p:sp>
        <p:nvSpPr>
          <p:cNvPr id="7" name="TextBox 6"/>
          <p:cNvSpPr txBox="1"/>
          <p:nvPr/>
        </p:nvSpPr>
        <p:spPr>
          <a:xfrm>
            <a:off x="609600" y="4151039"/>
            <a:ext cx="604018" cy="230460"/>
          </a:xfrm>
          <a:prstGeom prst="rect">
            <a:avLst/>
          </a:prstGeom>
          <a:noFill/>
        </p:spPr>
        <p:txBody>
          <a:bodyPr wrap="square">
            <a:spAutoFit/>
          </a:bodyPr>
          <a:lstStyle/>
          <a:p>
            <a:pPr algn="l"/>
            <a:r>
              <a:rPr sz="1950" b="0" i="0">
                <a:solidFill>
                  <a:srgbClr val="D9B45A"/>
                </a:solidFill>
                <a:latin typeface="Rubik"/>
              </a:rPr>
              <a:t>250 ml</a:t>
            </a:r>
          </a:p>
        </p:txBody>
      </p:sp>
      <p:sp>
        <p:nvSpPr>
          <p:cNvPr id="8" name="TextBox 7"/>
          <p:cNvSpPr txBox="1"/>
          <p:nvPr/>
        </p:nvSpPr>
        <p:spPr>
          <a:xfrm>
            <a:off x="1270768" y="4151039"/>
            <a:ext cx="613916" cy="230460"/>
          </a:xfrm>
          <a:prstGeom prst="rect">
            <a:avLst/>
          </a:prstGeom>
          <a:noFill/>
        </p:spPr>
        <p:txBody>
          <a:bodyPr wrap="square">
            <a:spAutoFit/>
          </a:bodyPr>
          <a:lstStyle/>
          <a:p>
            <a:pPr algn="l"/>
            <a:r>
              <a:rPr sz="1800" b="0" i="0">
                <a:solidFill>
                  <a:srgbClr val="5E6B62"/>
                </a:solidFill>
                <a:latin typeface="Rubik"/>
              </a:rPr>
              <a:t>8.5 fl oz</a:t>
            </a:r>
          </a:p>
        </p:txBody>
      </p:sp>
      <p:sp>
        <p:nvSpPr>
          <p:cNvPr id="9" name="TextBox 8"/>
          <p:cNvSpPr txBox="1"/>
          <p:nvPr/>
        </p:nvSpPr>
        <p:spPr>
          <a:xfrm>
            <a:off x="1941834" y="4151039"/>
            <a:ext cx="1050652" cy="230460"/>
          </a:xfrm>
          <a:prstGeom prst="rect">
            <a:avLst/>
          </a:prstGeom>
          <a:noFill/>
        </p:spPr>
        <p:txBody>
          <a:bodyPr wrap="square">
            <a:spAutoFit/>
          </a:bodyPr>
          <a:lstStyle/>
          <a:p>
            <a:pPr algn="l"/>
            <a:r>
              <a:rPr sz="1800" b="0" i="0">
                <a:solidFill>
                  <a:srgbClr val="8A6A22"/>
                </a:solidFill>
                <a:latin typeface="Rubik"/>
              </a:rPr>
              <a:t>213 × 160 × 238</a:t>
            </a:r>
          </a:p>
        </p:txBody>
      </p:sp>
      <p:sp>
        <p:nvSpPr>
          <p:cNvPr id="10" name="TextBox 9"/>
          <p:cNvSpPr txBox="1"/>
          <p:nvPr/>
        </p:nvSpPr>
        <p:spPr>
          <a:xfrm>
            <a:off x="5676900" y="3776588"/>
            <a:ext cx="2857500" cy="308520"/>
          </a:xfrm>
          <a:prstGeom prst="rect">
            <a:avLst/>
          </a:prstGeom>
          <a:noFill/>
        </p:spPr>
        <p:txBody>
          <a:bodyPr wrap="square">
            <a:spAutoFit/>
          </a:bodyPr>
          <a:lstStyle/>
          <a:p>
            <a:pPr algn="ctr"/>
            <a:r>
              <a:rPr sz="1800" b="0" i="0">
                <a:solidFill>
                  <a:srgbClr val="3E6B4C"/>
                </a:solidFill>
                <a:latin typeface="Rubik"/>
              </a:rPr>
              <a:t>Cinnamon · Lemon Mint · Rosemary &amp; Thyme · Chili Garlic · Basil · Citrus · Vanilla Beans</a:t>
            </a:r>
          </a:p>
        </p:txBody>
      </p:sp>
      <p:sp>
        <p:nvSpPr>
          <p:cNvPr id="11" name="TextBox 10"/>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07 / 35</a:t>
            </a:r>
          </a:p>
        </p:txBody>
      </p:sp>
    </p:spTree>
  </p:cSld>
  <p:clrMapOvr>
    <a:masterClrMapping/>
  </p:clrMapOvr>
  <p:transition dur="500" advClick="1">
    <p:fade/>
  </p:transition>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8.png"/>
          <p:cNvPicPr>
            <a:picLocks noChangeAspect="1"/>
          </p:cNvPicPr>
          <p:nvPr/>
        </p:nvPicPr>
        <p:blipFill>
          <a:blip r:embed="rId2"/>
          <a:stretch>
            <a:fillRect/>
          </a:stretch>
        </p:blipFill>
        <p:spPr>
          <a:xfrm>
            <a:off x="0" y="0"/>
            <a:ext cx="9144000" cy="5143500"/>
          </a:xfrm>
          <a:prstGeom prst="rect">
            <a:avLst/>
          </a:prstGeom>
        </p:spPr>
      </p:pic>
      <p:pic>
        <p:nvPicPr>
          <p:cNvPr id="3" name="Picture 2" descr="8f458f709649d0c75872aae0fcbaf879.jpg"/>
          <p:cNvPicPr>
            <a:picLocks noChangeAspect="1"/>
          </p:cNvPicPr>
          <p:nvPr/>
        </p:nvPicPr>
        <p:blipFill>
          <a:blip r:embed="rId3"/>
          <a:stretch>
            <a:fillRect/>
          </a:stretch>
        </p:blipFill>
        <p:spPr>
          <a:xfrm>
            <a:off x="752475" y="2881312"/>
            <a:ext cx="5624512" cy="802853"/>
          </a:xfrm>
          <a:prstGeom prst="rect">
            <a:avLst/>
          </a:prstGeom>
        </p:spPr>
      </p:pic>
      <p:pic>
        <p:nvPicPr>
          <p:cNvPr id="4" name="Picture 3" descr="2d5a18d1cde829a2db738ad56f90d798.jpg"/>
          <p:cNvPicPr>
            <a:picLocks noChangeAspect="1"/>
          </p:cNvPicPr>
          <p:nvPr/>
        </p:nvPicPr>
        <p:blipFill>
          <a:blip r:embed="rId4"/>
          <a:stretch>
            <a:fillRect/>
          </a:stretch>
        </p:blipFill>
        <p:spPr>
          <a:xfrm>
            <a:off x="6672262" y="2738437"/>
            <a:ext cx="1862137" cy="1643062"/>
          </a:xfrm>
          <a:prstGeom prst="rect">
            <a:avLst/>
          </a:prstGeom>
        </p:spPr>
      </p:pic>
      <p:sp>
        <p:nvSpPr>
          <p:cNvPr id="5" name="TextBox 4"/>
          <p:cNvSpPr txBox="1"/>
          <p:nvPr/>
        </p:nvSpPr>
        <p:spPr>
          <a:xfrm>
            <a:off x="609600" y="533400"/>
            <a:ext cx="3702843" cy="205740"/>
          </a:xfrm>
          <a:prstGeom prst="rect">
            <a:avLst/>
          </a:prstGeom>
          <a:noFill/>
        </p:spPr>
        <p:txBody>
          <a:bodyPr wrap="square">
            <a:spAutoFit/>
          </a:bodyPr>
          <a:lstStyle/>
          <a:p>
            <a:pPr algn="l"/>
            <a:r>
              <a:rPr sz="1800" b="0" i="0" spc="300">
                <a:solidFill>
                  <a:srgbClr val="8A6A22"/>
                </a:solidFill>
                <a:latin typeface="Rubik"/>
              </a:rPr>
              <a:t>PRODUCTS · 1-4</a:t>
            </a:r>
          </a:p>
        </p:txBody>
      </p:sp>
      <p:sp>
        <p:nvSpPr>
          <p:cNvPr id="6" name="TextBox 5"/>
          <p:cNvSpPr txBox="1"/>
          <p:nvPr/>
        </p:nvSpPr>
        <p:spPr>
          <a:xfrm>
            <a:off x="609600" y="712440"/>
            <a:ext cx="3702843" cy="548640"/>
          </a:xfrm>
          <a:prstGeom prst="rect">
            <a:avLst/>
          </a:prstGeom>
          <a:noFill/>
        </p:spPr>
        <p:txBody>
          <a:bodyPr wrap="square">
            <a:spAutoFit/>
          </a:bodyPr>
          <a:lstStyle/>
          <a:p>
            <a:pPr algn="l"/>
            <a:r>
              <a:rPr sz="4800" b="0" i="0">
                <a:solidFill>
                  <a:srgbClr val="14281C"/>
                </a:solidFill>
                <a:latin typeface="Cormorant Garamond"/>
              </a:rPr>
              <a:t>Organic Extra Virgin Olive Oil</a:t>
            </a:r>
          </a:p>
        </p:txBody>
      </p:sp>
      <p:sp>
        <p:nvSpPr>
          <p:cNvPr id="7" name="TextBox 6"/>
          <p:cNvSpPr txBox="1"/>
          <p:nvPr/>
        </p:nvSpPr>
        <p:spPr>
          <a:xfrm>
            <a:off x="609600" y="1161975"/>
            <a:ext cx="7924800" cy="856059"/>
          </a:xfrm>
          <a:prstGeom prst="rect">
            <a:avLst/>
          </a:prstGeom>
          <a:noFill/>
        </p:spPr>
        <p:txBody>
          <a:bodyPr wrap="square">
            <a:spAutoFit/>
          </a:bodyPr>
          <a:lstStyle/>
          <a:p>
            <a:pPr algn="l"/>
            <a:r>
              <a:rPr sz="2325" b="0" i="0">
                <a:solidFill>
                  <a:srgbClr val="1F2B23"/>
                </a:solidFill>
                <a:latin typeface="Rubik"/>
              </a:rPr>
              <a:t>Organic extra virgin olive oil is a superior category olive oil from organic farming, certified «ORGANIC» by ECOCERT. Olives are handpicked at full maturity and cold pressed by purely mechanical processes to preserve all their sweetness and aromatic richness. Ideal for seasoning your salads and accompanying your fish, cooked vegetables and Italian pasta.</a:t>
            </a:r>
          </a:p>
        </p:txBody>
      </p:sp>
      <p:sp>
        <p:nvSpPr>
          <p:cNvPr id="8" name="TextBox 7"/>
          <p:cNvSpPr txBox="1"/>
          <p:nvPr/>
        </p:nvSpPr>
        <p:spPr>
          <a:xfrm>
            <a:off x="1232892" y="3741315"/>
            <a:ext cx="445293" cy="240030"/>
          </a:xfrm>
          <a:prstGeom prst="rect">
            <a:avLst/>
          </a:prstGeom>
          <a:noFill/>
        </p:spPr>
        <p:txBody>
          <a:bodyPr wrap="square">
            <a:spAutoFit/>
          </a:bodyPr>
          <a:lstStyle/>
          <a:p>
            <a:pPr algn="l"/>
            <a:r>
              <a:rPr sz="2100" b="0" i="0">
                <a:solidFill>
                  <a:srgbClr val="14281C"/>
                </a:solidFill>
                <a:latin typeface="Rubik"/>
              </a:rPr>
              <a:t>250 ml</a:t>
            </a:r>
          </a:p>
        </p:txBody>
      </p:sp>
      <p:sp>
        <p:nvSpPr>
          <p:cNvPr id="9" name="TextBox 8"/>
          <p:cNvSpPr txBox="1"/>
          <p:nvPr/>
        </p:nvSpPr>
        <p:spPr>
          <a:xfrm>
            <a:off x="1248593" y="3937471"/>
            <a:ext cx="413891" cy="205740"/>
          </a:xfrm>
          <a:prstGeom prst="rect">
            <a:avLst/>
          </a:prstGeom>
          <a:noFill/>
        </p:spPr>
        <p:txBody>
          <a:bodyPr wrap="square">
            <a:spAutoFit/>
          </a:bodyPr>
          <a:lstStyle/>
          <a:p>
            <a:pPr algn="l"/>
            <a:r>
              <a:rPr sz="1800" b="0" i="0">
                <a:solidFill>
                  <a:srgbClr val="5E6B62"/>
                </a:solidFill>
                <a:latin typeface="Rubik"/>
              </a:rPr>
              <a:t>8.5 fl oz</a:t>
            </a:r>
          </a:p>
        </p:txBody>
      </p:sp>
      <p:sp>
        <p:nvSpPr>
          <p:cNvPr id="10" name="TextBox 9"/>
          <p:cNvSpPr txBox="1"/>
          <p:nvPr/>
        </p:nvSpPr>
        <p:spPr>
          <a:xfrm>
            <a:off x="1030188" y="4106986"/>
            <a:ext cx="850627" cy="205740"/>
          </a:xfrm>
          <a:prstGeom prst="rect">
            <a:avLst/>
          </a:prstGeom>
          <a:noFill/>
        </p:spPr>
        <p:txBody>
          <a:bodyPr wrap="square">
            <a:spAutoFit/>
          </a:bodyPr>
          <a:lstStyle/>
          <a:p>
            <a:pPr algn="l"/>
            <a:r>
              <a:rPr sz="1800" b="0" i="0">
                <a:solidFill>
                  <a:srgbClr val="8A6A22"/>
                </a:solidFill>
                <a:latin typeface="Rubik"/>
              </a:rPr>
              <a:t>213 × 160 × 238</a:t>
            </a:r>
          </a:p>
        </p:txBody>
      </p:sp>
      <p:sp>
        <p:nvSpPr>
          <p:cNvPr id="11" name="TextBox 10"/>
          <p:cNvSpPr txBox="1"/>
          <p:nvPr/>
        </p:nvSpPr>
        <p:spPr>
          <a:xfrm>
            <a:off x="2636713" y="3741315"/>
            <a:ext cx="449833" cy="240030"/>
          </a:xfrm>
          <a:prstGeom prst="rect">
            <a:avLst/>
          </a:prstGeom>
          <a:noFill/>
        </p:spPr>
        <p:txBody>
          <a:bodyPr wrap="square">
            <a:spAutoFit/>
          </a:bodyPr>
          <a:lstStyle/>
          <a:p>
            <a:pPr algn="l"/>
            <a:r>
              <a:rPr sz="2100" b="0" i="0">
                <a:solidFill>
                  <a:srgbClr val="14281C"/>
                </a:solidFill>
                <a:latin typeface="Rubik"/>
              </a:rPr>
              <a:t>500 ml</a:t>
            </a:r>
          </a:p>
        </p:txBody>
      </p:sp>
      <p:sp>
        <p:nvSpPr>
          <p:cNvPr id="12" name="TextBox 11"/>
          <p:cNvSpPr txBox="1"/>
          <p:nvPr/>
        </p:nvSpPr>
        <p:spPr>
          <a:xfrm>
            <a:off x="2634183" y="3937471"/>
            <a:ext cx="454893" cy="205740"/>
          </a:xfrm>
          <a:prstGeom prst="rect">
            <a:avLst/>
          </a:prstGeom>
          <a:noFill/>
        </p:spPr>
        <p:txBody>
          <a:bodyPr wrap="square">
            <a:spAutoFit/>
          </a:bodyPr>
          <a:lstStyle/>
          <a:p>
            <a:pPr algn="l"/>
            <a:r>
              <a:rPr sz="1800" b="0" i="0">
                <a:solidFill>
                  <a:srgbClr val="5E6B62"/>
                </a:solidFill>
                <a:latin typeface="Rubik"/>
              </a:rPr>
              <a:t>16.9 fl oz</a:t>
            </a:r>
          </a:p>
        </p:txBody>
      </p:sp>
      <p:sp>
        <p:nvSpPr>
          <p:cNvPr id="13" name="TextBox 12"/>
          <p:cNvSpPr txBox="1"/>
          <p:nvPr/>
        </p:nvSpPr>
        <p:spPr>
          <a:xfrm>
            <a:off x="2426642" y="4106986"/>
            <a:ext cx="869974" cy="205740"/>
          </a:xfrm>
          <a:prstGeom prst="rect">
            <a:avLst/>
          </a:prstGeom>
          <a:noFill/>
        </p:spPr>
        <p:txBody>
          <a:bodyPr wrap="square">
            <a:spAutoFit/>
          </a:bodyPr>
          <a:lstStyle/>
          <a:p>
            <a:pPr algn="l"/>
            <a:r>
              <a:rPr sz="1800" b="0" i="0">
                <a:solidFill>
                  <a:srgbClr val="8A6A22"/>
                </a:solidFill>
                <a:latin typeface="Rubik"/>
              </a:rPr>
              <a:t>260 × 190 × 290</a:t>
            </a:r>
          </a:p>
        </p:txBody>
      </p:sp>
      <p:sp>
        <p:nvSpPr>
          <p:cNvPr id="14" name="TextBox 13"/>
          <p:cNvSpPr txBox="1"/>
          <p:nvPr/>
        </p:nvSpPr>
        <p:spPr>
          <a:xfrm>
            <a:off x="4050208" y="3741315"/>
            <a:ext cx="435173" cy="240030"/>
          </a:xfrm>
          <a:prstGeom prst="rect">
            <a:avLst/>
          </a:prstGeom>
          <a:noFill/>
        </p:spPr>
        <p:txBody>
          <a:bodyPr wrap="square">
            <a:spAutoFit/>
          </a:bodyPr>
          <a:lstStyle/>
          <a:p>
            <a:pPr algn="l"/>
            <a:r>
              <a:rPr sz="2100" b="0" i="0">
                <a:solidFill>
                  <a:srgbClr val="14281C"/>
                </a:solidFill>
                <a:latin typeface="Rubik"/>
              </a:rPr>
              <a:t>750 ml</a:t>
            </a:r>
          </a:p>
        </p:txBody>
      </p:sp>
      <p:sp>
        <p:nvSpPr>
          <p:cNvPr id="15" name="TextBox 14"/>
          <p:cNvSpPr txBox="1"/>
          <p:nvPr/>
        </p:nvSpPr>
        <p:spPr>
          <a:xfrm>
            <a:off x="4029000" y="3937471"/>
            <a:ext cx="477589" cy="205740"/>
          </a:xfrm>
          <a:prstGeom prst="rect">
            <a:avLst/>
          </a:prstGeom>
          <a:noFill/>
        </p:spPr>
        <p:txBody>
          <a:bodyPr wrap="square">
            <a:spAutoFit/>
          </a:bodyPr>
          <a:lstStyle/>
          <a:p>
            <a:pPr algn="l"/>
            <a:r>
              <a:rPr sz="1800" b="0" i="0">
                <a:solidFill>
                  <a:srgbClr val="5E6B62"/>
                </a:solidFill>
                <a:latin typeface="Rubik"/>
              </a:rPr>
              <a:t>25.4 fl oz</a:t>
            </a:r>
          </a:p>
        </p:txBody>
      </p:sp>
      <p:sp>
        <p:nvSpPr>
          <p:cNvPr id="16" name="TextBox 15"/>
          <p:cNvSpPr txBox="1"/>
          <p:nvPr/>
        </p:nvSpPr>
        <p:spPr>
          <a:xfrm>
            <a:off x="3834705" y="4106986"/>
            <a:ext cx="866179" cy="205740"/>
          </a:xfrm>
          <a:prstGeom prst="rect">
            <a:avLst/>
          </a:prstGeom>
          <a:noFill/>
        </p:spPr>
        <p:txBody>
          <a:bodyPr wrap="square">
            <a:spAutoFit/>
          </a:bodyPr>
          <a:lstStyle/>
          <a:p>
            <a:pPr algn="l"/>
            <a:r>
              <a:rPr sz="1800" b="0" i="0">
                <a:solidFill>
                  <a:srgbClr val="8A6A22"/>
                </a:solidFill>
                <a:latin typeface="Rubik"/>
              </a:rPr>
              <a:t>225 × 145 × 305</a:t>
            </a:r>
          </a:p>
        </p:txBody>
      </p:sp>
      <p:sp>
        <p:nvSpPr>
          <p:cNvPr id="17" name="TextBox 16"/>
          <p:cNvSpPr txBox="1"/>
          <p:nvPr/>
        </p:nvSpPr>
        <p:spPr>
          <a:xfrm>
            <a:off x="5587975" y="3741315"/>
            <a:ext cx="171822" cy="240030"/>
          </a:xfrm>
          <a:prstGeom prst="rect">
            <a:avLst/>
          </a:prstGeom>
          <a:noFill/>
        </p:spPr>
        <p:txBody>
          <a:bodyPr wrap="square">
            <a:spAutoFit/>
          </a:bodyPr>
          <a:lstStyle/>
          <a:p>
            <a:pPr algn="l"/>
            <a:r>
              <a:rPr sz="2100" b="0" i="0">
                <a:solidFill>
                  <a:srgbClr val="14281C"/>
                </a:solidFill>
                <a:latin typeface="Rubik"/>
              </a:rPr>
              <a:t>1 L</a:t>
            </a:r>
          </a:p>
        </p:txBody>
      </p:sp>
      <p:sp>
        <p:nvSpPr>
          <p:cNvPr id="18" name="TextBox 17"/>
          <p:cNvSpPr txBox="1"/>
          <p:nvPr/>
        </p:nvSpPr>
        <p:spPr>
          <a:xfrm>
            <a:off x="5432226" y="3937471"/>
            <a:ext cx="483393" cy="205740"/>
          </a:xfrm>
          <a:prstGeom prst="rect">
            <a:avLst/>
          </a:prstGeom>
          <a:noFill/>
        </p:spPr>
        <p:txBody>
          <a:bodyPr wrap="square">
            <a:spAutoFit/>
          </a:bodyPr>
          <a:lstStyle/>
          <a:p>
            <a:pPr algn="l"/>
            <a:r>
              <a:rPr sz="1800" b="0" i="0">
                <a:solidFill>
                  <a:srgbClr val="5E6B62"/>
                </a:solidFill>
                <a:latin typeface="Rubik"/>
              </a:rPr>
              <a:t>33.8 fl oz</a:t>
            </a:r>
          </a:p>
        </p:txBody>
      </p:sp>
      <p:sp>
        <p:nvSpPr>
          <p:cNvPr id="19" name="TextBox 18"/>
          <p:cNvSpPr txBox="1"/>
          <p:nvPr/>
        </p:nvSpPr>
        <p:spPr>
          <a:xfrm>
            <a:off x="5245596" y="4106986"/>
            <a:ext cx="856580" cy="205740"/>
          </a:xfrm>
          <a:prstGeom prst="rect">
            <a:avLst/>
          </a:prstGeom>
          <a:noFill/>
        </p:spPr>
        <p:txBody>
          <a:bodyPr wrap="square">
            <a:spAutoFit/>
          </a:bodyPr>
          <a:lstStyle/>
          <a:p>
            <a:pPr algn="l"/>
            <a:r>
              <a:rPr sz="1800" b="0" i="0">
                <a:solidFill>
                  <a:srgbClr val="8A6A22"/>
                </a:solidFill>
                <a:latin typeface="Rubik"/>
              </a:rPr>
              <a:t>245 × 170 × 325</a:t>
            </a:r>
          </a:p>
        </p:txBody>
      </p:sp>
      <p:sp>
        <p:nvSpPr>
          <p:cNvPr id="20" name="TextBox 19"/>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08 / 35</a:t>
            </a:r>
          </a:p>
        </p:txBody>
      </p:sp>
    </p:spTree>
  </p:cSld>
  <p:clrMapOvr>
    <a:masterClrMapping/>
  </p:clrMapOvr>
  <p:transition dur="500" advClick="1">
    <p:fade/>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05.png"/>
          <p:cNvPicPr>
            <a:picLocks noChangeAspect="1"/>
          </p:cNvPicPr>
          <p:nvPr/>
        </p:nvPicPr>
        <p:blipFill>
          <a:blip r:embed="rId2"/>
          <a:stretch>
            <a:fillRect/>
          </a:stretch>
        </p:blipFill>
        <p:spPr>
          <a:xfrm>
            <a:off x="0" y="0"/>
            <a:ext cx="9144000" cy="5143500"/>
          </a:xfrm>
          <a:prstGeom prst="rect">
            <a:avLst/>
          </a:prstGeom>
        </p:spPr>
      </p:pic>
      <p:pic>
        <p:nvPicPr>
          <p:cNvPr id="3" name="Picture 2" descr="6794e05fb5b8410e9eb513a111fc3918.jpg"/>
          <p:cNvPicPr>
            <a:picLocks noChangeAspect="1"/>
          </p:cNvPicPr>
          <p:nvPr/>
        </p:nvPicPr>
        <p:blipFill>
          <a:blip r:embed="rId3"/>
          <a:stretch>
            <a:fillRect/>
          </a:stretch>
        </p:blipFill>
        <p:spPr>
          <a:xfrm>
            <a:off x="752475" y="2638425"/>
            <a:ext cx="5624512" cy="1026690"/>
          </a:xfrm>
          <a:prstGeom prst="rect">
            <a:avLst/>
          </a:prstGeom>
        </p:spPr>
      </p:pic>
      <p:pic>
        <p:nvPicPr>
          <p:cNvPr id="4" name="Picture 3" descr="5095299b84f37dc69f15a0515d335b2e.jpg"/>
          <p:cNvPicPr>
            <a:picLocks noChangeAspect="1"/>
          </p:cNvPicPr>
          <p:nvPr/>
        </p:nvPicPr>
        <p:blipFill>
          <a:blip r:embed="rId4"/>
          <a:stretch>
            <a:fillRect/>
          </a:stretch>
        </p:blipFill>
        <p:spPr>
          <a:xfrm>
            <a:off x="6672262" y="2495550"/>
            <a:ext cx="1862137" cy="1885950"/>
          </a:xfrm>
          <a:prstGeom prst="rect">
            <a:avLst/>
          </a:prstGeom>
        </p:spPr>
      </p:pic>
      <p:sp>
        <p:nvSpPr>
          <p:cNvPr id="5" name="TextBox 4"/>
          <p:cNvSpPr txBox="1"/>
          <p:nvPr/>
        </p:nvSpPr>
        <p:spPr>
          <a:xfrm>
            <a:off x="609600" y="533400"/>
            <a:ext cx="3833514" cy="205740"/>
          </a:xfrm>
          <a:prstGeom prst="rect">
            <a:avLst/>
          </a:prstGeom>
          <a:noFill/>
        </p:spPr>
        <p:txBody>
          <a:bodyPr wrap="square">
            <a:spAutoFit/>
          </a:bodyPr>
          <a:lstStyle/>
          <a:p>
            <a:pPr algn="l"/>
            <a:r>
              <a:rPr sz="1800" b="0" i="0" spc="300">
                <a:solidFill>
                  <a:srgbClr val="8A6A22"/>
                </a:solidFill>
                <a:latin typeface="Rubik"/>
              </a:rPr>
              <a:t>PRODUCTS · 1-5</a:t>
            </a:r>
          </a:p>
        </p:txBody>
      </p:sp>
      <p:sp>
        <p:nvSpPr>
          <p:cNvPr id="6" name="TextBox 5"/>
          <p:cNvSpPr txBox="1"/>
          <p:nvPr/>
        </p:nvSpPr>
        <p:spPr>
          <a:xfrm>
            <a:off x="609600" y="712440"/>
            <a:ext cx="3833514" cy="548640"/>
          </a:xfrm>
          <a:prstGeom prst="rect">
            <a:avLst/>
          </a:prstGeom>
          <a:noFill/>
        </p:spPr>
        <p:txBody>
          <a:bodyPr wrap="square">
            <a:spAutoFit/>
          </a:bodyPr>
          <a:lstStyle/>
          <a:p>
            <a:pPr algn="l"/>
            <a:r>
              <a:rPr sz="4800" b="0" i="0">
                <a:solidFill>
                  <a:srgbClr val="14281C"/>
                </a:solidFill>
                <a:latin typeface="Cormorant Garamond"/>
              </a:rPr>
              <a:t>Premium Extra Virgin Olive Oil</a:t>
            </a:r>
          </a:p>
        </p:txBody>
      </p:sp>
      <p:sp>
        <p:nvSpPr>
          <p:cNvPr id="7" name="TextBox 6"/>
          <p:cNvSpPr txBox="1"/>
          <p:nvPr/>
        </p:nvSpPr>
        <p:spPr>
          <a:xfrm>
            <a:off x="609600" y="1161975"/>
            <a:ext cx="7924800" cy="642044"/>
          </a:xfrm>
          <a:prstGeom prst="rect">
            <a:avLst/>
          </a:prstGeom>
          <a:noFill/>
        </p:spPr>
        <p:txBody>
          <a:bodyPr wrap="square">
            <a:spAutoFit/>
          </a:bodyPr>
          <a:lstStyle/>
          <a:p>
            <a:pPr algn="l"/>
            <a:r>
              <a:rPr sz="2325" b="0" i="0">
                <a:solidFill>
                  <a:srgbClr val="1F2B23"/>
                </a:solidFill>
                <a:latin typeface="Rubik"/>
              </a:rPr>
              <a:t>MAGON Premium extra virgin olive oil is obtained from noble olives, a variety with exceptional intense fruity aromas with pronounced notes of bitterness and spiciness in perfect harmony. Ideal for seasoning your green or cooked salads and as an accompaniment to your grills and pasta.</a:t>
            </a:r>
          </a:p>
        </p:txBody>
      </p:sp>
      <p:sp>
        <p:nvSpPr>
          <p:cNvPr id="8" name="TextBox 7"/>
          <p:cNvSpPr txBox="1"/>
          <p:nvPr/>
        </p:nvSpPr>
        <p:spPr>
          <a:xfrm>
            <a:off x="1100211" y="3722265"/>
            <a:ext cx="429443" cy="240030"/>
          </a:xfrm>
          <a:prstGeom prst="rect">
            <a:avLst/>
          </a:prstGeom>
          <a:noFill/>
        </p:spPr>
        <p:txBody>
          <a:bodyPr wrap="square">
            <a:spAutoFit/>
          </a:bodyPr>
          <a:lstStyle/>
          <a:p>
            <a:pPr algn="l"/>
            <a:r>
              <a:rPr sz="2100" b="0" i="0">
                <a:solidFill>
                  <a:srgbClr val="14281C"/>
                </a:solidFill>
                <a:latin typeface="Rubik"/>
              </a:rPr>
              <a:t>100 ml</a:t>
            </a:r>
          </a:p>
        </p:txBody>
      </p:sp>
      <p:sp>
        <p:nvSpPr>
          <p:cNvPr id="9" name="TextBox 8"/>
          <p:cNvSpPr txBox="1"/>
          <p:nvPr/>
        </p:nvSpPr>
        <p:spPr>
          <a:xfrm>
            <a:off x="1108769" y="3918421"/>
            <a:ext cx="412328" cy="205740"/>
          </a:xfrm>
          <a:prstGeom prst="rect">
            <a:avLst/>
          </a:prstGeom>
          <a:noFill/>
        </p:spPr>
        <p:txBody>
          <a:bodyPr wrap="square">
            <a:spAutoFit/>
          </a:bodyPr>
          <a:lstStyle/>
          <a:p>
            <a:pPr algn="l"/>
            <a:r>
              <a:rPr sz="1800" b="0" i="0">
                <a:solidFill>
                  <a:srgbClr val="5E6B62"/>
                </a:solidFill>
                <a:latin typeface="Rubik"/>
              </a:rPr>
              <a:t>3.4 fl oz</a:t>
            </a:r>
          </a:p>
        </p:txBody>
      </p:sp>
      <p:sp>
        <p:nvSpPr>
          <p:cNvPr id="10" name="TextBox 9"/>
          <p:cNvSpPr txBox="1"/>
          <p:nvPr/>
        </p:nvSpPr>
        <p:spPr>
          <a:xfrm>
            <a:off x="880839" y="4087936"/>
            <a:ext cx="868114" cy="205740"/>
          </a:xfrm>
          <a:prstGeom prst="rect">
            <a:avLst/>
          </a:prstGeom>
          <a:noFill/>
        </p:spPr>
        <p:txBody>
          <a:bodyPr wrap="square">
            <a:spAutoFit/>
          </a:bodyPr>
          <a:lstStyle/>
          <a:p>
            <a:pPr algn="l"/>
            <a:r>
              <a:rPr sz="1800" b="0" i="0">
                <a:solidFill>
                  <a:srgbClr val="8A6A22"/>
                </a:solidFill>
                <a:latin typeface="Rubik"/>
              </a:rPr>
              <a:t>342 × 230 × 139</a:t>
            </a:r>
          </a:p>
        </p:txBody>
      </p:sp>
      <p:sp>
        <p:nvSpPr>
          <p:cNvPr id="11" name="TextBox 10"/>
          <p:cNvSpPr txBox="1"/>
          <p:nvPr/>
        </p:nvSpPr>
        <p:spPr>
          <a:xfrm>
            <a:off x="2217166" y="3722265"/>
            <a:ext cx="445293" cy="240030"/>
          </a:xfrm>
          <a:prstGeom prst="rect">
            <a:avLst/>
          </a:prstGeom>
          <a:noFill/>
        </p:spPr>
        <p:txBody>
          <a:bodyPr wrap="square">
            <a:spAutoFit/>
          </a:bodyPr>
          <a:lstStyle/>
          <a:p>
            <a:pPr algn="l"/>
            <a:r>
              <a:rPr sz="2100" b="0" i="0">
                <a:solidFill>
                  <a:srgbClr val="14281C"/>
                </a:solidFill>
                <a:latin typeface="Rubik"/>
              </a:rPr>
              <a:t>250 ml</a:t>
            </a:r>
          </a:p>
        </p:txBody>
      </p:sp>
      <p:sp>
        <p:nvSpPr>
          <p:cNvPr id="12" name="TextBox 11"/>
          <p:cNvSpPr txBox="1"/>
          <p:nvPr/>
        </p:nvSpPr>
        <p:spPr>
          <a:xfrm>
            <a:off x="2232868" y="3918421"/>
            <a:ext cx="413891" cy="205740"/>
          </a:xfrm>
          <a:prstGeom prst="rect">
            <a:avLst/>
          </a:prstGeom>
          <a:noFill/>
        </p:spPr>
        <p:txBody>
          <a:bodyPr wrap="square">
            <a:spAutoFit/>
          </a:bodyPr>
          <a:lstStyle/>
          <a:p>
            <a:pPr algn="l"/>
            <a:r>
              <a:rPr sz="1800" b="0" i="0">
                <a:solidFill>
                  <a:srgbClr val="5E6B62"/>
                </a:solidFill>
                <a:latin typeface="Rubik"/>
              </a:rPr>
              <a:t>8.5 fl oz</a:t>
            </a:r>
          </a:p>
        </p:txBody>
      </p:sp>
      <p:sp>
        <p:nvSpPr>
          <p:cNvPr id="13" name="TextBox 12"/>
          <p:cNvSpPr txBox="1"/>
          <p:nvPr/>
        </p:nvSpPr>
        <p:spPr>
          <a:xfrm>
            <a:off x="2009179" y="4087936"/>
            <a:ext cx="861268" cy="205740"/>
          </a:xfrm>
          <a:prstGeom prst="rect">
            <a:avLst/>
          </a:prstGeom>
          <a:noFill/>
        </p:spPr>
        <p:txBody>
          <a:bodyPr wrap="square">
            <a:spAutoFit/>
          </a:bodyPr>
          <a:lstStyle/>
          <a:p>
            <a:pPr algn="l"/>
            <a:r>
              <a:rPr sz="1800" b="0" i="0">
                <a:solidFill>
                  <a:srgbClr val="8A6A22"/>
                </a:solidFill>
                <a:latin typeface="Rubik"/>
              </a:rPr>
              <a:t>298 × 225 × 169</a:t>
            </a:r>
          </a:p>
        </p:txBody>
      </p:sp>
      <p:sp>
        <p:nvSpPr>
          <p:cNvPr id="14" name="TextBox 13"/>
          <p:cNvSpPr txBox="1"/>
          <p:nvPr/>
        </p:nvSpPr>
        <p:spPr>
          <a:xfrm>
            <a:off x="3339851" y="3722265"/>
            <a:ext cx="449833" cy="240030"/>
          </a:xfrm>
          <a:prstGeom prst="rect">
            <a:avLst/>
          </a:prstGeom>
          <a:noFill/>
        </p:spPr>
        <p:txBody>
          <a:bodyPr wrap="square">
            <a:spAutoFit/>
          </a:bodyPr>
          <a:lstStyle/>
          <a:p>
            <a:pPr algn="l"/>
            <a:r>
              <a:rPr sz="2100" b="0" i="0">
                <a:solidFill>
                  <a:srgbClr val="14281C"/>
                </a:solidFill>
                <a:latin typeface="Rubik"/>
              </a:rPr>
              <a:t>500 ml</a:t>
            </a:r>
          </a:p>
        </p:txBody>
      </p:sp>
      <p:sp>
        <p:nvSpPr>
          <p:cNvPr id="15" name="TextBox 14"/>
          <p:cNvSpPr txBox="1"/>
          <p:nvPr/>
        </p:nvSpPr>
        <p:spPr>
          <a:xfrm>
            <a:off x="3337321" y="3918421"/>
            <a:ext cx="454893" cy="205740"/>
          </a:xfrm>
          <a:prstGeom prst="rect">
            <a:avLst/>
          </a:prstGeom>
          <a:noFill/>
        </p:spPr>
        <p:txBody>
          <a:bodyPr wrap="square">
            <a:spAutoFit/>
          </a:bodyPr>
          <a:lstStyle/>
          <a:p>
            <a:pPr algn="l"/>
            <a:r>
              <a:rPr sz="1800" b="0" i="0">
                <a:solidFill>
                  <a:srgbClr val="5E6B62"/>
                </a:solidFill>
                <a:latin typeface="Rubik"/>
              </a:rPr>
              <a:t>16.9 fl oz</a:t>
            </a:r>
          </a:p>
        </p:txBody>
      </p:sp>
      <p:sp>
        <p:nvSpPr>
          <p:cNvPr id="16" name="TextBox 15"/>
          <p:cNvSpPr txBox="1"/>
          <p:nvPr/>
        </p:nvSpPr>
        <p:spPr>
          <a:xfrm>
            <a:off x="3137668" y="4087936"/>
            <a:ext cx="854199" cy="205740"/>
          </a:xfrm>
          <a:prstGeom prst="rect">
            <a:avLst/>
          </a:prstGeom>
          <a:noFill/>
        </p:spPr>
        <p:txBody>
          <a:bodyPr wrap="square">
            <a:spAutoFit/>
          </a:bodyPr>
          <a:lstStyle/>
          <a:p>
            <a:pPr algn="l"/>
            <a:r>
              <a:rPr sz="1800" b="0" i="0">
                <a:solidFill>
                  <a:srgbClr val="8A6A22"/>
                </a:solidFill>
                <a:latin typeface="Rubik"/>
              </a:rPr>
              <a:t>337 × 254 × 212</a:t>
            </a:r>
          </a:p>
        </p:txBody>
      </p:sp>
      <p:sp>
        <p:nvSpPr>
          <p:cNvPr id="17" name="TextBox 16"/>
          <p:cNvSpPr txBox="1"/>
          <p:nvPr/>
        </p:nvSpPr>
        <p:spPr>
          <a:xfrm>
            <a:off x="4472061" y="3722265"/>
            <a:ext cx="435173" cy="240030"/>
          </a:xfrm>
          <a:prstGeom prst="rect">
            <a:avLst/>
          </a:prstGeom>
          <a:noFill/>
        </p:spPr>
        <p:txBody>
          <a:bodyPr wrap="square">
            <a:spAutoFit/>
          </a:bodyPr>
          <a:lstStyle/>
          <a:p>
            <a:pPr algn="l"/>
            <a:r>
              <a:rPr sz="2100" b="0" i="0">
                <a:solidFill>
                  <a:srgbClr val="14281C"/>
                </a:solidFill>
                <a:latin typeface="Rubik"/>
              </a:rPr>
              <a:t>750 ml</a:t>
            </a:r>
          </a:p>
        </p:txBody>
      </p:sp>
      <p:sp>
        <p:nvSpPr>
          <p:cNvPr id="18" name="TextBox 17"/>
          <p:cNvSpPr txBox="1"/>
          <p:nvPr/>
        </p:nvSpPr>
        <p:spPr>
          <a:xfrm>
            <a:off x="4450853" y="3918421"/>
            <a:ext cx="477589" cy="205740"/>
          </a:xfrm>
          <a:prstGeom prst="rect">
            <a:avLst/>
          </a:prstGeom>
          <a:noFill/>
        </p:spPr>
        <p:txBody>
          <a:bodyPr wrap="square">
            <a:spAutoFit/>
          </a:bodyPr>
          <a:lstStyle/>
          <a:p>
            <a:pPr algn="l"/>
            <a:r>
              <a:rPr sz="1800" b="0" i="0">
                <a:solidFill>
                  <a:srgbClr val="5E6B62"/>
                </a:solidFill>
                <a:latin typeface="Rubik"/>
              </a:rPr>
              <a:t>25.4 fl oz</a:t>
            </a:r>
          </a:p>
        </p:txBody>
      </p:sp>
      <p:sp>
        <p:nvSpPr>
          <p:cNvPr id="19" name="TextBox 18"/>
          <p:cNvSpPr txBox="1"/>
          <p:nvPr/>
        </p:nvSpPr>
        <p:spPr>
          <a:xfrm>
            <a:off x="4262735" y="4087936"/>
            <a:ext cx="853901" cy="205740"/>
          </a:xfrm>
          <a:prstGeom prst="rect">
            <a:avLst/>
          </a:prstGeom>
          <a:noFill/>
        </p:spPr>
        <p:txBody>
          <a:bodyPr wrap="square">
            <a:spAutoFit/>
          </a:bodyPr>
          <a:lstStyle/>
          <a:p>
            <a:pPr algn="l"/>
            <a:r>
              <a:rPr sz="1800" b="0" i="0">
                <a:solidFill>
                  <a:srgbClr val="8A6A22"/>
                </a:solidFill>
                <a:latin typeface="Rubik"/>
              </a:rPr>
              <a:t>287 × 193 × 236</a:t>
            </a:r>
          </a:p>
        </p:txBody>
      </p:sp>
      <p:sp>
        <p:nvSpPr>
          <p:cNvPr id="20" name="TextBox 19"/>
          <p:cNvSpPr txBox="1"/>
          <p:nvPr/>
        </p:nvSpPr>
        <p:spPr>
          <a:xfrm>
            <a:off x="5728692" y="3722265"/>
            <a:ext cx="171822" cy="240030"/>
          </a:xfrm>
          <a:prstGeom prst="rect">
            <a:avLst/>
          </a:prstGeom>
          <a:noFill/>
        </p:spPr>
        <p:txBody>
          <a:bodyPr wrap="square">
            <a:spAutoFit/>
          </a:bodyPr>
          <a:lstStyle/>
          <a:p>
            <a:pPr algn="l"/>
            <a:r>
              <a:rPr sz="2100" b="0" i="0">
                <a:solidFill>
                  <a:srgbClr val="14281C"/>
                </a:solidFill>
                <a:latin typeface="Rubik"/>
              </a:rPr>
              <a:t>1 L</a:t>
            </a:r>
          </a:p>
        </p:txBody>
      </p:sp>
      <p:sp>
        <p:nvSpPr>
          <p:cNvPr id="21" name="TextBox 20"/>
          <p:cNvSpPr txBox="1"/>
          <p:nvPr/>
        </p:nvSpPr>
        <p:spPr>
          <a:xfrm>
            <a:off x="5572869" y="3918421"/>
            <a:ext cx="483393" cy="205740"/>
          </a:xfrm>
          <a:prstGeom prst="rect">
            <a:avLst/>
          </a:prstGeom>
          <a:noFill/>
        </p:spPr>
        <p:txBody>
          <a:bodyPr wrap="square">
            <a:spAutoFit/>
          </a:bodyPr>
          <a:lstStyle/>
          <a:p>
            <a:pPr algn="l"/>
            <a:r>
              <a:rPr sz="1800" b="0" i="0">
                <a:solidFill>
                  <a:srgbClr val="5E6B62"/>
                </a:solidFill>
                <a:latin typeface="Rubik"/>
              </a:rPr>
              <a:t>33.8 fl oz</a:t>
            </a:r>
          </a:p>
        </p:txBody>
      </p:sp>
      <p:sp>
        <p:nvSpPr>
          <p:cNvPr id="22" name="TextBox 21"/>
          <p:cNvSpPr txBox="1"/>
          <p:nvPr/>
        </p:nvSpPr>
        <p:spPr>
          <a:xfrm>
            <a:off x="5377457" y="4087936"/>
            <a:ext cx="874290" cy="205740"/>
          </a:xfrm>
          <a:prstGeom prst="rect">
            <a:avLst/>
          </a:prstGeom>
          <a:noFill/>
        </p:spPr>
        <p:txBody>
          <a:bodyPr wrap="square">
            <a:spAutoFit/>
          </a:bodyPr>
          <a:lstStyle/>
          <a:p>
            <a:pPr algn="l"/>
            <a:r>
              <a:rPr sz="1800" b="0" i="0">
                <a:solidFill>
                  <a:srgbClr val="8A6A22"/>
                </a:solidFill>
                <a:latin typeface="Rubik"/>
              </a:rPr>
              <a:t>295 × 200 × 275</a:t>
            </a:r>
          </a:p>
        </p:txBody>
      </p:sp>
      <p:sp>
        <p:nvSpPr>
          <p:cNvPr id="23" name="TextBox 22"/>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09 / 35</a:t>
            </a:r>
          </a:p>
        </p:txBody>
      </p:sp>
    </p:spTree>
  </p:cSld>
  <p:clrMapOvr>
    <a:masterClrMapping/>
  </p:clrMapOvr>
  <p:transition dur="500" advClick="1">
    <p:fade/>
  </p:transition>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0.png"/>
          <p:cNvPicPr>
            <a:picLocks noChangeAspect="1"/>
          </p:cNvPicPr>
          <p:nvPr/>
        </p:nvPicPr>
        <p:blipFill>
          <a:blip r:embed="rId2"/>
          <a:stretch>
            <a:fillRect/>
          </a:stretch>
        </p:blipFill>
        <p:spPr>
          <a:xfrm>
            <a:off x="0" y="0"/>
            <a:ext cx="9144000" cy="5143500"/>
          </a:xfrm>
          <a:prstGeom prst="rect">
            <a:avLst/>
          </a:prstGeom>
        </p:spPr>
      </p:pic>
      <p:pic>
        <p:nvPicPr>
          <p:cNvPr id="3" name="Picture 2" descr="186ca35a52ffb78fcc8bca8a903362d0.jpg"/>
          <p:cNvPicPr>
            <a:picLocks noChangeAspect="1"/>
          </p:cNvPicPr>
          <p:nvPr/>
        </p:nvPicPr>
        <p:blipFill>
          <a:blip r:embed="rId3"/>
          <a:stretch>
            <a:fillRect/>
          </a:stretch>
        </p:blipFill>
        <p:spPr>
          <a:xfrm>
            <a:off x="6057900" y="1642988"/>
            <a:ext cx="2476500" cy="2257425"/>
          </a:xfrm>
          <a:prstGeom prst="rect">
            <a:avLst/>
          </a:prstGeom>
        </p:spPr>
      </p:pic>
      <p:sp>
        <p:nvSpPr>
          <p:cNvPr id="4" name="TextBox 3"/>
          <p:cNvSpPr txBox="1"/>
          <p:nvPr/>
        </p:nvSpPr>
        <p:spPr>
          <a:xfrm>
            <a:off x="609600" y="533400"/>
            <a:ext cx="4201790" cy="205740"/>
          </a:xfrm>
          <a:prstGeom prst="rect">
            <a:avLst/>
          </a:prstGeom>
          <a:noFill/>
        </p:spPr>
        <p:txBody>
          <a:bodyPr wrap="square">
            <a:spAutoFit/>
          </a:bodyPr>
          <a:lstStyle/>
          <a:p>
            <a:pPr algn="l"/>
            <a:r>
              <a:rPr sz="1800" b="0" i="0" spc="300">
                <a:solidFill>
                  <a:srgbClr val="8A6A22"/>
                </a:solidFill>
                <a:latin typeface="Rubik"/>
              </a:rPr>
              <a:t>PRODUCTS · 1-6</a:t>
            </a:r>
          </a:p>
        </p:txBody>
      </p:sp>
      <p:sp>
        <p:nvSpPr>
          <p:cNvPr id="5" name="TextBox 4"/>
          <p:cNvSpPr txBox="1"/>
          <p:nvPr/>
        </p:nvSpPr>
        <p:spPr>
          <a:xfrm>
            <a:off x="609600" y="712440"/>
            <a:ext cx="4201790" cy="548640"/>
          </a:xfrm>
          <a:prstGeom prst="rect">
            <a:avLst/>
          </a:prstGeom>
          <a:noFill/>
        </p:spPr>
        <p:txBody>
          <a:bodyPr wrap="square">
            <a:spAutoFit/>
          </a:bodyPr>
          <a:lstStyle/>
          <a:p>
            <a:pPr algn="l"/>
            <a:r>
              <a:rPr sz="4800" b="0" i="0">
                <a:solidFill>
                  <a:srgbClr val="14281C"/>
                </a:solidFill>
                <a:latin typeface="Cormorant Garamond"/>
              </a:rPr>
              <a:t>MOHRA — Extra Virgin Olive Oil</a:t>
            </a:r>
          </a:p>
        </p:txBody>
      </p:sp>
      <p:sp>
        <p:nvSpPr>
          <p:cNvPr id="6" name="TextBox 5"/>
          <p:cNvSpPr txBox="1"/>
          <p:nvPr/>
        </p:nvSpPr>
        <p:spPr>
          <a:xfrm>
            <a:off x="609600" y="1839441"/>
            <a:ext cx="5219700" cy="1864518"/>
          </a:xfrm>
          <a:prstGeom prst="rect">
            <a:avLst/>
          </a:prstGeom>
          <a:noFill/>
        </p:spPr>
        <p:txBody>
          <a:bodyPr wrap="square">
            <a:spAutoFit/>
          </a:bodyPr>
          <a:lstStyle/>
          <a:p>
            <a:pPr algn="l"/>
            <a:r>
              <a:rPr sz="2175" b="0" i="0">
                <a:solidFill>
                  <a:srgbClr val="1F2B23"/>
                </a:solidFill>
                <a:latin typeface="Rubik"/>
              </a:rPr>
              <a:t>The MOHRA bottle stands as a testament to the exceptional artistry of a Tunisian craftsman, embodying a blend of traditional skill and contemporary design. Each bottle is meticulously handcrafted, reflecting the artist's deep understanding of both form and function. The intricate details and elegant curves are not merely aesthetic but also serve as a celebration of Tunisian heritage, showcasing a rich cultural tapestry through modern artistry. This stunning creation is more than just a bottle; it's a masterpiece that encapsulates the essence of Tunisian craftsmanship and creativity, making it a unique and cherished addition to any collection.</a:t>
            </a:r>
          </a:p>
        </p:txBody>
      </p:sp>
      <p:sp>
        <p:nvSpPr>
          <p:cNvPr id="7" name="TextBox 6"/>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10 / 35</a:t>
            </a:r>
          </a:p>
        </p:txBody>
      </p:sp>
    </p:spTree>
  </p:cSld>
  <p:clrMapOvr>
    <a:masterClrMapping/>
  </p:clrMapOvr>
  <p:transition dur="500" advClick="1">
    <p:fade/>
  </p:transition>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1.png"/>
          <p:cNvPicPr>
            <a:picLocks noChangeAspect="1"/>
          </p:cNvPicPr>
          <p:nvPr/>
        </p:nvPicPr>
        <p:blipFill>
          <a:blip r:embed="rId2"/>
          <a:stretch>
            <a:fillRect/>
          </a:stretch>
        </p:blipFill>
        <p:spPr>
          <a:xfrm>
            <a:off x="0" y="0"/>
            <a:ext cx="9144000" cy="5143500"/>
          </a:xfrm>
          <a:prstGeom prst="rect">
            <a:avLst/>
          </a:prstGeom>
        </p:spPr>
      </p:pic>
      <p:pic>
        <p:nvPicPr>
          <p:cNvPr id="3" name="Picture 2" descr="79e50d76932b440284d9ff4fb013308e.jpg"/>
          <p:cNvPicPr>
            <a:picLocks noChangeAspect="1"/>
          </p:cNvPicPr>
          <p:nvPr/>
        </p:nvPicPr>
        <p:blipFill>
          <a:blip r:embed="rId3"/>
          <a:stretch>
            <a:fillRect/>
          </a:stretch>
        </p:blipFill>
        <p:spPr>
          <a:xfrm>
            <a:off x="4438650" y="971550"/>
            <a:ext cx="4095750" cy="3714750"/>
          </a:xfrm>
          <a:prstGeom prst="rect">
            <a:avLst/>
          </a:prstGeom>
        </p:spPr>
      </p:pic>
      <p:sp>
        <p:nvSpPr>
          <p:cNvPr id="4" name="TextBox 3"/>
          <p:cNvSpPr txBox="1"/>
          <p:nvPr/>
        </p:nvSpPr>
        <p:spPr>
          <a:xfrm>
            <a:off x="609600" y="533400"/>
            <a:ext cx="4095750" cy="205740"/>
          </a:xfrm>
          <a:prstGeom prst="rect">
            <a:avLst/>
          </a:prstGeom>
          <a:noFill/>
        </p:spPr>
        <p:txBody>
          <a:bodyPr wrap="square">
            <a:spAutoFit/>
          </a:bodyPr>
          <a:lstStyle/>
          <a:p>
            <a:pPr algn="l"/>
            <a:r>
              <a:rPr sz="1800" b="0" i="0" spc="300">
                <a:solidFill>
                  <a:srgbClr val="8A6A22"/>
                </a:solidFill>
                <a:latin typeface="Rubik"/>
              </a:rPr>
              <a:t>PRODUCTS · 1-7</a:t>
            </a:r>
          </a:p>
        </p:txBody>
      </p:sp>
      <p:sp>
        <p:nvSpPr>
          <p:cNvPr id="5" name="TextBox 4"/>
          <p:cNvSpPr txBox="1"/>
          <p:nvPr/>
        </p:nvSpPr>
        <p:spPr>
          <a:xfrm>
            <a:off x="609600" y="712440"/>
            <a:ext cx="4095750" cy="548640"/>
          </a:xfrm>
          <a:prstGeom prst="rect">
            <a:avLst/>
          </a:prstGeom>
          <a:noFill/>
        </p:spPr>
        <p:txBody>
          <a:bodyPr wrap="square">
            <a:spAutoFit/>
          </a:bodyPr>
          <a:lstStyle/>
          <a:p>
            <a:pPr algn="l"/>
            <a:r>
              <a:rPr sz="4800" b="0" i="0">
                <a:solidFill>
                  <a:srgbClr val="14281C"/>
                </a:solidFill>
                <a:latin typeface="Cormorant Garamond"/>
              </a:rPr>
              <a:t>MAGON Organic — Japan</a:t>
            </a:r>
          </a:p>
        </p:txBody>
      </p:sp>
      <p:sp>
        <p:nvSpPr>
          <p:cNvPr id="6" name="TextBox 5"/>
          <p:cNvSpPr txBox="1"/>
          <p:nvPr/>
        </p:nvSpPr>
        <p:spPr>
          <a:xfrm>
            <a:off x="609600" y="1066725"/>
            <a:ext cx="4095750" cy="274320"/>
          </a:xfrm>
          <a:prstGeom prst="rect">
            <a:avLst/>
          </a:prstGeom>
          <a:noFill/>
        </p:spPr>
        <p:txBody>
          <a:bodyPr wrap="square">
            <a:spAutoFit/>
          </a:bodyPr>
          <a:lstStyle/>
          <a:p>
            <a:pPr algn="l"/>
            <a:r>
              <a:rPr sz="2400" b="0" i="1">
                <a:solidFill>
                  <a:srgbClr val="8A6A22"/>
                </a:solidFill>
                <a:latin typeface="Cormorant Garamond"/>
              </a:rPr>
              <a:t>Organic Extra Virgin Olive Oil</a:t>
            </a:r>
          </a:p>
        </p:txBody>
      </p:sp>
      <p:sp>
        <p:nvSpPr>
          <p:cNvPr id="7" name="TextBox 6"/>
          <p:cNvSpPr txBox="1"/>
          <p:nvPr/>
        </p:nvSpPr>
        <p:spPr>
          <a:xfrm>
            <a:off x="609600" y="1942132"/>
            <a:ext cx="3714750" cy="891540"/>
          </a:xfrm>
          <a:prstGeom prst="rect">
            <a:avLst/>
          </a:prstGeom>
          <a:noFill/>
        </p:spPr>
        <p:txBody>
          <a:bodyPr wrap="square">
            <a:spAutoFit/>
          </a:bodyPr>
          <a:lstStyle/>
          <a:p>
            <a:pPr algn="l"/>
            <a:r>
              <a:rPr sz="7800" b="0" i="0" spc="900">
                <a:solidFill>
                  <a:srgbClr val="14281C"/>
                </a:solidFill>
                <a:latin typeface="Cormorant Garamond"/>
              </a:rPr>
              <a:t>MAGON</a:t>
            </a:r>
          </a:p>
        </p:txBody>
      </p:sp>
      <p:sp>
        <p:nvSpPr>
          <p:cNvPr id="8" name="TextBox 7"/>
          <p:cNvSpPr txBox="1"/>
          <p:nvPr/>
        </p:nvSpPr>
        <p:spPr>
          <a:xfrm>
            <a:off x="719137" y="2804145"/>
            <a:ext cx="1457325" cy="171450"/>
          </a:xfrm>
          <a:prstGeom prst="rect">
            <a:avLst/>
          </a:prstGeom>
          <a:noFill/>
        </p:spPr>
        <p:txBody>
          <a:bodyPr wrap="square">
            <a:spAutoFit/>
          </a:bodyPr>
          <a:lstStyle/>
          <a:p>
            <a:pPr algn="l"/>
            <a:r>
              <a:rPr sz="1500" b="0" i="0" spc="225">
                <a:solidFill>
                  <a:srgbClr val="8A6A22"/>
                </a:solidFill>
                <a:latin typeface="Rubik"/>
              </a:rPr>
              <a:t>CERTIFIED</a:t>
            </a:r>
          </a:p>
        </p:txBody>
      </p:sp>
      <p:sp>
        <p:nvSpPr>
          <p:cNvPr id="9" name="TextBox 8"/>
          <p:cNvSpPr txBox="1"/>
          <p:nvPr/>
        </p:nvSpPr>
        <p:spPr>
          <a:xfrm>
            <a:off x="719137" y="2956545"/>
            <a:ext cx="1457325" cy="222885"/>
          </a:xfrm>
          <a:prstGeom prst="rect">
            <a:avLst/>
          </a:prstGeom>
          <a:noFill/>
        </p:spPr>
        <p:txBody>
          <a:bodyPr wrap="square">
            <a:spAutoFit/>
          </a:bodyPr>
          <a:lstStyle/>
          <a:p>
            <a:pPr algn="l"/>
            <a:r>
              <a:rPr sz="1950" b="0" i="0">
                <a:solidFill>
                  <a:srgbClr val="14281C"/>
                </a:solidFill>
                <a:latin typeface="Rubik"/>
              </a:rPr>
              <a:t>JAS · Ecocert</a:t>
            </a:r>
          </a:p>
        </p:txBody>
      </p:sp>
      <p:sp>
        <p:nvSpPr>
          <p:cNvPr id="10" name="TextBox 9"/>
          <p:cNvSpPr txBox="1"/>
          <p:nvPr/>
        </p:nvSpPr>
        <p:spPr>
          <a:xfrm>
            <a:off x="2471737" y="2804145"/>
            <a:ext cx="1457325" cy="171450"/>
          </a:xfrm>
          <a:prstGeom prst="rect">
            <a:avLst/>
          </a:prstGeom>
          <a:noFill/>
        </p:spPr>
        <p:txBody>
          <a:bodyPr wrap="square">
            <a:spAutoFit/>
          </a:bodyPr>
          <a:lstStyle/>
          <a:p>
            <a:pPr algn="l"/>
            <a:r>
              <a:rPr sz="1500" b="0" i="0" spc="225">
                <a:solidFill>
                  <a:srgbClr val="8A6A22"/>
                </a:solidFill>
                <a:latin typeface="Rubik"/>
              </a:rPr>
              <a:t>HARVEST</a:t>
            </a:r>
          </a:p>
        </p:txBody>
      </p:sp>
      <p:sp>
        <p:nvSpPr>
          <p:cNvPr id="11" name="TextBox 10"/>
          <p:cNvSpPr txBox="1"/>
          <p:nvPr/>
        </p:nvSpPr>
        <p:spPr>
          <a:xfrm>
            <a:off x="2471737" y="2956545"/>
            <a:ext cx="1457325" cy="222885"/>
          </a:xfrm>
          <a:prstGeom prst="rect">
            <a:avLst/>
          </a:prstGeom>
          <a:noFill/>
        </p:spPr>
        <p:txBody>
          <a:bodyPr wrap="square">
            <a:spAutoFit/>
          </a:bodyPr>
          <a:lstStyle/>
          <a:p>
            <a:pPr algn="l"/>
            <a:r>
              <a:rPr sz="1950" b="0" i="0">
                <a:solidFill>
                  <a:srgbClr val="14281C"/>
                </a:solidFill>
                <a:latin typeface="Rubik"/>
              </a:rPr>
              <a:t>Hand-picked</a:t>
            </a:r>
          </a:p>
        </p:txBody>
      </p:sp>
      <p:sp>
        <p:nvSpPr>
          <p:cNvPr id="12" name="TextBox 11"/>
          <p:cNvSpPr txBox="1"/>
          <p:nvPr/>
        </p:nvSpPr>
        <p:spPr>
          <a:xfrm>
            <a:off x="719137" y="3387030"/>
            <a:ext cx="1457325" cy="171450"/>
          </a:xfrm>
          <a:prstGeom prst="rect">
            <a:avLst/>
          </a:prstGeom>
          <a:noFill/>
        </p:spPr>
        <p:txBody>
          <a:bodyPr wrap="square">
            <a:spAutoFit/>
          </a:bodyPr>
          <a:lstStyle/>
          <a:p>
            <a:pPr algn="l"/>
            <a:r>
              <a:rPr sz="1500" b="0" i="0" spc="225">
                <a:solidFill>
                  <a:srgbClr val="8A6A22"/>
                </a:solidFill>
                <a:latin typeface="Rubik"/>
              </a:rPr>
              <a:t>PROCESS</a:t>
            </a:r>
          </a:p>
        </p:txBody>
      </p:sp>
      <p:sp>
        <p:nvSpPr>
          <p:cNvPr id="13" name="TextBox 12"/>
          <p:cNvSpPr txBox="1"/>
          <p:nvPr/>
        </p:nvSpPr>
        <p:spPr>
          <a:xfrm>
            <a:off x="719137" y="3539430"/>
            <a:ext cx="1457325" cy="222885"/>
          </a:xfrm>
          <a:prstGeom prst="rect">
            <a:avLst/>
          </a:prstGeom>
          <a:noFill/>
        </p:spPr>
        <p:txBody>
          <a:bodyPr wrap="square">
            <a:spAutoFit/>
          </a:bodyPr>
          <a:lstStyle/>
          <a:p>
            <a:pPr algn="l"/>
            <a:r>
              <a:rPr sz="1950" b="0" i="0">
                <a:solidFill>
                  <a:srgbClr val="14281C"/>
                </a:solidFill>
                <a:latin typeface="Rubik"/>
              </a:rPr>
              <a:t>Cold-extracted</a:t>
            </a:r>
          </a:p>
        </p:txBody>
      </p:sp>
      <p:sp>
        <p:nvSpPr>
          <p:cNvPr id="14" name="TextBox 13"/>
          <p:cNvSpPr txBox="1"/>
          <p:nvPr/>
        </p:nvSpPr>
        <p:spPr>
          <a:xfrm>
            <a:off x="2471737" y="3387030"/>
            <a:ext cx="1457325" cy="171450"/>
          </a:xfrm>
          <a:prstGeom prst="rect">
            <a:avLst/>
          </a:prstGeom>
          <a:noFill/>
        </p:spPr>
        <p:txBody>
          <a:bodyPr wrap="square">
            <a:spAutoFit/>
          </a:bodyPr>
          <a:lstStyle/>
          <a:p>
            <a:pPr algn="l"/>
            <a:r>
              <a:rPr sz="1500" b="0" i="0" spc="225">
                <a:solidFill>
                  <a:srgbClr val="8A6A22"/>
                </a:solidFill>
                <a:latin typeface="Rubik"/>
              </a:rPr>
              <a:t>ORIGIN</a:t>
            </a:r>
          </a:p>
        </p:txBody>
      </p:sp>
      <p:sp>
        <p:nvSpPr>
          <p:cNvPr id="15" name="TextBox 14"/>
          <p:cNvSpPr txBox="1"/>
          <p:nvPr/>
        </p:nvSpPr>
        <p:spPr>
          <a:xfrm>
            <a:off x="2471737" y="3539430"/>
            <a:ext cx="1457325" cy="222885"/>
          </a:xfrm>
          <a:prstGeom prst="rect">
            <a:avLst/>
          </a:prstGeom>
          <a:noFill/>
        </p:spPr>
        <p:txBody>
          <a:bodyPr wrap="square">
            <a:spAutoFit/>
          </a:bodyPr>
          <a:lstStyle/>
          <a:p>
            <a:pPr algn="l"/>
            <a:r>
              <a:rPr sz="1950" b="0" i="0">
                <a:solidFill>
                  <a:srgbClr val="14281C"/>
                </a:solidFill>
                <a:latin typeface="Rubik"/>
              </a:rPr>
              <a:t>Tunisia</a:t>
            </a:r>
          </a:p>
        </p:txBody>
      </p:sp>
      <p:sp>
        <p:nvSpPr>
          <p:cNvPr id="16" name="TextBox 15"/>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11 / 35</a:t>
            </a:r>
          </a:p>
        </p:txBody>
      </p:sp>
    </p:spTree>
  </p:cSld>
  <p:clrMapOvr>
    <a:masterClrMapping/>
  </p:clrMapOvr>
  <p:transition dur="500" advClick="1">
    <p:fade/>
  </p:transition>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2.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216672" cy="205740"/>
          </a:xfrm>
          <a:prstGeom prst="rect">
            <a:avLst/>
          </a:prstGeom>
          <a:noFill/>
        </p:spPr>
        <p:txBody>
          <a:bodyPr wrap="square">
            <a:spAutoFit/>
          </a:bodyPr>
          <a:lstStyle/>
          <a:p>
            <a:pPr algn="l"/>
            <a:r>
              <a:rPr sz="1800" b="0" i="0" spc="300">
                <a:solidFill>
                  <a:srgbClr val="8A6A22"/>
                </a:solidFill>
                <a:latin typeface="Rubik"/>
              </a:rPr>
              <a:t>PRODUCTS · 1-8</a:t>
            </a:r>
          </a:p>
        </p:txBody>
      </p:sp>
      <p:sp>
        <p:nvSpPr>
          <p:cNvPr id="4" name="TextBox 3"/>
          <p:cNvSpPr txBox="1"/>
          <p:nvPr/>
        </p:nvSpPr>
        <p:spPr>
          <a:xfrm>
            <a:off x="609600" y="721965"/>
            <a:ext cx="4216672" cy="548640"/>
          </a:xfrm>
          <a:prstGeom prst="rect">
            <a:avLst/>
          </a:prstGeom>
          <a:noFill/>
        </p:spPr>
        <p:txBody>
          <a:bodyPr wrap="square">
            <a:spAutoFit/>
          </a:bodyPr>
          <a:lstStyle/>
          <a:p>
            <a:pPr algn="l"/>
            <a:r>
              <a:rPr sz="4800" b="0" i="0">
                <a:solidFill>
                  <a:srgbClr val="14281C"/>
                </a:solidFill>
                <a:latin typeface="Cormorant Garamond"/>
              </a:rPr>
              <a:t>Product Range &amp; Ex-Factory Prices</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Ex-factory price per unit (FCA Neo Park El Fejja) · price list of 15 Sept 2026 · Bio JAS · NOP · TN (Ecocert) · ISO 22000 · ISO 9001</a:t>
            </a:r>
          </a:p>
        </p:txBody>
      </p:sp>
      <p:sp>
        <p:nvSpPr>
          <p:cNvPr id="6" name="TextBox 5"/>
          <p:cNvSpPr txBox="1"/>
          <p:nvPr/>
        </p:nvSpPr>
        <p:spPr>
          <a:xfrm>
            <a:off x="766762" y="1587698"/>
            <a:ext cx="492621" cy="325755"/>
          </a:xfrm>
          <a:prstGeom prst="rect">
            <a:avLst/>
          </a:prstGeom>
          <a:noFill/>
        </p:spPr>
        <p:txBody>
          <a:bodyPr wrap="square">
            <a:spAutoFit/>
          </a:bodyPr>
          <a:lstStyle/>
          <a:p>
            <a:pPr algn="l"/>
            <a:r>
              <a:rPr sz="2850" b="0" i="0">
                <a:solidFill>
                  <a:srgbClr val="14281C"/>
                </a:solidFill>
                <a:latin typeface="Cormorant Garamond"/>
              </a:rPr>
              <a:t>Classic</a:t>
            </a:r>
          </a:p>
        </p:txBody>
      </p:sp>
      <p:sp>
        <p:nvSpPr>
          <p:cNvPr id="7" name="TextBox 6"/>
          <p:cNvSpPr txBox="1"/>
          <p:nvPr/>
        </p:nvSpPr>
        <p:spPr>
          <a:xfrm>
            <a:off x="2399258" y="1625798"/>
            <a:ext cx="631254" cy="205740"/>
          </a:xfrm>
          <a:prstGeom prst="rect">
            <a:avLst/>
          </a:prstGeom>
          <a:noFill/>
        </p:spPr>
        <p:txBody>
          <a:bodyPr wrap="square">
            <a:spAutoFit/>
          </a:bodyPr>
          <a:lstStyle/>
          <a:p>
            <a:pPr algn="l"/>
            <a:r>
              <a:rPr sz="1800" b="0" i="0" spc="150">
                <a:solidFill>
                  <a:srgbClr val="8A6A22"/>
                </a:solidFill>
                <a:latin typeface="Rubik"/>
              </a:rPr>
              <a:t>MARASCA</a:t>
            </a:r>
          </a:p>
        </p:txBody>
      </p:sp>
      <p:sp>
        <p:nvSpPr>
          <p:cNvPr id="8" name="TextBox 7"/>
          <p:cNvSpPr txBox="1"/>
          <p:nvPr/>
        </p:nvSpPr>
        <p:spPr>
          <a:xfrm>
            <a:off x="766762" y="1848668"/>
            <a:ext cx="395436" cy="222885"/>
          </a:xfrm>
          <a:prstGeom prst="rect">
            <a:avLst/>
          </a:prstGeom>
          <a:noFill/>
        </p:spPr>
        <p:txBody>
          <a:bodyPr wrap="square">
            <a:spAutoFit/>
          </a:bodyPr>
          <a:lstStyle/>
          <a:p>
            <a:pPr algn="l"/>
            <a:r>
              <a:rPr sz="1950" b="0" i="0">
                <a:solidFill>
                  <a:srgbClr val="46534A"/>
                </a:solidFill>
                <a:latin typeface="Rubik"/>
              </a:rPr>
              <a:t>250 ml</a:t>
            </a:r>
          </a:p>
        </p:txBody>
      </p:sp>
      <p:sp>
        <p:nvSpPr>
          <p:cNvPr id="9" name="TextBox 8"/>
          <p:cNvSpPr txBox="1"/>
          <p:nvPr/>
        </p:nvSpPr>
        <p:spPr>
          <a:xfrm>
            <a:off x="2710829" y="1834381"/>
            <a:ext cx="319682" cy="291465"/>
          </a:xfrm>
          <a:prstGeom prst="rect">
            <a:avLst/>
          </a:prstGeom>
          <a:noFill/>
        </p:spPr>
        <p:txBody>
          <a:bodyPr wrap="square">
            <a:spAutoFit/>
          </a:bodyPr>
          <a:lstStyle/>
          <a:p>
            <a:pPr algn="l"/>
            <a:r>
              <a:rPr sz="2550" b="0" i="0">
                <a:solidFill>
                  <a:srgbClr val="8A6A22"/>
                </a:solidFill>
                <a:latin typeface="Cormorant Garamond"/>
              </a:rPr>
              <a:t>€1.56</a:t>
            </a:r>
          </a:p>
        </p:txBody>
      </p:sp>
      <p:sp>
        <p:nvSpPr>
          <p:cNvPr id="10" name="TextBox 9"/>
          <p:cNvSpPr txBox="1"/>
          <p:nvPr/>
        </p:nvSpPr>
        <p:spPr>
          <a:xfrm>
            <a:off x="766762" y="2107703"/>
            <a:ext cx="401389" cy="222885"/>
          </a:xfrm>
          <a:prstGeom prst="rect">
            <a:avLst/>
          </a:prstGeom>
          <a:noFill/>
        </p:spPr>
        <p:txBody>
          <a:bodyPr wrap="square">
            <a:spAutoFit/>
          </a:bodyPr>
          <a:lstStyle/>
          <a:p>
            <a:pPr algn="l"/>
            <a:r>
              <a:rPr sz="1950" b="0" i="0">
                <a:solidFill>
                  <a:srgbClr val="46534A"/>
                </a:solidFill>
                <a:latin typeface="Rubik"/>
              </a:rPr>
              <a:t>500 ml</a:t>
            </a:r>
          </a:p>
        </p:txBody>
      </p:sp>
      <p:sp>
        <p:nvSpPr>
          <p:cNvPr id="11" name="TextBox 10"/>
          <p:cNvSpPr txBox="1"/>
          <p:nvPr/>
        </p:nvSpPr>
        <p:spPr>
          <a:xfrm>
            <a:off x="2678906" y="2093416"/>
            <a:ext cx="351606" cy="291465"/>
          </a:xfrm>
          <a:prstGeom prst="rect">
            <a:avLst/>
          </a:prstGeom>
          <a:noFill/>
        </p:spPr>
        <p:txBody>
          <a:bodyPr wrap="square">
            <a:spAutoFit/>
          </a:bodyPr>
          <a:lstStyle/>
          <a:p>
            <a:pPr algn="l"/>
            <a:r>
              <a:rPr sz="2550" b="0" i="0">
                <a:solidFill>
                  <a:srgbClr val="8A6A22"/>
                </a:solidFill>
                <a:latin typeface="Cormorant Garamond"/>
              </a:rPr>
              <a:t>€2.88</a:t>
            </a:r>
          </a:p>
        </p:txBody>
      </p:sp>
      <p:sp>
        <p:nvSpPr>
          <p:cNvPr id="12" name="TextBox 11"/>
          <p:cNvSpPr txBox="1"/>
          <p:nvPr/>
        </p:nvSpPr>
        <p:spPr>
          <a:xfrm>
            <a:off x="766762" y="2366739"/>
            <a:ext cx="386283" cy="222885"/>
          </a:xfrm>
          <a:prstGeom prst="rect">
            <a:avLst/>
          </a:prstGeom>
          <a:noFill/>
        </p:spPr>
        <p:txBody>
          <a:bodyPr wrap="square">
            <a:spAutoFit/>
          </a:bodyPr>
          <a:lstStyle/>
          <a:p>
            <a:pPr algn="l"/>
            <a:r>
              <a:rPr sz="1950" b="0" i="0">
                <a:solidFill>
                  <a:srgbClr val="46534A"/>
                </a:solidFill>
                <a:latin typeface="Rubik"/>
              </a:rPr>
              <a:t>750 ml</a:t>
            </a:r>
          </a:p>
        </p:txBody>
      </p:sp>
      <p:sp>
        <p:nvSpPr>
          <p:cNvPr id="13" name="TextBox 12"/>
          <p:cNvSpPr txBox="1"/>
          <p:nvPr/>
        </p:nvSpPr>
        <p:spPr>
          <a:xfrm>
            <a:off x="2699816" y="2352451"/>
            <a:ext cx="330696" cy="291465"/>
          </a:xfrm>
          <a:prstGeom prst="rect">
            <a:avLst/>
          </a:prstGeom>
          <a:noFill/>
        </p:spPr>
        <p:txBody>
          <a:bodyPr wrap="square">
            <a:spAutoFit/>
          </a:bodyPr>
          <a:lstStyle/>
          <a:p>
            <a:pPr algn="l"/>
            <a:r>
              <a:rPr sz="2550" b="0" i="0">
                <a:solidFill>
                  <a:srgbClr val="8A6A22"/>
                </a:solidFill>
                <a:latin typeface="Cormorant Garamond"/>
              </a:rPr>
              <a:t>€4.16</a:t>
            </a:r>
          </a:p>
        </p:txBody>
      </p:sp>
      <p:sp>
        <p:nvSpPr>
          <p:cNvPr id="14" name="TextBox 13"/>
          <p:cNvSpPr txBox="1"/>
          <p:nvPr/>
        </p:nvSpPr>
        <p:spPr>
          <a:xfrm>
            <a:off x="766762" y="2625774"/>
            <a:ext cx="153069" cy="222885"/>
          </a:xfrm>
          <a:prstGeom prst="rect">
            <a:avLst/>
          </a:prstGeom>
          <a:noFill/>
        </p:spPr>
        <p:txBody>
          <a:bodyPr wrap="square">
            <a:spAutoFit/>
          </a:bodyPr>
          <a:lstStyle/>
          <a:p>
            <a:pPr algn="l"/>
            <a:r>
              <a:rPr sz="1950" b="0" i="0">
                <a:solidFill>
                  <a:srgbClr val="46534A"/>
                </a:solidFill>
                <a:latin typeface="Rubik"/>
              </a:rPr>
              <a:t>1 L</a:t>
            </a:r>
          </a:p>
        </p:txBody>
      </p:sp>
      <p:sp>
        <p:nvSpPr>
          <p:cNvPr id="15" name="TextBox 14"/>
          <p:cNvSpPr txBox="1"/>
          <p:nvPr/>
        </p:nvSpPr>
        <p:spPr>
          <a:xfrm>
            <a:off x="2697584" y="2611487"/>
            <a:ext cx="332928" cy="291465"/>
          </a:xfrm>
          <a:prstGeom prst="rect">
            <a:avLst/>
          </a:prstGeom>
          <a:noFill/>
        </p:spPr>
        <p:txBody>
          <a:bodyPr wrap="square">
            <a:spAutoFit/>
          </a:bodyPr>
          <a:lstStyle/>
          <a:p>
            <a:pPr algn="l"/>
            <a:r>
              <a:rPr sz="2550" b="0" i="0">
                <a:solidFill>
                  <a:srgbClr val="8A6A22"/>
                </a:solidFill>
                <a:latin typeface="Cormorant Garamond"/>
              </a:rPr>
              <a:t>€5.24</a:t>
            </a:r>
          </a:p>
        </p:txBody>
      </p:sp>
      <p:sp>
        <p:nvSpPr>
          <p:cNvPr id="16" name="TextBox 15"/>
          <p:cNvSpPr txBox="1"/>
          <p:nvPr/>
        </p:nvSpPr>
        <p:spPr>
          <a:xfrm>
            <a:off x="3440087" y="1587698"/>
            <a:ext cx="656480" cy="325755"/>
          </a:xfrm>
          <a:prstGeom prst="rect">
            <a:avLst/>
          </a:prstGeom>
          <a:noFill/>
        </p:spPr>
        <p:txBody>
          <a:bodyPr wrap="square">
            <a:spAutoFit/>
          </a:bodyPr>
          <a:lstStyle/>
          <a:p>
            <a:pPr algn="l"/>
            <a:r>
              <a:rPr sz="2850" b="0" i="0">
                <a:solidFill>
                  <a:srgbClr val="14281C"/>
                </a:solidFill>
                <a:latin typeface="Cormorant Garamond"/>
              </a:rPr>
              <a:t>Premium</a:t>
            </a:r>
          </a:p>
        </p:txBody>
      </p:sp>
      <p:sp>
        <p:nvSpPr>
          <p:cNvPr id="17" name="TextBox 16"/>
          <p:cNvSpPr txBox="1"/>
          <p:nvPr/>
        </p:nvSpPr>
        <p:spPr>
          <a:xfrm>
            <a:off x="4722837" y="1625798"/>
            <a:ext cx="981000" cy="205740"/>
          </a:xfrm>
          <a:prstGeom prst="rect">
            <a:avLst/>
          </a:prstGeom>
          <a:noFill/>
        </p:spPr>
        <p:txBody>
          <a:bodyPr wrap="square">
            <a:spAutoFit/>
          </a:bodyPr>
          <a:lstStyle/>
          <a:p>
            <a:pPr algn="l"/>
            <a:r>
              <a:rPr sz="1800" b="0" i="0" spc="150">
                <a:solidFill>
                  <a:srgbClr val="8A6A22"/>
                </a:solidFill>
                <a:latin typeface="Rubik"/>
              </a:rPr>
              <a:t>ROUND BOTTLE</a:t>
            </a:r>
          </a:p>
        </p:txBody>
      </p:sp>
      <p:sp>
        <p:nvSpPr>
          <p:cNvPr id="18" name="TextBox 17"/>
          <p:cNvSpPr txBox="1"/>
          <p:nvPr/>
        </p:nvSpPr>
        <p:spPr>
          <a:xfrm>
            <a:off x="3440087" y="1848668"/>
            <a:ext cx="380776" cy="222885"/>
          </a:xfrm>
          <a:prstGeom prst="rect">
            <a:avLst/>
          </a:prstGeom>
          <a:noFill/>
        </p:spPr>
        <p:txBody>
          <a:bodyPr wrap="square">
            <a:spAutoFit/>
          </a:bodyPr>
          <a:lstStyle/>
          <a:p>
            <a:pPr algn="l"/>
            <a:r>
              <a:rPr sz="1950" b="0" i="0">
                <a:solidFill>
                  <a:srgbClr val="46534A"/>
                </a:solidFill>
                <a:latin typeface="Rubik"/>
              </a:rPr>
              <a:t>100 ml</a:t>
            </a:r>
          </a:p>
        </p:txBody>
      </p:sp>
      <p:sp>
        <p:nvSpPr>
          <p:cNvPr id="19" name="TextBox 18"/>
          <p:cNvSpPr txBox="1"/>
          <p:nvPr/>
        </p:nvSpPr>
        <p:spPr>
          <a:xfrm>
            <a:off x="5358110" y="1834381"/>
            <a:ext cx="345727" cy="291465"/>
          </a:xfrm>
          <a:prstGeom prst="rect">
            <a:avLst/>
          </a:prstGeom>
          <a:noFill/>
        </p:spPr>
        <p:txBody>
          <a:bodyPr wrap="square">
            <a:spAutoFit/>
          </a:bodyPr>
          <a:lstStyle/>
          <a:p>
            <a:pPr algn="l"/>
            <a:r>
              <a:rPr sz="2550" b="0" i="0">
                <a:solidFill>
                  <a:srgbClr val="8A6A22"/>
                </a:solidFill>
                <a:latin typeface="Cormorant Garamond"/>
              </a:rPr>
              <a:t>€2.60</a:t>
            </a:r>
          </a:p>
        </p:txBody>
      </p:sp>
      <p:sp>
        <p:nvSpPr>
          <p:cNvPr id="20" name="TextBox 19"/>
          <p:cNvSpPr txBox="1"/>
          <p:nvPr/>
        </p:nvSpPr>
        <p:spPr>
          <a:xfrm>
            <a:off x="3440087" y="2107703"/>
            <a:ext cx="395436" cy="222885"/>
          </a:xfrm>
          <a:prstGeom prst="rect">
            <a:avLst/>
          </a:prstGeom>
          <a:noFill/>
        </p:spPr>
        <p:txBody>
          <a:bodyPr wrap="square">
            <a:spAutoFit/>
          </a:bodyPr>
          <a:lstStyle/>
          <a:p>
            <a:pPr algn="l"/>
            <a:r>
              <a:rPr sz="1950" b="0" i="0">
                <a:solidFill>
                  <a:srgbClr val="46534A"/>
                </a:solidFill>
                <a:latin typeface="Rubik"/>
              </a:rPr>
              <a:t>250 ml</a:t>
            </a:r>
          </a:p>
        </p:txBody>
      </p:sp>
      <p:sp>
        <p:nvSpPr>
          <p:cNvPr id="21" name="TextBox 20"/>
          <p:cNvSpPr txBox="1"/>
          <p:nvPr/>
        </p:nvSpPr>
        <p:spPr>
          <a:xfrm>
            <a:off x="5369272" y="2093416"/>
            <a:ext cx="334565" cy="291465"/>
          </a:xfrm>
          <a:prstGeom prst="rect">
            <a:avLst/>
          </a:prstGeom>
          <a:noFill/>
        </p:spPr>
        <p:txBody>
          <a:bodyPr wrap="square">
            <a:spAutoFit/>
          </a:bodyPr>
          <a:lstStyle/>
          <a:p>
            <a:pPr algn="l"/>
            <a:r>
              <a:rPr sz="2550" b="0" i="0">
                <a:solidFill>
                  <a:srgbClr val="8A6A22"/>
                </a:solidFill>
                <a:latin typeface="Cormorant Garamond"/>
              </a:rPr>
              <a:t>€3.70</a:t>
            </a:r>
          </a:p>
        </p:txBody>
      </p:sp>
      <p:sp>
        <p:nvSpPr>
          <p:cNvPr id="22" name="TextBox 21"/>
          <p:cNvSpPr txBox="1"/>
          <p:nvPr/>
        </p:nvSpPr>
        <p:spPr>
          <a:xfrm>
            <a:off x="3440087" y="2366739"/>
            <a:ext cx="401389" cy="222885"/>
          </a:xfrm>
          <a:prstGeom prst="rect">
            <a:avLst/>
          </a:prstGeom>
          <a:noFill/>
        </p:spPr>
        <p:txBody>
          <a:bodyPr wrap="square">
            <a:spAutoFit/>
          </a:bodyPr>
          <a:lstStyle/>
          <a:p>
            <a:pPr algn="l"/>
            <a:r>
              <a:rPr sz="1950" b="0" i="0">
                <a:solidFill>
                  <a:srgbClr val="46534A"/>
                </a:solidFill>
                <a:latin typeface="Rubik"/>
              </a:rPr>
              <a:t>500 ml</a:t>
            </a:r>
          </a:p>
        </p:txBody>
      </p:sp>
      <p:sp>
        <p:nvSpPr>
          <p:cNvPr id="23" name="TextBox 22"/>
          <p:cNvSpPr txBox="1"/>
          <p:nvPr/>
        </p:nvSpPr>
        <p:spPr>
          <a:xfrm>
            <a:off x="5378499" y="2352451"/>
            <a:ext cx="325338" cy="291465"/>
          </a:xfrm>
          <a:prstGeom prst="rect">
            <a:avLst/>
          </a:prstGeom>
          <a:noFill/>
        </p:spPr>
        <p:txBody>
          <a:bodyPr wrap="square">
            <a:spAutoFit/>
          </a:bodyPr>
          <a:lstStyle/>
          <a:p>
            <a:pPr algn="l"/>
            <a:r>
              <a:rPr sz="2550" b="0" i="0">
                <a:solidFill>
                  <a:srgbClr val="8A6A22"/>
                </a:solidFill>
                <a:latin typeface="Cormorant Garamond"/>
              </a:rPr>
              <a:t>€5.10</a:t>
            </a:r>
          </a:p>
        </p:txBody>
      </p:sp>
      <p:sp>
        <p:nvSpPr>
          <p:cNvPr id="24" name="TextBox 23"/>
          <p:cNvSpPr txBox="1"/>
          <p:nvPr/>
        </p:nvSpPr>
        <p:spPr>
          <a:xfrm>
            <a:off x="3440087" y="2625774"/>
            <a:ext cx="386283" cy="222885"/>
          </a:xfrm>
          <a:prstGeom prst="rect">
            <a:avLst/>
          </a:prstGeom>
          <a:noFill/>
        </p:spPr>
        <p:txBody>
          <a:bodyPr wrap="square">
            <a:spAutoFit/>
          </a:bodyPr>
          <a:lstStyle/>
          <a:p>
            <a:pPr algn="l"/>
            <a:r>
              <a:rPr sz="1950" b="0" i="0">
                <a:solidFill>
                  <a:srgbClr val="46534A"/>
                </a:solidFill>
                <a:latin typeface="Rubik"/>
              </a:rPr>
              <a:t>750 ml</a:t>
            </a:r>
          </a:p>
        </p:txBody>
      </p:sp>
      <p:sp>
        <p:nvSpPr>
          <p:cNvPr id="25" name="TextBox 24"/>
          <p:cNvSpPr txBox="1"/>
          <p:nvPr/>
        </p:nvSpPr>
        <p:spPr>
          <a:xfrm>
            <a:off x="5360714" y="2611487"/>
            <a:ext cx="343123" cy="291465"/>
          </a:xfrm>
          <a:prstGeom prst="rect">
            <a:avLst/>
          </a:prstGeom>
          <a:noFill/>
        </p:spPr>
        <p:txBody>
          <a:bodyPr wrap="square">
            <a:spAutoFit/>
          </a:bodyPr>
          <a:lstStyle/>
          <a:p>
            <a:pPr algn="l"/>
            <a:r>
              <a:rPr sz="2550" b="0" i="0">
                <a:solidFill>
                  <a:srgbClr val="8A6A22"/>
                </a:solidFill>
                <a:latin typeface="Cormorant Garamond"/>
              </a:rPr>
              <a:t>€6.50</a:t>
            </a:r>
          </a:p>
        </p:txBody>
      </p:sp>
      <p:sp>
        <p:nvSpPr>
          <p:cNvPr id="26" name="TextBox 25"/>
          <p:cNvSpPr txBox="1"/>
          <p:nvPr/>
        </p:nvSpPr>
        <p:spPr>
          <a:xfrm>
            <a:off x="3440087" y="2884809"/>
            <a:ext cx="153069" cy="222885"/>
          </a:xfrm>
          <a:prstGeom prst="rect">
            <a:avLst/>
          </a:prstGeom>
          <a:noFill/>
        </p:spPr>
        <p:txBody>
          <a:bodyPr wrap="square">
            <a:spAutoFit/>
          </a:bodyPr>
          <a:lstStyle/>
          <a:p>
            <a:pPr algn="l"/>
            <a:r>
              <a:rPr sz="1950" b="0" i="0">
                <a:solidFill>
                  <a:srgbClr val="46534A"/>
                </a:solidFill>
                <a:latin typeface="Rubik"/>
              </a:rPr>
              <a:t>1 L</a:t>
            </a:r>
          </a:p>
        </p:txBody>
      </p:sp>
      <p:sp>
        <p:nvSpPr>
          <p:cNvPr id="27" name="TextBox 26"/>
          <p:cNvSpPr txBox="1"/>
          <p:nvPr/>
        </p:nvSpPr>
        <p:spPr>
          <a:xfrm>
            <a:off x="5368974" y="2870522"/>
            <a:ext cx="334863" cy="291465"/>
          </a:xfrm>
          <a:prstGeom prst="rect">
            <a:avLst/>
          </a:prstGeom>
          <a:noFill/>
        </p:spPr>
        <p:txBody>
          <a:bodyPr wrap="square">
            <a:spAutoFit/>
          </a:bodyPr>
          <a:lstStyle/>
          <a:p>
            <a:pPr algn="l"/>
            <a:r>
              <a:rPr sz="2550" b="0" i="0">
                <a:solidFill>
                  <a:srgbClr val="8A6A22"/>
                </a:solidFill>
                <a:latin typeface="Cormorant Garamond"/>
              </a:rPr>
              <a:t>€7.70</a:t>
            </a:r>
          </a:p>
        </p:txBody>
      </p:sp>
      <p:sp>
        <p:nvSpPr>
          <p:cNvPr id="28" name="TextBox 27"/>
          <p:cNvSpPr txBox="1"/>
          <p:nvPr/>
        </p:nvSpPr>
        <p:spPr>
          <a:xfrm>
            <a:off x="6113412" y="1587698"/>
            <a:ext cx="846832" cy="325755"/>
          </a:xfrm>
          <a:prstGeom prst="rect">
            <a:avLst/>
          </a:prstGeom>
          <a:noFill/>
        </p:spPr>
        <p:txBody>
          <a:bodyPr wrap="square">
            <a:spAutoFit/>
          </a:bodyPr>
          <a:lstStyle/>
          <a:p>
            <a:pPr algn="l"/>
            <a:r>
              <a:rPr sz="2850" b="0" i="0">
                <a:solidFill>
                  <a:srgbClr val="14281C"/>
                </a:solidFill>
                <a:latin typeface="Cormorant Garamond"/>
              </a:rPr>
              <a:t>Tins &amp; PET</a:t>
            </a:r>
          </a:p>
        </p:txBody>
      </p:sp>
      <p:sp>
        <p:nvSpPr>
          <p:cNvPr id="29" name="TextBox 28"/>
          <p:cNvSpPr txBox="1"/>
          <p:nvPr/>
        </p:nvSpPr>
        <p:spPr>
          <a:xfrm>
            <a:off x="7511504" y="1625798"/>
            <a:ext cx="865658" cy="205740"/>
          </a:xfrm>
          <a:prstGeom prst="rect">
            <a:avLst/>
          </a:prstGeom>
          <a:noFill/>
        </p:spPr>
        <p:txBody>
          <a:bodyPr wrap="square">
            <a:spAutoFit/>
          </a:bodyPr>
          <a:lstStyle/>
          <a:p>
            <a:pPr algn="l"/>
            <a:r>
              <a:rPr sz="1800" b="0" i="0" spc="150">
                <a:solidFill>
                  <a:srgbClr val="8A6A22"/>
                </a:solidFill>
                <a:latin typeface="Rubik"/>
              </a:rPr>
              <a:t>PRO / FAMILY</a:t>
            </a:r>
          </a:p>
        </p:txBody>
      </p:sp>
      <p:sp>
        <p:nvSpPr>
          <p:cNvPr id="30" name="TextBox 29"/>
          <p:cNvSpPr txBox="1"/>
          <p:nvPr/>
        </p:nvSpPr>
        <p:spPr>
          <a:xfrm>
            <a:off x="6113412" y="1848668"/>
            <a:ext cx="700087" cy="222885"/>
          </a:xfrm>
          <a:prstGeom prst="rect">
            <a:avLst/>
          </a:prstGeom>
          <a:noFill/>
        </p:spPr>
        <p:txBody>
          <a:bodyPr wrap="square">
            <a:spAutoFit/>
          </a:bodyPr>
          <a:lstStyle/>
          <a:p>
            <a:pPr algn="l"/>
            <a:r>
              <a:rPr sz="1950" b="0" i="0">
                <a:solidFill>
                  <a:srgbClr val="46534A"/>
                </a:solidFill>
                <a:latin typeface="Rubik"/>
              </a:rPr>
              <a:t>Metal tin 3 L</a:t>
            </a:r>
          </a:p>
        </p:txBody>
      </p:sp>
      <p:sp>
        <p:nvSpPr>
          <p:cNvPr id="31" name="TextBox 30"/>
          <p:cNvSpPr txBox="1"/>
          <p:nvPr/>
        </p:nvSpPr>
        <p:spPr>
          <a:xfrm>
            <a:off x="7981354" y="1834381"/>
            <a:ext cx="395808" cy="291465"/>
          </a:xfrm>
          <a:prstGeom prst="rect">
            <a:avLst/>
          </a:prstGeom>
          <a:noFill/>
        </p:spPr>
        <p:txBody>
          <a:bodyPr wrap="square">
            <a:spAutoFit/>
          </a:bodyPr>
          <a:lstStyle/>
          <a:p>
            <a:pPr algn="l"/>
            <a:r>
              <a:rPr sz="2550" b="0" i="0">
                <a:solidFill>
                  <a:srgbClr val="8A6A22"/>
                </a:solidFill>
                <a:latin typeface="Cormorant Garamond"/>
              </a:rPr>
              <a:t>€14.26</a:t>
            </a:r>
          </a:p>
        </p:txBody>
      </p:sp>
      <p:sp>
        <p:nvSpPr>
          <p:cNvPr id="32" name="TextBox 31"/>
          <p:cNvSpPr txBox="1"/>
          <p:nvPr/>
        </p:nvSpPr>
        <p:spPr>
          <a:xfrm>
            <a:off x="6113412" y="2107703"/>
            <a:ext cx="702543" cy="222885"/>
          </a:xfrm>
          <a:prstGeom prst="rect">
            <a:avLst/>
          </a:prstGeom>
          <a:noFill/>
        </p:spPr>
        <p:txBody>
          <a:bodyPr wrap="square">
            <a:spAutoFit/>
          </a:bodyPr>
          <a:lstStyle/>
          <a:p>
            <a:pPr algn="l"/>
            <a:r>
              <a:rPr sz="1950" b="0" i="0">
                <a:solidFill>
                  <a:srgbClr val="46534A"/>
                </a:solidFill>
                <a:latin typeface="Rubik"/>
              </a:rPr>
              <a:t>Metal tin 4 L</a:t>
            </a:r>
          </a:p>
        </p:txBody>
      </p:sp>
      <p:sp>
        <p:nvSpPr>
          <p:cNvPr id="33" name="TextBox 32"/>
          <p:cNvSpPr txBox="1"/>
          <p:nvPr/>
        </p:nvSpPr>
        <p:spPr>
          <a:xfrm>
            <a:off x="7975699" y="2093416"/>
            <a:ext cx="401463" cy="291465"/>
          </a:xfrm>
          <a:prstGeom prst="rect">
            <a:avLst/>
          </a:prstGeom>
          <a:noFill/>
        </p:spPr>
        <p:txBody>
          <a:bodyPr wrap="square">
            <a:spAutoFit/>
          </a:bodyPr>
          <a:lstStyle/>
          <a:p>
            <a:pPr algn="l"/>
            <a:r>
              <a:rPr sz="2550" b="0" i="0">
                <a:solidFill>
                  <a:srgbClr val="8A6A22"/>
                </a:solidFill>
                <a:latin typeface="Cormorant Garamond"/>
              </a:rPr>
              <a:t>€18.92</a:t>
            </a:r>
          </a:p>
        </p:txBody>
      </p:sp>
      <p:sp>
        <p:nvSpPr>
          <p:cNvPr id="34" name="TextBox 33"/>
          <p:cNvSpPr txBox="1"/>
          <p:nvPr/>
        </p:nvSpPr>
        <p:spPr>
          <a:xfrm>
            <a:off x="6113412" y="2366739"/>
            <a:ext cx="699194" cy="222885"/>
          </a:xfrm>
          <a:prstGeom prst="rect">
            <a:avLst/>
          </a:prstGeom>
          <a:noFill/>
        </p:spPr>
        <p:txBody>
          <a:bodyPr wrap="square">
            <a:spAutoFit/>
          </a:bodyPr>
          <a:lstStyle/>
          <a:p>
            <a:pPr algn="l"/>
            <a:r>
              <a:rPr sz="1950" b="0" i="0">
                <a:solidFill>
                  <a:srgbClr val="46534A"/>
                </a:solidFill>
                <a:latin typeface="Rubik"/>
              </a:rPr>
              <a:t>Metal tin 5 L</a:t>
            </a:r>
          </a:p>
        </p:txBody>
      </p:sp>
      <p:sp>
        <p:nvSpPr>
          <p:cNvPr id="35" name="TextBox 34"/>
          <p:cNvSpPr txBox="1"/>
          <p:nvPr/>
        </p:nvSpPr>
        <p:spPr>
          <a:xfrm>
            <a:off x="7990284" y="2352451"/>
            <a:ext cx="386878" cy="291465"/>
          </a:xfrm>
          <a:prstGeom prst="rect">
            <a:avLst/>
          </a:prstGeom>
          <a:noFill/>
        </p:spPr>
        <p:txBody>
          <a:bodyPr wrap="square">
            <a:spAutoFit/>
          </a:bodyPr>
          <a:lstStyle/>
          <a:p>
            <a:pPr algn="l"/>
            <a:r>
              <a:rPr sz="2550" b="0" i="0">
                <a:solidFill>
                  <a:srgbClr val="8A6A22"/>
                </a:solidFill>
                <a:latin typeface="Cormorant Garamond"/>
              </a:rPr>
              <a:t>€23.22</a:t>
            </a:r>
          </a:p>
        </p:txBody>
      </p:sp>
      <p:sp>
        <p:nvSpPr>
          <p:cNvPr id="36" name="TextBox 35"/>
          <p:cNvSpPr txBox="1"/>
          <p:nvPr/>
        </p:nvSpPr>
        <p:spPr>
          <a:xfrm>
            <a:off x="6113412" y="2625774"/>
            <a:ext cx="427955" cy="222885"/>
          </a:xfrm>
          <a:prstGeom prst="rect">
            <a:avLst/>
          </a:prstGeom>
          <a:noFill/>
        </p:spPr>
        <p:txBody>
          <a:bodyPr wrap="square">
            <a:spAutoFit/>
          </a:bodyPr>
          <a:lstStyle/>
          <a:p>
            <a:pPr algn="l"/>
            <a:r>
              <a:rPr sz="1950" b="0" i="0">
                <a:solidFill>
                  <a:srgbClr val="46534A"/>
                </a:solidFill>
                <a:latin typeface="Rubik"/>
              </a:rPr>
              <a:t>PET 3 L</a:t>
            </a:r>
          </a:p>
        </p:txBody>
      </p:sp>
      <p:sp>
        <p:nvSpPr>
          <p:cNvPr id="37" name="TextBox 36"/>
          <p:cNvSpPr txBox="1"/>
          <p:nvPr/>
        </p:nvSpPr>
        <p:spPr>
          <a:xfrm>
            <a:off x="7982991" y="2611487"/>
            <a:ext cx="394171" cy="291465"/>
          </a:xfrm>
          <a:prstGeom prst="rect">
            <a:avLst/>
          </a:prstGeom>
          <a:noFill/>
        </p:spPr>
        <p:txBody>
          <a:bodyPr wrap="square">
            <a:spAutoFit/>
          </a:bodyPr>
          <a:lstStyle/>
          <a:p>
            <a:pPr algn="l"/>
            <a:r>
              <a:rPr sz="2550" b="0" i="0">
                <a:solidFill>
                  <a:srgbClr val="8A6A22"/>
                </a:solidFill>
                <a:latin typeface="Cormorant Garamond"/>
              </a:rPr>
              <a:t>€13.49</a:t>
            </a:r>
          </a:p>
        </p:txBody>
      </p:sp>
      <p:sp>
        <p:nvSpPr>
          <p:cNvPr id="38" name="TextBox 37"/>
          <p:cNvSpPr txBox="1"/>
          <p:nvPr/>
        </p:nvSpPr>
        <p:spPr>
          <a:xfrm>
            <a:off x="6113412" y="2884809"/>
            <a:ext cx="427136" cy="222885"/>
          </a:xfrm>
          <a:prstGeom prst="rect">
            <a:avLst/>
          </a:prstGeom>
          <a:noFill/>
        </p:spPr>
        <p:txBody>
          <a:bodyPr wrap="square">
            <a:spAutoFit/>
          </a:bodyPr>
          <a:lstStyle/>
          <a:p>
            <a:pPr algn="l"/>
            <a:r>
              <a:rPr sz="1950" b="0" i="0">
                <a:solidFill>
                  <a:srgbClr val="46534A"/>
                </a:solidFill>
                <a:latin typeface="Rubik"/>
              </a:rPr>
              <a:t>PET 5 L</a:t>
            </a:r>
          </a:p>
        </p:txBody>
      </p:sp>
      <p:sp>
        <p:nvSpPr>
          <p:cNvPr id="39" name="TextBox 38"/>
          <p:cNvSpPr txBox="1"/>
          <p:nvPr/>
        </p:nvSpPr>
        <p:spPr>
          <a:xfrm>
            <a:off x="7979940" y="2870522"/>
            <a:ext cx="397222" cy="291465"/>
          </a:xfrm>
          <a:prstGeom prst="rect">
            <a:avLst/>
          </a:prstGeom>
          <a:noFill/>
        </p:spPr>
        <p:txBody>
          <a:bodyPr wrap="square">
            <a:spAutoFit/>
          </a:bodyPr>
          <a:lstStyle/>
          <a:p>
            <a:pPr algn="l"/>
            <a:r>
              <a:rPr sz="2550" b="0" i="0">
                <a:solidFill>
                  <a:srgbClr val="8A6A22"/>
                </a:solidFill>
                <a:latin typeface="Cormorant Garamond"/>
              </a:rPr>
              <a:t>€22.38</a:t>
            </a:r>
          </a:p>
        </p:txBody>
      </p:sp>
      <p:sp>
        <p:nvSpPr>
          <p:cNvPr id="40" name="TextBox 39"/>
          <p:cNvSpPr txBox="1"/>
          <p:nvPr/>
        </p:nvSpPr>
        <p:spPr>
          <a:xfrm>
            <a:off x="766762" y="3434357"/>
            <a:ext cx="578048" cy="325755"/>
          </a:xfrm>
          <a:prstGeom prst="rect">
            <a:avLst/>
          </a:prstGeom>
          <a:noFill/>
        </p:spPr>
        <p:txBody>
          <a:bodyPr wrap="square">
            <a:spAutoFit/>
          </a:bodyPr>
          <a:lstStyle/>
          <a:p>
            <a:pPr algn="l"/>
            <a:r>
              <a:rPr sz="2850" b="0" i="0">
                <a:solidFill>
                  <a:srgbClr val="14281C"/>
                </a:solidFill>
                <a:latin typeface="Cormorant Garamond"/>
              </a:rPr>
              <a:t>Organic</a:t>
            </a:r>
          </a:p>
        </p:txBody>
      </p:sp>
      <p:sp>
        <p:nvSpPr>
          <p:cNvPr id="41" name="TextBox 40"/>
          <p:cNvSpPr txBox="1"/>
          <p:nvPr/>
        </p:nvSpPr>
        <p:spPr>
          <a:xfrm>
            <a:off x="2114550" y="3472457"/>
            <a:ext cx="922362" cy="205740"/>
          </a:xfrm>
          <a:prstGeom prst="rect">
            <a:avLst/>
          </a:prstGeom>
          <a:noFill/>
        </p:spPr>
        <p:txBody>
          <a:bodyPr wrap="square">
            <a:spAutoFit/>
          </a:bodyPr>
          <a:lstStyle/>
          <a:p>
            <a:pPr algn="l"/>
            <a:r>
              <a:rPr sz="1800" b="0" i="0" spc="150">
                <a:solidFill>
                  <a:srgbClr val="8A6A22"/>
                </a:solidFill>
                <a:latin typeface="Rubik"/>
              </a:rPr>
              <a:t>JAS · NOP · TN</a:t>
            </a:r>
          </a:p>
        </p:txBody>
      </p:sp>
      <p:sp>
        <p:nvSpPr>
          <p:cNvPr id="42" name="TextBox 41"/>
          <p:cNvSpPr txBox="1"/>
          <p:nvPr/>
        </p:nvSpPr>
        <p:spPr>
          <a:xfrm>
            <a:off x="766762" y="3695327"/>
            <a:ext cx="395436" cy="222885"/>
          </a:xfrm>
          <a:prstGeom prst="rect">
            <a:avLst/>
          </a:prstGeom>
          <a:noFill/>
        </p:spPr>
        <p:txBody>
          <a:bodyPr wrap="square">
            <a:spAutoFit/>
          </a:bodyPr>
          <a:lstStyle/>
          <a:p>
            <a:pPr algn="l"/>
            <a:r>
              <a:rPr sz="1950" b="0" i="0">
                <a:solidFill>
                  <a:srgbClr val="46534A"/>
                </a:solidFill>
                <a:latin typeface="Rubik"/>
              </a:rPr>
              <a:t>250 ml</a:t>
            </a:r>
          </a:p>
        </p:txBody>
      </p:sp>
      <p:sp>
        <p:nvSpPr>
          <p:cNvPr id="43" name="TextBox 42"/>
          <p:cNvSpPr txBox="1"/>
          <p:nvPr/>
        </p:nvSpPr>
        <p:spPr>
          <a:xfrm>
            <a:off x="2706216" y="3681040"/>
            <a:ext cx="330696" cy="291465"/>
          </a:xfrm>
          <a:prstGeom prst="rect">
            <a:avLst/>
          </a:prstGeom>
          <a:noFill/>
        </p:spPr>
        <p:txBody>
          <a:bodyPr wrap="square">
            <a:spAutoFit/>
          </a:bodyPr>
          <a:lstStyle/>
          <a:p>
            <a:pPr algn="l"/>
            <a:r>
              <a:rPr sz="2550" b="0" i="0">
                <a:solidFill>
                  <a:srgbClr val="8A6A22"/>
                </a:solidFill>
                <a:latin typeface="Cormorant Garamond"/>
              </a:rPr>
              <a:t>€1.94</a:t>
            </a:r>
          </a:p>
        </p:txBody>
      </p:sp>
      <p:sp>
        <p:nvSpPr>
          <p:cNvPr id="44" name="TextBox 43"/>
          <p:cNvSpPr txBox="1"/>
          <p:nvPr/>
        </p:nvSpPr>
        <p:spPr>
          <a:xfrm>
            <a:off x="766762" y="3954363"/>
            <a:ext cx="401389" cy="222885"/>
          </a:xfrm>
          <a:prstGeom prst="rect">
            <a:avLst/>
          </a:prstGeom>
          <a:noFill/>
        </p:spPr>
        <p:txBody>
          <a:bodyPr wrap="square">
            <a:spAutoFit/>
          </a:bodyPr>
          <a:lstStyle/>
          <a:p>
            <a:pPr algn="l"/>
            <a:r>
              <a:rPr sz="1950" b="0" i="0">
                <a:solidFill>
                  <a:srgbClr val="46534A"/>
                </a:solidFill>
                <a:latin typeface="Rubik"/>
              </a:rPr>
              <a:t>500 ml</a:t>
            </a:r>
          </a:p>
        </p:txBody>
      </p:sp>
      <p:sp>
        <p:nvSpPr>
          <p:cNvPr id="45" name="TextBox 44"/>
          <p:cNvSpPr txBox="1"/>
          <p:nvPr/>
        </p:nvSpPr>
        <p:spPr>
          <a:xfrm>
            <a:off x="2706513" y="3940075"/>
            <a:ext cx="330398" cy="291465"/>
          </a:xfrm>
          <a:prstGeom prst="rect">
            <a:avLst/>
          </a:prstGeom>
          <a:noFill/>
        </p:spPr>
        <p:txBody>
          <a:bodyPr wrap="square">
            <a:spAutoFit/>
          </a:bodyPr>
          <a:lstStyle/>
          <a:p>
            <a:pPr algn="l"/>
            <a:r>
              <a:rPr sz="2550" b="0" i="0">
                <a:solidFill>
                  <a:srgbClr val="8A6A22"/>
                </a:solidFill>
                <a:latin typeface="Cormorant Garamond"/>
              </a:rPr>
              <a:t>€3.63</a:t>
            </a:r>
          </a:p>
        </p:txBody>
      </p:sp>
      <p:sp>
        <p:nvSpPr>
          <p:cNvPr id="46" name="TextBox 45"/>
          <p:cNvSpPr txBox="1"/>
          <p:nvPr/>
        </p:nvSpPr>
        <p:spPr>
          <a:xfrm>
            <a:off x="766762" y="4213398"/>
            <a:ext cx="386283" cy="222885"/>
          </a:xfrm>
          <a:prstGeom prst="rect">
            <a:avLst/>
          </a:prstGeom>
          <a:noFill/>
        </p:spPr>
        <p:txBody>
          <a:bodyPr wrap="square">
            <a:spAutoFit/>
          </a:bodyPr>
          <a:lstStyle/>
          <a:p>
            <a:pPr algn="l"/>
            <a:r>
              <a:rPr sz="1950" b="0" i="0">
                <a:solidFill>
                  <a:srgbClr val="46534A"/>
                </a:solidFill>
                <a:latin typeface="Rubik"/>
              </a:rPr>
              <a:t>750 ml</a:t>
            </a:r>
          </a:p>
        </p:txBody>
      </p:sp>
      <p:sp>
        <p:nvSpPr>
          <p:cNvPr id="47" name="TextBox 46"/>
          <p:cNvSpPr txBox="1"/>
          <p:nvPr/>
        </p:nvSpPr>
        <p:spPr>
          <a:xfrm>
            <a:off x="2702197" y="4199111"/>
            <a:ext cx="334714" cy="291465"/>
          </a:xfrm>
          <a:prstGeom prst="rect">
            <a:avLst/>
          </a:prstGeom>
          <a:noFill/>
        </p:spPr>
        <p:txBody>
          <a:bodyPr wrap="square">
            <a:spAutoFit/>
          </a:bodyPr>
          <a:lstStyle/>
          <a:p>
            <a:pPr algn="l"/>
            <a:r>
              <a:rPr sz="2550" b="0" i="0">
                <a:solidFill>
                  <a:srgbClr val="8A6A22"/>
                </a:solidFill>
                <a:latin typeface="Cormorant Garamond"/>
              </a:rPr>
              <a:t>€5.29</a:t>
            </a:r>
          </a:p>
        </p:txBody>
      </p:sp>
      <p:sp>
        <p:nvSpPr>
          <p:cNvPr id="48" name="TextBox 47"/>
          <p:cNvSpPr txBox="1"/>
          <p:nvPr/>
        </p:nvSpPr>
        <p:spPr>
          <a:xfrm>
            <a:off x="766762" y="4472433"/>
            <a:ext cx="153069" cy="222885"/>
          </a:xfrm>
          <a:prstGeom prst="rect">
            <a:avLst/>
          </a:prstGeom>
          <a:noFill/>
        </p:spPr>
        <p:txBody>
          <a:bodyPr wrap="square">
            <a:spAutoFit/>
          </a:bodyPr>
          <a:lstStyle/>
          <a:p>
            <a:pPr algn="l"/>
            <a:r>
              <a:rPr sz="1950" b="0" i="0">
                <a:solidFill>
                  <a:srgbClr val="46534A"/>
                </a:solidFill>
                <a:latin typeface="Rubik"/>
              </a:rPr>
              <a:t>1 L</a:t>
            </a:r>
          </a:p>
        </p:txBody>
      </p:sp>
      <p:sp>
        <p:nvSpPr>
          <p:cNvPr id="49" name="TextBox 48"/>
          <p:cNvSpPr txBox="1"/>
          <p:nvPr/>
        </p:nvSpPr>
        <p:spPr>
          <a:xfrm>
            <a:off x="2473672" y="4458146"/>
            <a:ext cx="563240" cy="291465"/>
          </a:xfrm>
          <a:prstGeom prst="rect">
            <a:avLst/>
          </a:prstGeom>
          <a:noFill/>
        </p:spPr>
        <p:txBody>
          <a:bodyPr wrap="square">
            <a:spAutoFit/>
          </a:bodyPr>
          <a:lstStyle/>
          <a:p>
            <a:pPr algn="l"/>
            <a:r>
              <a:rPr sz="2550" b="0" i="0">
                <a:solidFill>
                  <a:srgbClr val="8A6A22"/>
                </a:solidFill>
                <a:latin typeface="Cormorant Garamond"/>
              </a:rPr>
              <a:t>on quote</a:t>
            </a:r>
          </a:p>
        </p:txBody>
      </p:sp>
      <p:sp>
        <p:nvSpPr>
          <p:cNvPr id="50" name="TextBox 49"/>
          <p:cNvSpPr txBox="1"/>
          <p:nvPr/>
        </p:nvSpPr>
        <p:spPr>
          <a:xfrm>
            <a:off x="3446487" y="3434357"/>
            <a:ext cx="614660" cy="325755"/>
          </a:xfrm>
          <a:prstGeom prst="rect">
            <a:avLst/>
          </a:prstGeom>
          <a:noFill/>
        </p:spPr>
        <p:txBody>
          <a:bodyPr wrap="square">
            <a:spAutoFit/>
          </a:bodyPr>
          <a:lstStyle/>
          <a:p>
            <a:pPr algn="l"/>
            <a:r>
              <a:rPr sz="2850" b="0" i="0">
                <a:solidFill>
                  <a:srgbClr val="14281C"/>
                </a:solidFill>
                <a:latin typeface="Cormorant Garamond"/>
              </a:rPr>
              <a:t>Flavored</a:t>
            </a:r>
          </a:p>
        </p:txBody>
      </p:sp>
      <p:sp>
        <p:nvSpPr>
          <p:cNvPr id="51" name="TextBox 50"/>
          <p:cNvSpPr txBox="1"/>
          <p:nvPr/>
        </p:nvSpPr>
        <p:spPr>
          <a:xfrm>
            <a:off x="5277817" y="3472457"/>
            <a:ext cx="438819" cy="205740"/>
          </a:xfrm>
          <a:prstGeom prst="rect">
            <a:avLst/>
          </a:prstGeom>
          <a:noFill/>
        </p:spPr>
        <p:txBody>
          <a:bodyPr wrap="square">
            <a:spAutoFit/>
          </a:bodyPr>
          <a:lstStyle/>
          <a:p>
            <a:pPr algn="l"/>
            <a:r>
              <a:rPr sz="1800" b="0" i="0" spc="150">
                <a:solidFill>
                  <a:srgbClr val="8A6A22"/>
                </a:solidFill>
                <a:latin typeface="Rubik"/>
              </a:rPr>
              <a:t>250 ml</a:t>
            </a:r>
          </a:p>
        </p:txBody>
      </p:sp>
      <p:sp>
        <p:nvSpPr>
          <p:cNvPr id="52" name="TextBox 51"/>
          <p:cNvSpPr txBox="1"/>
          <p:nvPr/>
        </p:nvSpPr>
        <p:spPr>
          <a:xfrm>
            <a:off x="3446487" y="3695327"/>
            <a:ext cx="1138609" cy="222885"/>
          </a:xfrm>
          <a:prstGeom prst="rect">
            <a:avLst/>
          </a:prstGeom>
          <a:noFill/>
        </p:spPr>
        <p:txBody>
          <a:bodyPr wrap="square">
            <a:spAutoFit/>
          </a:bodyPr>
          <a:lstStyle/>
          <a:p>
            <a:pPr algn="l"/>
            <a:r>
              <a:rPr sz="1950" b="0" i="0">
                <a:solidFill>
                  <a:srgbClr val="46534A"/>
                </a:solidFill>
                <a:latin typeface="Rubik"/>
              </a:rPr>
              <a:t>Any of the 7 aromas</a:t>
            </a:r>
          </a:p>
        </p:txBody>
      </p:sp>
      <p:sp>
        <p:nvSpPr>
          <p:cNvPr id="53" name="TextBox 52"/>
          <p:cNvSpPr txBox="1"/>
          <p:nvPr/>
        </p:nvSpPr>
        <p:spPr>
          <a:xfrm>
            <a:off x="5368974" y="3681040"/>
            <a:ext cx="347662" cy="291465"/>
          </a:xfrm>
          <a:prstGeom prst="rect">
            <a:avLst/>
          </a:prstGeom>
          <a:noFill/>
        </p:spPr>
        <p:txBody>
          <a:bodyPr wrap="square">
            <a:spAutoFit/>
          </a:bodyPr>
          <a:lstStyle/>
          <a:p>
            <a:pPr algn="l"/>
            <a:r>
              <a:rPr sz="2550" b="0" i="0">
                <a:solidFill>
                  <a:srgbClr val="8A6A22"/>
                </a:solidFill>
                <a:latin typeface="Cormorant Garamond"/>
              </a:rPr>
              <a:t>€2.89</a:t>
            </a:r>
          </a:p>
        </p:txBody>
      </p:sp>
      <p:sp>
        <p:nvSpPr>
          <p:cNvPr id="54" name="TextBox 53"/>
          <p:cNvSpPr txBox="1"/>
          <p:nvPr/>
        </p:nvSpPr>
        <p:spPr>
          <a:xfrm>
            <a:off x="3446487" y="3921025"/>
            <a:ext cx="2270149" cy="319980"/>
          </a:xfrm>
          <a:prstGeom prst="rect">
            <a:avLst/>
          </a:prstGeom>
          <a:noFill/>
        </p:spPr>
        <p:txBody>
          <a:bodyPr wrap="square">
            <a:spAutoFit/>
          </a:bodyPr>
          <a:lstStyle/>
          <a:p>
            <a:pPr algn="l"/>
            <a:r>
              <a:rPr sz="1800" b="0" i="1">
                <a:solidFill>
                  <a:srgbClr val="46534A"/>
                </a:solidFill>
                <a:latin typeface="Rubik"/>
              </a:rPr>
              <a:t>Rosemary &amp; thyme · Chili &amp; garlic · Basil · Cinnamon · Lemon &amp; mint · Citrus · Vanilla</a:t>
            </a:r>
          </a:p>
        </p:txBody>
      </p:sp>
      <p:sp>
        <p:nvSpPr>
          <p:cNvPr id="55" name="TextBox 54"/>
          <p:cNvSpPr txBox="1"/>
          <p:nvPr/>
        </p:nvSpPr>
        <p:spPr>
          <a:xfrm>
            <a:off x="6116687" y="3424832"/>
            <a:ext cx="743991" cy="325755"/>
          </a:xfrm>
          <a:prstGeom prst="rect">
            <a:avLst/>
          </a:prstGeom>
          <a:noFill/>
        </p:spPr>
        <p:txBody>
          <a:bodyPr wrap="square">
            <a:spAutoFit/>
          </a:bodyPr>
          <a:lstStyle/>
          <a:p>
            <a:pPr algn="l"/>
            <a:r>
              <a:rPr sz="2850" b="0" i="0">
                <a:solidFill>
                  <a:srgbClr val="F7F4EC"/>
                </a:solidFill>
                <a:latin typeface="Cormorant Garamond"/>
              </a:rPr>
              <a:t>Gift Boxes</a:t>
            </a:r>
          </a:p>
        </p:txBody>
      </p:sp>
      <p:sp>
        <p:nvSpPr>
          <p:cNvPr id="56" name="TextBox 55"/>
          <p:cNvSpPr txBox="1"/>
          <p:nvPr/>
        </p:nvSpPr>
        <p:spPr>
          <a:xfrm>
            <a:off x="7788994" y="3462932"/>
            <a:ext cx="597842" cy="205740"/>
          </a:xfrm>
          <a:prstGeom prst="rect">
            <a:avLst/>
          </a:prstGeom>
          <a:noFill/>
        </p:spPr>
        <p:txBody>
          <a:bodyPr wrap="square">
            <a:spAutoFit/>
          </a:bodyPr>
          <a:lstStyle/>
          <a:p>
            <a:pPr algn="l"/>
            <a:r>
              <a:rPr sz="1800" b="0" i="0" spc="150">
                <a:solidFill>
                  <a:srgbClr val="8A6A22"/>
                </a:solidFill>
                <a:latin typeface="Rubik"/>
              </a:rPr>
              <a:t>PREMIUM</a:t>
            </a:r>
          </a:p>
        </p:txBody>
      </p:sp>
      <p:sp>
        <p:nvSpPr>
          <p:cNvPr id="57" name="TextBox 56"/>
          <p:cNvSpPr txBox="1"/>
          <p:nvPr/>
        </p:nvSpPr>
        <p:spPr>
          <a:xfrm>
            <a:off x="6116687" y="3685802"/>
            <a:ext cx="1553765" cy="222885"/>
          </a:xfrm>
          <a:prstGeom prst="rect">
            <a:avLst/>
          </a:prstGeom>
          <a:noFill/>
        </p:spPr>
        <p:txBody>
          <a:bodyPr wrap="square">
            <a:spAutoFit/>
          </a:bodyPr>
          <a:lstStyle/>
          <a:p>
            <a:pPr algn="l"/>
            <a:r>
              <a:rPr sz="1950" b="0" i="0">
                <a:solidFill>
                  <a:srgbClr val="C9D6C4"/>
                </a:solidFill>
                <a:latin typeface="Rubik"/>
              </a:rPr>
              <a:t>Premium box 500 + 250 ml</a:t>
            </a:r>
          </a:p>
        </p:txBody>
      </p:sp>
      <p:sp>
        <p:nvSpPr>
          <p:cNvPr id="58" name="TextBox 57"/>
          <p:cNvSpPr txBox="1"/>
          <p:nvPr/>
        </p:nvSpPr>
        <p:spPr>
          <a:xfrm>
            <a:off x="7975178" y="3671515"/>
            <a:ext cx="411658" cy="291465"/>
          </a:xfrm>
          <a:prstGeom prst="rect">
            <a:avLst/>
          </a:prstGeom>
          <a:noFill/>
        </p:spPr>
        <p:txBody>
          <a:bodyPr wrap="square">
            <a:spAutoFit/>
          </a:bodyPr>
          <a:lstStyle/>
          <a:p>
            <a:pPr algn="l"/>
            <a:r>
              <a:rPr sz="2550" b="0" i="0">
                <a:solidFill>
                  <a:srgbClr val="D9B45A"/>
                </a:solidFill>
                <a:latin typeface="Cormorant Garamond"/>
              </a:rPr>
              <a:t>€16.86</a:t>
            </a:r>
          </a:p>
        </p:txBody>
      </p:sp>
      <p:sp>
        <p:nvSpPr>
          <p:cNvPr id="59" name="TextBox 58"/>
          <p:cNvSpPr txBox="1"/>
          <p:nvPr/>
        </p:nvSpPr>
        <p:spPr>
          <a:xfrm>
            <a:off x="6116687" y="3944838"/>
            <a:ext cx="901898" cy="222885"/>
          </a:xfrm>
          <a:prstGeom prst="rect">
            <a:avLst/>
          </a:prstGeom>
          <a:noFill/>
        </p:spPr>
        <p:txBody>
          <a:bodyPr wrap="square">
            <a:spAutoFit/>
          </a:bodyPr>
          <a:lstStyle/>
          <a:p>
            <a:pPr algn="l"/>
            <a:r>
              <a:rPr sz="1950" b="0" i="0">
                <a:solidFill>
                  <a:srgbClr val="C9D6C4"/>
                </a:solidFill>
                <a:latin typeface="Rubik"/>
              </a:rPr>
              <a:t>MOHRA gift box</a:t>
            </a:r>
          </a:p>
        </p:txBody>
      </p:sp>
      <p:sp>
        <p:nvSpPr>
          <p:cNvPr id="60" name="TextBox 59"/>
          <p:cNvSpPr txBox="1"/>
          <p:nvPr/>
        </p:nvSpPr>
        <p:spPr>
          <a:xfrm>
            <a:off x="7823596" y="3930550"/>
            <a:ext cx="563240" cy="291465"/>
          </a:xfrm>
          <a:prstGeom prst="rect">
            <a:avLst/>
          </a:prstGeom>
          <a:noFill/>
        </p:spPr>
        <p:txBody>
          <a:bodyPr wrap="square">
            <a:spAutoFit/>
          </a:bodyPr>
          <a:lstStyle/>
          <a:p>
            <a:pPr algn="l"/>
            <a:r>
              <a:rPr sz="2550" b="0" i="0">
                <a:solidFill>
                  <a:srgbClr val="D9B45A"/>
                </a:solidFill>
                <a:latin typeface="Cormorant Garamond"/>
              </a:rPr>
              <a:t>on quote</a:t>
            </a:r>
          </a:p>
        </p:txBody>
      </p:sp>
      <p:sp>
        <p:nvSpPr>
          <p:cNvPr id="61" name="TextBox 60"/>
          <p:cNvSpPr txBox="1"/>
          <p:nvPr/>
        </p:nvSpPr>
        <p:spPr>
          <a:xfrm>
            <a:off x="6116687" y="4203873"/>
            <a:ext cx="1350019" cy="222885"/>
          </a:xfrm>
          <a:prstGeom prst="rect">
            <a:avLst/>
          </a:prstGeom>
          <a:noFill/>
        </p:spPr>
        <p:txBody>
          <a:bodyPr wrap="square">
            <a:spAutoFit/>
          </a:bodyPr>
          <a:lstStyle/>
          <a:p>
            <a:pPr algn="l"/>
            <a:r>
              <a:rPr sz="1950" b="0" i="0">
                <a:solidFill>
                  <a:srgbClr val="C9D6C4"/>
                </a:solidFill>
                <a:latin typeface="Rubik"/>
              </a:rPr>
              <a:t>Flavored trio 3 × 250 ml</a:t>
            </a:r>
          </a:p>
        </p:txBody>
      </p:sp>
      <p:sp>
        <p:nvSpPr>
          <p:cNvPr id="62" name="TextBox 61"/>
          <p:cNvSpPr txBox="1"/>
          <p:nvPr/>
        </p:nvSpPr>
        <p:spPr>
          <a:xfrm>
            <a:off x="7823596" y="4189586"/>
            <a:ext cx="563240" cy="291465"/>
          </a:xfrm>
          <a:prstGeom prst="rect">
            <a:avLst/>
          </a:prstGeom>
          <a:noFill/>
        </p:spPr>
        <p:txBody>
          <a:bodyPr wrap="square">
            <a:spAutoFit/>
          </a:bodyPr>
          <a:lstStyle/>
          <a:p>
            <a:pPr algn="l"/>
            <a:r>
              <a:rPr sz="2550" b="0" i="0">
                <a:solidFill>
                  <a:srgbClr val="D9B45A"/>
                </a:solidFill>
                <a:latin typeface="Cormorant Garamond"/>
              </a:rPr>
              <a:t>on quote</a:t>
            </a:r>
          </a:p>
        </p:txBody>
      </p:sp>
      <p:sp>
        <p:nvSpPr>
          <p:cNvPr id="63" name="TextBox 62"/>
          <p:cNvSpPr txBox="1"/>
          <p:nvPr/>
        </p:nvSpPr>
        <p:spPr>
          <a:xfrm>
            <a:off x="6116687" y="4462908"/>
            <a:ext cx="915739" cy="222885"/>
          </a:xfrm>
          <a:prstGeom prst="rect">
            <a:avLst/>
          </a:prstGeom>
          <a:noFill/>
        </p:spPr>
        <p:txBody>
          <a:bodyPr wrap="square">
            <a:spAutoFit/>
          </a:bodyPr>
          <a:lstStyle/>
          <a:p>
            <a:pPr algn="l"/>
            <a:r>
              <a:rPr sz="1950" b="0" i="0">
                <a:solidFill>
                  <a:srgbClr val="C9D6C4"/>
                </a:solidFill>
                <a:latin typeface="Rubik"/>
              </a:rPr>
              <a:t>Organic gift box</a:t>
            </a:r>
          </a:p>
        </p:txBody>
      </p:sp>
      <p:sp>
        <p:nvSpPr>
          <p:cNvPr id="64" name="TextBox 63"/>
          <p:cNvSpPr txBox="1"/>
          <p:nvPr/>
        </p:nvSpPr>
        <p:spPr>
          <a:xfrm>
            <a:off x="7823596" y="4448621"/>
            <a:ext cx="563240" cy="291465"/>
          </a:xfrm>
          <a:prstGeom prst="rect">
            <a:avLst/>
          </a:prstGeom>
          <a:noFill/>
        </p:spPr>
        <p:txBody>
          <a:bodyPr wrap="square">
            <a:spAutoFit/>
          </a:bodyPr>
          <a:lstStyle/>
          <a:p>
            <a:pPr algn="l"/>
            <a:r>
              <a:rPr sz="2550" b="0" i="0">
                <a:solidFill>
                  <a:srgbClr val="D9B45A"/>
                </a:solidFill>
                <a:latin typeface="Cormorant Garamond"/>
              </a:rPr>
              <a:t>on quote</a:t>
            </a:r>
          </a:p>
        </p:txBody>
      </p:sp>
      <p:sp>
        <p:nvSpPr>
          <p:cNvPr id="65" name="TextBox 64"/>
          <p:cNvSpPr txBox="1"/>
          <p:nvPr/>
        </p:nvSpPr>
        <p:spPr>
          <a:xfrm>
            <a:off x="7772400" y="4678709"/>
            <a:ext cx="762000" cy="205740"/>
          </a:xfrm>
          <a:prstGeom prst="rect">
            <a:avLst/>
          </a:prstGeom>
          <a:noFill/>
        </p:spPr>
        <p:txBody>
          <a:bodyPr wrap="square">
            <a:spAutoFit/>
          </a:bodyPr>
          <a:lstStyle/>
          <a:p>
            <a:pPr algn="r"/>
            <a:r>
              <a:rPr sz="1800" b="0" i="0" spc="150">
                <a:solidFill>
                  <a:srgbClr val="8A6A22"/>
                </a:solidFill>
                <a:latin typeface="Rubik"/>
              </a:rPr>
              <a:t>12 / 35</a:t>
            </a:r>
          </a:p>
        </p:txBody>
      </p:sp>
    </p:spTree>
  </p:cSld>
  <p:clrMapOvr>
    <a:masterClrMapping/>
  </p:clrMapOvr>
  <p:transition dur="500" advClick="1">
    <p:fade/>
  </p:transition>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3.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364310" cy="205740"/>
          </a:xfrm>
          <a:prstGeom prst="rect">
            <a:avLst/>
          </a:prstGeom>
          <a:noFill/>
        </p:spPr>
        <p:txBody>
          <a:bodyPr wrap="square">
            <a:spAutoFit/>
          </a:bodyPr>
          <a:lstStyle/>
          <a:p>
            <a:pPr algn="l"/>
            <a:r>
              <a:rPr sz="1800" b="0" i="0" spc="300">
                <a:solidFill>
                  <a:srgbClr val="8A6A22"/>
                </a:solidFill>
                <a:latin typeface="Rubik"/>
              </a:rPr>
              <a:t>PRODUCTS · 1-9</a:t>
            </a:r>
          </a:p>
        </p:txBody>
      </p:sp>
      <p:sp>
        <p:nvSpPr>
          <p:cNvPr id="4" name="TextBox 3"/>
          <p:cNvSpPr txBox="1"/>
          <p:nvPr/>
        </p:nvSpPr>
        <p:spPr>
          <a:xfrm>
            <a:off x="609600" y="721965"/>
            <a:ext cx="4364310" cy="548640"/>
          </a:xfrm>
          <a:prstGeom prst="rect">
            <a:avLst/>
          </a:prstGeom>
          <a:noFill/>
        </p:spPr>
        <p:txBody>
          <a:bodyPr wrap="square">
            <a:spAutoFit/>
          </a:bodyPr>
          <a:lstStyle/>
          <a:p>
            <a:pPr algn="l"/>
            <a:r>
              <a:rPr sz="4800" b="0" i="0">
                <a:solidFill>
                  <a:srgbClr val="14281C"/>
                </a:solidFill>
                <a:latin typeface="Cormorant Garamond"/>
              </a:rPr>
              <a:t>Indicative SKU Pricing Architecture</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Target retail vs ex-factory (1-8) and target gross margins at maturity — P&amp;L 2027 plans 20% overall, rising with volume and premium mix</a:t>
            </a:r>
          </a:p>
        </p:txBody>
      </p:sp>
      <p:sp>
        <p:nvSpPr>
          <p:cNvPr id="6" name="TextBox 5"/>
          <p:cNvSpPr txBox="1"/>
          <p:nvPr/>
        </p:nvSpPr>
        <p:spPr>
          <a:xfrm>
            <a:off x="804862" y="1549598"/>
            <a:ext cx="1190625" cy="205740"/>
          </a:xfrm>
          <a:prstGeom prst="rect">
            <a:avLst/>
          </a:prstGeom>
          <a:noFill/>
        </p:spPr>
        <p:txBody>
          <a:bodyPr wrap="square">
            <a:spAutoFit/>
          </a:bodyPr>
          <a:lstStyle/>
          <a:p>
            <a:pPr algn="l"/>
            <a:r>
              <a:rPr sz="1800" b="0" i="0" spc="225">
                <a:solidFill>
                  <a:srgbClr val="D9B45A"/>
                </a:solidFill>
                <a:latin typeface="Rubik"/>
              </a:rPr>
              <a:t>SKU</a:t>
            </a:r>
          </a:p>
        </p:txBody>
      </p:sp>
      <p:sp>
        <p:nvSpPr>
          <p:cNvPr id="7" name="TextBox 6"/>
          <p:cNvSpPr txBox="1"/>
          <p:nvPr/>
        </p:nvSpPr>
        <p:spPr>
          <a:xfrm>
            <a:off x="1995487" y="1549598"/>
            <a:ext cx="1571625" cy="205740"/>
          </a:xfrm>
          <a:prstGeom prst="rect">
            <a:avLst/>
          </a:prstGeom>
          <a:noFill/>
        </p:spPr>
        <p:txBody>
          <a:bodyPr wrap="square">
            <a:spAutoFit/>
          </a:bodyPr>
          <a:lstStyle/>
          <a:p>
            <a:pPr algn="l"/>
            <a:r>
              <a:rPr sz="1800" b="0" i="0" spc="225">
                <a:solidFill>
                  <a:srgbClr val="D9B45A"/>
                </a:solidFill>
                <a:latin typeface="Rubik"/>
              </a:rPr>
              <a:t>POSITIONING</a:t>
            </a:r>
          </a:p>
        </p:txBody>
      </p:sp>
      <p:sp>
        <p:nvSpPr>
          <p:cNvPr id="8" name="TextBox 7"/>
          <p:cNvSpPr txBox="1"/>
          <p:nvPr/>
        </p:nvSpPr>
        <p:spPr>
          <a:xfrm>
            <a:off x="3567112" y="1549598"/>
            <a:ext cx="1762125" cy="205740"/>
          </a:xfrm>
          <a:prstGeom prst="rect">
            <a:avLst/>
          </a:prstGeom>
          <a:noFill/>
        </p:spPr>
        <p:txBody>
          <a:bodyPr wrap="square">
            <a:spAutoFit/>
          </a:bodyPr>
          <a:lstStyle/>
          <a:p>
            <a:pPr algn="l"/>
            <a:r>
              <a:rPr sz="1800" b="0" i="0" spc="225">
                <a:solidFill>
                  <a:srgbClr val="D9B45A"/>
                </a:solidFill>
                <a:latin typeface="Rubik"/>
              </a:rPr>
              <a:t>TARGET RETAIL</a:t>
            </a:r>
          </a:p>
        </p:txBody>
      </p:sp>
      <p:sp>
        <p:nvSpPr>
          <p:cNvPr id="9" name="TextBox 8"/>
          <p:cNvSpPr txBox="1"/>
          <p:nvPr/>
        </p:nvSpPr>
        <p:spPr>
          <a:xfrm>
            <a:off x="5329237" y="1549598"/>
            <a:ext cx="1381125" cy="205740"/>
          </a:xfrm>
          <a:prstGeom prst="rect">
            <a:avLst/>
          </a:prstGeom>
          <a:noFill/>
        </p:spPr>
        <p:txBody>
          <a:bodyPr wrap="square">
            <a:spAutoFit/>
          </a:bodyPr>
          <a:lstStyle/>
          <a:p>
            <a:pPr algn="l"/>
            <a:r>
              <a:rPr sz="1800" b="0" i="0" spc="225">
                <a:solidFill>
                  <a:srgbClr val="D9B45A"/>
                </a:solidFill>
                <a:latin typeface="Rubik"/>
              </a:rPr>
              <a:t>TARGET MARGIN</a:t>
            </a:r>
          </a:p>
        </p:txBody>
      </p:sp>
      <p:sp>
        <p:nvSpPr>
          <p:cNvPr id="10" name="TextBox 9"/>
          <p:cNvSpPr txBox="1"/>
          <p:nvPr/>
        </p:nvSpPr>
        <p:spPr>
          <a:xfrm>
            <a:off x="6710362" y="1549598"/>
            <a:ext cx="1628775" cy="205740"/>
          </a:xfrm>
          <a:prstGeom prst="rect">
            <a:avLst/>
          </a:prstGeom>
          <a:noFill/>
        </p:spPr>
        <p:txBody>
          <a:bodyPr wrap="square">
            <a:spAutoFit/>
          </a:bodyPr>
          <a:lstStyle/>
          <a:p>
            <a:pPr algn="l"/>
            <a:r>
              <a:rPr sz="1800" b="0" i="0" spc="225">
                <a:solidFill>
                  <a:srgbClr val="D9B45A"/>
                </a:solidFill>
                <a:latin typeface="Rubik"/>
              </a:rPr>
              <a:t>ROLE 2027</a:t>
            </a:r>
          </a:p>
        </p:txBody>
      </p:sp>
      <p:sp>
        <p:nvSpPr>
          <p:cNvPr id="11" name="TextBox 10"/>
          <p:cNvSpPr txBox="1"/>
          <p:nvPr/>
        </p:nvSpPr>
        <p:spPr>
          <a:xfrm>
            <a:off x="804862" y="1918171"/>
            <a:ext cx="1190625" cy="342900"/>
          </a:xfrm>
          <a:prstGeom prst="rect">
            <a:avLst/>
          </a:prstGeom>
          <a:noFill/>
        </p:spPr>
        <p:txBody>
          <a:bodyPr wrap="square">
            <a:spAutoFit/>
          </a:bodyPr>
          <a:lstStyle/>
          <a:p>
            <a:pPr algn="l"/>
            <a:r>
              <a:rPr sz="3000" b="0" i="0">
                <a:solidFill>
                  <a:srgbClr val="14281C"/>
                </a:solidFill>
                <a:latin typeface="Cormorant Garamond"/>
              </a:rPr>
              <a:t>Classic</a:t>
            </a:r>
          </a:p>
        </p:txBody>
      </p:sp>
      <p:sp>
        <p:nvSpPr>
          <p:cNvPr id="12" name="TextBox 11"/>
          <p:cNvSpPr txBox="1"/>
          <p:nvPr/>
        </p:nvSpPr>
        <p:spPr>
          <a:xfrm>
            <a:off x="1995487" y="1961554"/>
            <a:ext cx="1571625" cy="231457"/>
          </a:xfrm>
          <a:prstGeom prst="rect">
            <a:avLst/>
          </a:prstGeom>
          <a:noFill/>
        </p:spPr>
        <p:txBody>
          <a:bodyPr wrap="square">
            <a:spAutoFit/>
          </a:bodyPr>
          <a:lstStyle/>
          <a:p>
            <a:pPr algn="l"/>
            <a:r>
              <a:rPr sz="2025" b="0" i="0">
                <a:solidFill>
                  <a:srgbClr val="1F2B23"/>
                </a:solidFill>
                <a:latin typeface="Rubik"/>
              </a:rPr>
              <a:t>Everyday Premium</a:t>
            </a:r>
          </a:p>
        </p:txBody>
      </p:sp>
      <p:sp>
        <p:nvSpPr>
          <p:cNvPr id="13" name="TextBox 12"/>
          <p:cNvSpPr txBox="1"/>
          <p:nvPr/>
        </p:nvSpPr>
        <p:spPr>
          <a:xfrm>
            <a:off x="3567112" y="1878210"/>
            <a:ext cx="1762125" cy="240030"/>
          </a:xfrm>
          <a:prstGeom prst="rect">
            <a:avLst/>
          </a:prstGeom>
          <a:noFill/>
        </p:spPr>
        <p:txBody>
          <a:bodyPr wrap="square">
            <a:spAutoFit/>
          </a:bodyPr>
          <a:lstStyle/>
          <a:p>
            <a:pPr algn="l"/>
            <a:r>
              <a:rPr sz="2100" b="0" i="0">
                <a:solidFill>
                  <a:srgbClr val="8A6A22"/>
                </a:solidFill>
                <a:latin typeface="Rubik"/>
              </a:rPr>
              <a:t>€14–18 / 500ml</a:t>
            </a:r>
          </a:p>
        </p:txBody>
      </p:sp>
      <p:sp>
        <p:nvSpPr>
          <p:cNvPr id="14" name="TextBox 13"/>
          <p:cNvSpPr txBox="1"/>
          <p:nvPr/>
        </p:nvSpPr>
        <p:spPr>
          <a:xfrm>
            <a:off x="3567112" y="2064841"/>
            <a:ext cx="1762125" cy="205740"/>
          </a:xfrm>
          <a:prstGeom prst="rect">
            <a:avLst/>
          </a:prstGeom>
          <a:noFill/>
        </p:spPr>
        <p:txBody>
          <a:bodyPr wrap="square">
            <a:spAutoFit/>
          </a:bodyPr>
          <a:lstStyle/>
          <a:p>
            <a:pPr algn="l"/>
            <a:r>
              <a:rPr sz="1800" b="0" i="0">
                <a:solidFill>
                  <a:srgbClr val="6B776E"/>
                </a:solidFill>
                <a:latin typeface="Rubik"/>
              </a:rPr>
              <a:t>≈ 5–6× ex-factory</a:t>
            </a:r>
          </a:p>
        </p:txBody>
      </p:sp>
      <p:sp>
        <p:nvSpPr>
          <p:cNvPr id="15" name="TextBox 14"/>
          <p:cNvSpPr txBox="1"/>
          <p:nvPr/>
        </p:nvSpPr>
        <p:spPr>
          <a:xfrm>
            <a:off x="5329237" y="1936328"/>
            <a:ext cx="680591" cy="230460"/>
          </a:xfrm>
          <a:prstGeom prst="rect">
            <a:avLst/>
          </a:prstGeom>
          <a:noFill/>
        </p:spPr>
        <p:txBody>
          <a:bodyPr wrap="square">
            <a:spAutoFit/>
          </a:bodyPr>
          <a:lstStyle/>
          <a:p>
            <a:pPr algn="l"/>
            <a:r>
              <a:rPr sz="1950" b="0" i="0">
                <a:solidFill>
                  <a:srgbClr val="3E6B4C"/>
                </a:solidFill>
                <a:latin typeface="Rubik"/>
              </a:rPr>
              <a:t>45–50%</a:t>
            </a:r>
          </a:p>
        </p:txBody>
      </p:sp>
      <p:sp>
        <p:nvSpPr>
          <p:cNvPr id="16" name="TextBox 15"/>
          <p:cNvSpPr txBox="1"/>
          <p:nvPr/>
        </p:nvSpPr>
        <p:spPr>
          <a:xfrm>
            <a:off x="6710362" y="1961554"/>
            <a:ext cx="1247626" cy="231457"/>
          </a:xfrm>
          <a:prstGeom prst="rect">
            <a:avLst/>
          </a:prstGeom>
          <a:noFill/>
        </p:spPr>
        <p:txBody>
          <a:bodyPr wrap="square">
            <a:spAutoFit/>
          </a:bodyPr>
          <a:lstStyle/>
          <a:p>
            <a:pPr algn="l"/>
            <a:r>
              <a:rPr sz="2025" b="0" i="0">
                <a:solidFill>
                  <a:srgbClr val="46534A"/>
                </a:solidFill>
                <a:latin typeface="Rubik"/>
              </a:rPr>
              <a:t>Volume · distributors</a:t>
            </a:r>
          </a:p>
        </p:txBody>
      </p:sp>
      <p:sp>
        <p:nvSpPr>
          <p:cNvPr id="17" name="TextBox 16"/>
          <p:cNvSpPr txBox="1"/>
          <p:nvPr/>
        </p:nvSpPr>
        <p:spPr>
          <a:xfrm>
            <a:off x="804862" y="2435423"/>
            <a:ext cx="1190625" cy="342900"/>
          </a:xfrm>
          <a:prstGeom prst="rect">
            <a:avLst/>
          </a:prstGeom>
          <a:noFill/>
        </p:spPr>
        <p:txBody>
          <a:bodyPr wrap="square">
            <a:spAutoFit/>
          </a:bodyPr>
          <a:lstStyle/>
          <a:p>
            <a:pPr algn="l"/>
            <a:r>
              <a:rPr sz="3000" b="0" i="0">
                <a:solidFill>
                  <a:srgbClr val="14281C"/>
                </a:solidFill>
                <a:latin typeface="Cormorant Garamond"/>
              </a:rPr>
              <a:t>Organic</a:t>
            </a:r>
          </a:p>
        </p:txBody>
      </p:sp>
      <p:sp>
        <p:nvSpPr>
          <p:cNvPr id="18" name="TextBox 17"/>
          <p:cNvSpPr txBox="1"/>
          <p:nvPr/>
        </p:nvSpPr>
        <p:spPr>
          <a:xfrm>
            <a:off x="1995487" y="2478806"/>
            <a:ext cx="1571625" cy="231457"/>
          </a:xfrm>
          <a:prstGeom prst="rect">
            <a:avLst/>
          </a:prstGeom>
          <a:noFill/>
        </p:spPr>
        <p:txBody>
          <a:bodyPr wrap="square">
            <a:spAutoFit/>
          </a:bodyPr>
          <a:lstStyle/>
          <a:p>
            <a:pPr algn="l"/>
            <a:r>
              <a:rPr sz="2025" b="0" i="0">
                <a:solidFill>
                  <a:srgbClr val="1F2B23"/>
                </a:solidFill>
                <a:latin typeface="Rubik"/>
              </a:rPr>
              <a:t>Health Premium</a:t>
            </a:r>
          </a:p>
        </p:txBody>
      </p:sp>
      <p:sp>
        <p:nvSpPr>
          <p:cNvPr id="19" name="TextBox 18"/>
          <p:cNvSpPr txBox="1"/>
          <p:nvPr/>
        </p:nvSpPr>
        <p:spPr>
          <a:xfrm>
            <a:off x="3567112" y="2395463"/>
            <a:ext cx="1762125" cy="240030"/>
          </a:xfrm>
          <a:prstGeom prst="rect">
            <a:avLst/>
          </a:prstGeom>
          <a:noFill/>
        </p:spPr>
        <p:txBody>
          <a:bodyPr wrap="square">
            <a:spAutoFit/>
          </a:bodyPr>
          <a:lstStyle/>
          <a:p>
            <a:pPr algn="l"/>
            <a:r>
              <a:rPr sz="2100" b="0" i="0">
                <a:solidFill>
                  <a:srgbClr val="8A6A22"/>
                </a:solidFill>
                <a:latin typeface="Rubik"/>
              </a:rPr>
              <a:t>€18–24 / 500ml</a:t>
            </a:r>
          </a:p>
        </p:txBody>
      </p:sp>
      <p:sp>
        <p:nvSpPr>
          <p:cNvPr id="20" name="TextBox 19"/>
          <p:cNvSpPr txBox="1"/>
          <p:nvPr/>
        </p:nvSpPr>
        <p:spPr>
          <a:xfrm>
            <a:off x="3567112" y="2582093"/>
            <a:ext cx="1762125" cy="205740"/>
          </a:xfrm>
          <a:prstGeom prst="rect">
            <a:avLst/>
          </a:prstGeom>
          <a:noFill/>
        </p:spPr>
        <p:txBody>
          <a:bodyPr wrap="square">
            <a:spAutoFit/>
          </a:bodyPr>
          <a:lstStyle/>
          <a:p>
            <a:pPr algn="l"/>
            <a:r>
              <a:rPr sz="1800" b="0" i="0">
                <a:solidFill>
                  <a:srgbClr val="6B776E"/>
                </a:solidFill>
                <a:latin typeface="Rubik"/>
              </a:rPr>
              <a:t>≈ 5–7× ex-factory</a:t>
            </a:r>
          </a:p>
        </p:txBody>
      </p:sp>
      <p:sp>
        <p:nvSpPr>
          <p:cNvPr id="21" name="TextBox 20"/>
          <p:cNvSpPr txBox="1"/>
          <p:nvPr/>
        </p:nvSpPr>
        <p:spPr>
          <a:xfrm>
            <a:off x="5329237" y="2453580"/>
            <a:ext cx="680591" cy="230460"/>
          </a:xfrm>
          <a:prstGeom prst="rect">
            <a:avLst/>
          </a:prstGeom>
          <a:noFill/>
        </p:spPr>
        <p:txBody>
          <a:bodyPr wrap="square">
            <a:spAutoFit/>
          </a:bodyPr>
          <a:lstStyle/>
          <a:p>
            <a:pPr algn="l"/>
            <a:r>
              <a:rPr sz="1950" b="0" i="0">
                <a:solidFill>
                  <a:srgbClr val="3E6B4C"/>
                </a:solidFill>
                <a:latin typeface="Rubik"/>
              </a:rPr>
              <a:t>48–52%</a:t>
            </a:r>
          </a:p>
        </p:txBody>
      </p:sp>
      <p:sp>
        <p:nvSpPr>
          <p:cNvPr id="22" name="TextBox 21"/>
          <p:cNvSpPr txBox="1"/>
          <p:nvPr/>
        </p:nvSpPr>
        <p:spPr>
          <a:xfrm>
            <a:off x="6710362" y="2479253"/>
            <a:ext cx="571500" cy="205740"/>
          </a:xfrm>
          <a:prstGeom prst="rect">
            <a:avLst/>
          </a:prstGeom>
          <a:noFill/>
        </p:spPr>
        <p:txBody>
          <a:bodyPr wrap="square">
            <a:spAutoFit/>
          </a:bodyPr>
          <a:lstStyle/>
          <a:p>
            <a:pPr algn="ctr"/>
            <a:r>
              <a:rPr sz="1800" b="0" i="0">
                <a:solidFill>
                  <a:srgbClr val="D9B45A"/>
                </a:solidFill>
                <a:latin typeface="Rubik"/>
              </a:rPr>
              <a:t>HERO 1</a:t>
            </a:r>
          </a:p>
        </p:txBody>
      </p:sp>
      <p:sp>
        <p:nvSpPr>
          <p:cNvPr id="23" name="TextBox 22"/>
          <p:cNvSpPr txBox="1"/>
          <p:nvPr/>
        </p:nvSpPr>
        <p:spPr>
          <a:xfrm>
            <a:off x="7339012" y="2478806"/>
            <a:ext cx="978916" cy="231457"/>
          </a:xfrm>
          <a:prstGeom prst="rect">
            <a:avLst/>
          </a:prstGeom>
          <a:noFill/>
        </p:spPr>
        <p:txBody>
          <a:bodyPr wrap="square">
            <a:spAutoFit/>
          </a:bodyPr>
          <a:lstStyle/>
          <a:p>
            <a:pPr algn="l"/>
            <a:r>
              <a:rPr sz="2025" b="0" i="0">
                <a:solidFill>
                  <a:srgbClr val="46534A"/>
                </a:solidFill>
                <a:latin typeface="Rubik"/>
              </a:rPr>
              <a:t>Japan &amp; organic</a:t>
            </a:r>
          </a:p>
        </p:txBody>
      </p:sp>
      <p:sp>
        <p:nvSpPr>
          <p:cNvPr id="24" name="TextBox 23"/>
          <p:cNvSpPr txBox="1"/>
          <p:nvPr/>
        </p:nvSpPr>
        <p:spPr>
          <a:xfrm>
            <a:off x="804862" y="2952675"/>
            <a:ext cx="1190625" cy="342900"/>
          </a:xfrm>
          <a:prstGeom prst="rect">
            <a:avLst/>
          </a:prstGeom>
          <a:noFill/>
        </p:spPr>
        <p:txBody>
          <a:bodyPr wrap="square">
            <a:spAutoFit/>
          </a:bodyPr>
          <a:lstStyle/>
          <a:p>
            <a:pPr algn="l"/>
            <a:r>
              <a:rPr sz="3000" b="0" i="0">
                <a:solidFill>
                  <a:srgbClr val="14281C"/>
                </a:solidFill>
                <a:latin typeface="Cormorant Garamond"/>
              </a:rPr>
              <a:t>Premium</a:t>
            </a:r>
          </a:p>
        </p:txBody>
      </p:sp>
      <p:sp>
        <p:nvSpPr>
          <p:cNvPr id="25" name="TextBox 24"/>
          <p:cNvSpPr txBox="1"/>
          <p:nvPr/>
        </p:nvSpPr>
        <p:spPr>
          <a:xfrm>
            <a:off x="1995487" y="2996058"/>
            <a:ext cx="1571625" cy="231457"/>
          </a:xfrm>
          <a:prstGeom prst="rect">
            <a:avLst/>
          </a:prstGeom>
          <a:noFill/>
        </p:spPr>
        <p:txBody>
          <a:bodyPr wrap="square">
            <a:spAutoFit/>
          </a:bodyPr>
          <a:lstStyle/>
          <a:p>
            <a:pPr algn="l"/>
            <a:r>
              <a:rPr sz="2025" b="0" i="0">
                <a:solidFill>
                  <a:srgbClr val="1F2B23"/>
                </a:solidFill>
                <a:latin typeface="Rubik"/>
              </a:rPr>
              <a:t>Gourmet / Chef</a:t>
            </a:r>
          </a:p>
        </p:txBody>
      </p:sp>
      <p:sp>
        <p:nvSpPr>
          <p:cNvPr id="26" name="TextBox 25"/>
          <p:cNvSpPr txBox="1"/>
          <p:nvPr/>
        </p:nvSpPr>
        <p:spPr>
          <a:xfrm>
            <a:off x="3567112" y="2912715"/>
            <a:ext cx="1762125" cy="240030"/>
          </a:xfrm>
          <a:prstGeom prst="rect">
            <a:avLst/>
          </a:prstGeom>
          <a:noFill/>
        </p:spPr>
        <p:txBody>
          <a:bodyPr wrap="square">
            <a:spAutoFit/>
          </a:bodyPr>
          <a:lstStyle/>
          <a:p>
            <a:pPr algn="l"/>
            <a:r>
              <a:rPr sz="2100" b="0" i="0">
                <a:solidFill>
                  <a:srgbClr val="8A6A22"/>
                </a:solidFill>
                <a:latin typeface="Rubik"/>
              </a:rPr>
              <a:t>€22–30 / 500ml</a:t>
            </a:r>
          </a:p>
        </p:txBody>
      </p:sp>
      <p:sp>
        <p:nvSpPr>
          <p:cNvPr id="27" name="TextBox 26"/>
          <p:cNvSpPr txBox="1"/>
          <p:nvPr/>
        </p:nvSpPr>
        <p:spPr>
          <a:xfrm>
            <a:off x="3567112" y="3099345"/>
            <a:ext cx="1762125" cy="205740"/>
          </a:xfrm>
          <a:prstGeom prst="rect">
            <a:avLst/>
          </a:prstGeom>
          <a:noFill/>
        </p:spPr>
        <p:txBody>
          <a:bodyPr wrap="square">
            <a:spAutoFit/>
          </a:bodyPr>
          <a:lstStyle/>
          <a:p>
            <a:pPr algn="l"/>
            <a:r>
              <a:rPr sz="1800" b="0" i="0">
                <a:solidFill>
                  <a:srgbClr val="6B776E"/>
                </a:solidFill>
                <a:latin typeface="Rubik"/>
              </a:rPr>
              <a:t>≈ 4–6× ex-factory</a:t>
            </a:r>
          </a:p>
        </p:txBody>
      </p:sp>
      <p:sp>
        <p:nvSpPr>
          <p:cNvPr id="28" name="TextBox 27"/>
          <p:cNvSpPr txBox="1"/>
          <p:nvPr/>
        </p:nvSpPr>
        <p:spPr>
          <a:xfrm>
            <a:off x="5329237" y="2970832"/>
            <a:ext cx="676275" cy="230460"/>
          </a:xfrm>
          <a:prstGeom prst="rect">
            <a:avLst/>
          </a:prstGeom>
          <a:noFill/>
        </p:spPr>
        <p:txBody>
          <a:bodyPr wrap="square">
            <a:spAutoFit/>
          </a:bodyPr>
          <a:lstStyle/>
          <a:p>
            <a:pPr algn="l"/>
            <a:r>
              <a:rPr sz="1950" b="0" i="0">
                <a:solidFill>
                  <a:srgbClr val="3E6B4C"/>
                </a:solidFill>
                <a:latin typeface="Rubik"/>
              </a:rPr>
              <a:t>50–55%</a:t>
            </a:r>
          </a:p>
        </p:txBody>
      </p:sp>
      <p:sp>
        <p:nvSpPr>
          <p:cNvPr id="29" name="TextBox 28"/>
          <p:cNvSpPr txBox="1"/>
          <p:nvPr/>
        </p:nvSpPr>
        <p:spPr>
          <a:xfrm>
            <a:off x="6710362" y="2996505"/>
            <a:ext cx="507578" cy="205740"/>
          </a:xfrm>
          <a:prstGeom prst="rect">
            <a:avLst/>
          </a:prstGeom>
          <a:noFill/>
        </p:spPr>
        <p:txBody>
          <a:bodyPr wrap="square">
            <a:spAutoFit/>
          </a:bodyPr>
          <a:lstStyle/>
          <a:p>
            <a:pPr algn="ctr"/>
            <a:r>
              <a:rPr sz="1800" b="0" i="0">
                <a:solidFill>
                  <a:srgbClr val="D9B45A"/>
                </a:solidFill>
                <a:latin typeface="Rubik"/>
              </a:rPr>
              <a:t>HERO 2</a:t>
            </a:r>
          </a:p>
        </p:txBody>
      </p:sp>
      <p:sp>
        <p:nvSpPr>
          <p:cNvPr id="30" name="TextBox 29"/>
          <p:cNvSpPr txBox="1"/>
          <p:nvPr/>
        </p:nvSpPr>
        <p:spPr>
          <a:xfrm>
            <a:off x="7275090" y="2906017"/>
            <a:ext cx="1064046" cy="360015"/>
          </a:xfrm>
          <a:prstGeom prst="rect">
            <a:avLst/>
          </a:prstGeom>
          <a:noFill/>
        </p:spPr>
        <p:txBody>
          <a:bodyPr wrap="square">
            <a:spAutoFit/>
          </a:bodyPr>
          <a:lstStyle/>
          <a:p>
            <a:pPr algn="l"/>
            <a:r>
              <a:rPr sz="2025" b="0" i="0">
                <a:solidFill>
                  <a:srgbClr val="46534A"/>
                </a:solidFill>
                <a:latin typeface="Rubik"/>
              </a:rPr>
              <a:t>Chefs &amp; restaurants</a:t>
            </a:r>
          </a:p>
        </p:txBody>
      </p:sp>
      <p:sp>
        <p:nvSpPr>
          <p:cNvPr id="31" name="TextBox 30"/>
          <p:cNvSpPr txBox="1"/>
          <p:nvPr/>
        </p:nvSpPr>
        <p:spPr>
          <a:xfrm>
            <a:off x="804862" y="3469927"/>
            <a:ext cx="1190625" cy="342900"/>
          </a:xfrm>
          <a:prstGeom prst="rect">
            <a:avLst/>
          </a:prstGeom>
          <a:noFill/>
        </p:spPr>
        <p:txBody>
          <a:bodyPr wrap="square">
            <a:spAutoFit/>
          </a:bodyPr>
          <a:lstStyle/>
          <a:p>
            <a:pPr algn="l"/>
            <a:r>
              <a:rPr sz="3000" b="0" i="0">
                <a:solidFill>
                  <a:srgbClr val="14281C"/>
                </a:solidFill>
                <a:latin typeface="Cormorant Garamond"/>
              </a:rPr>
              <a:t>Flavored</a:t>
            </a:r>
          </a:p>
        </p:txBody>
      </p:sp>
      <p:sp>
        <p:nvSpPr>
          <p:cNvPr id="32" name="TextBox 31"/>
          <p:cNvSpPr txBox="1"/>
          <p:nvPr/>
        </p:nvSpPr>
        <p:spPr>
          <a:xfrm>
            <a:off x="1995487" y="3513311"/>
            <a:ext cx="1571625" cy="231457"/>
          </a:xfrm>
          <a:prstGeom prst="rect">
            <a:avLst/>
          </a:prstGeom>
          <a:noFill/>
        </p:spPr>
        <p:txBody>
          <a:bodyPr wrap="square">
            <a:spAutoFit/>
          </a:bodyPr>
          <a:lstStyle/>
          <a:p>
            <a:pPr algn="l"/>
            <a:r>
              <a:rPr sz="2025" b="0" i="0">
                <a:solidFill>
                  <a:srgbClr val="1F2B23"/>
                </a:solidFill>
                <a:latin typeface="Rubik"/>
              </a:rPr>
              <a:t>Lifestyle / Discovery</a:t>
            </a:r>
          </a:p>
        </p:txBody>
      </p:sp>
      <p:sp>
        <p:nvSpPr>
          <p:cNvPr id="33" name="TextBox 32"/>
          <p:cNvSpPr txBox="1"/>
          <p:nvPr/>
        </p:nvSpPr>
        <p:spPr>
          <a:xfrm>
            <a:off x="3567112" y="3429967"/>
            <a:ext cx="1762125" cy="240030"/>
          </a:xfrm>
          <a:prstGeom prst="rect">
            <a:avLst/>
          </a:prstGeom>
          <a:noFill/>
        </p:spPr>
        <p:txBody>
          <a:bodyPr wrap="square">
            <a:spAutoFit/>
          </a:bodyPr>
          <a:lstStyle/>
          <a:p>
            <a:pPr algn="l"/>
            <a:r>
              <a:rPr sz="2100" b="0" i="0">
                <a:solidFill>
                  <a:srgbClr val="8A6A22"/>
                </a:solidFill>
                <a:latin typeface="Rubik"/>
              </a:rPr>
              <a:t>€16–22 / 250–500ml</a:t>
            </a:r>
          </a:p>
        </p:txBody>
      </p:sp>
      <p:sp>
        <p:nvSpPr>
          <p:cNvPr id="34" name="TextBox 33"/>
          <p:cNvSpPr txBox="1"/>
          <p:nvPr/>
        </p:nvSpPr>
        <p:spPr>
          <a:xfrm>
            <a:off x="3567112" y="3616597"/>
            <a:ext cx="1762125" cy="205740"/>
          </a:xfrm>
          <a:prstGeom prst="rect">
            <a:avLst/>
          </a:prstGeom>
          <a:noFill/>
        </p:spPr>
        <p:txBody>
          <a:bodyPr wrap="square">
            <a:spAutoFit/>
          </a:bodyPr>
          <a:lstStyle/>
          <a:p>
            <a:pPr algn="l"/>
            <a:r>
              <a:rPr sz="1800" b="0" i="0">
                <a:solidFill>
                  <a:srgbClr val="6B776E"/>
                </a:solidFill>
                <a:latin typeface="Rubik"/>
              </a:rPr>
              <a:t>≈ 5.5–7.5× (250 ml)</a:t>
            </a:r>
          </a:p>
        </p:txBody>
      </p:sp>
      <p:sp>
        <p:nvSpPr>
          <p:cNvPr id="35" name="TextBox 34"/>
          <p:cNvSpPr txBox="1"/>
          <p:nvPr/>
        </p:nvSpPr>
        <p:spPr>
          <a:xfrm>
            <a:off x="5329237" y="3488084"/>
            <a:ext cx="676275" cy="230460"/>
          </a:xfrm>
          <a:prstGeom prst="rect">
            <a:avLst/>
          </a:prstGeom>
          <a:noFill/>
        </p:spPr>
        <p:txBody>
          <a:bodyPr wrap="square">
            <a:spAutoFit/>
          </a:bodyPr>
          <a:lstStyle/>
          <a:p>
            <a:pPr algn="l"/>
            <a:r>
              <a:rPr sz="1950" b="0" i="0">
                <a:solidFill>
                  <a:srgbClr val="3E6B4C"/>
                </a:solidFill>
                <a:latin typeface="Rubik"/>
              </a:rPr>
              <a:t>50–55%</a:t>
            </a:r>
          </a:p>
        </p:txBody>
      </p:sp>
      <p:sp>
        <p:nvSpPr>
          <p:cNvPr id="36" name="TextBox 35"/>
          <p:cNvSpPr txBox="1"/>
          <p:nvPr/>
        </p:nvSpPr>
        <p:spPr>
          <a:xfrm>
            <a:off x="6710362" y="3513757"/>
            <a:ext cx="571500" cy="205740"/>
          </a:xfrm>
          <a:prstGeom prst="rect">
            <a:avLst/>
          </a:prstGeom>
          <a:noFill/>
        </p:spPr>
        <p:txBody>
          <a:bodyPr wrap="square">
            <a:spAutoFit/>
          </a:bodyPr>
          <a:lstStyle/>
          <a:p>
            <a:pPr algn="ctr"/>
            <a:r>
              <a:rPr sz="1800" b="0" i="0">
                <a:solidFill>
                  <a:srgbClr val="D9B45A"/>
                </a:solidFill>
                <a:latin typeface="Rubik"/>
              </a:rPr>
              <a:t>HERO 3</a:t>
            </a:r>
          </a:p>
        </p:txBody>
      </p:sp>
      <p:sp>
        <p:nvSpPr>
          <p:cNvPr id="37" name="TextBox 36"/>
          <p:cNvSpPr txBox="1"/>
          <p:nvPr/>
        </p:nvSpPr>
        <p:spPr>
          <a:xfrm>
            <a:off x="7339012" y="3513311"/>
            <a:ext cx="782835" cy="231457"/>
          </a:xfrm>
          <a:prstGeom prst="rect">
            <a:avLst/>
          </a:prstGeom>
          <a:noFill/>
        </p:spPr>
        <p:txBody>
          <a:bodyPr wrap="square">
            <a:spAutoFit/>
          </a:bodyPr>
          <a:lstStyle/>
          <a:p>
            <a:pPr algn="l"/>
            <a:r>
              <a:rPr sz="2025" b="0" i="0">
                <a:solidFill>
                  <a:srgbClr val="46534A"/>
                </a:solidFill>
                <a:latin typeface="Rubik"/>
              </a:rPr>
              <a:t>Gift box &amp; EC</a:t>
            </a:r>
          </a:p>
        </p:txBody>
      </p:sp>
      <p:sp>
        <p:nvSpPr>
          <p:cNvPr id="38" name="TextBox 37"/>
          <p:cNvSpPr txBox="1"/>
          <p:nvPr/>
        </p:nvSpPr>
        <p:spPr>
          <a:xfrm>
            <a:off x="804862" y="3987179"/>
            <a:ext cx="1190625" cy="342900"/>
          </a:xfrm>
          <a:prstGeom prst="rect">
            <a:avLst/>
          </a:prstGeom>
          <a:noFill/>
        </p:spPr>
        <p:txBody>
          <a:bodyPr wrap="square">
            <a:spAutoFit/>
          </a:bodyPr>
          <a:lstStyle/>
          <a:p>
            <a:pPr algn="l"/>
            <a:r>
              <a:rPr sz="3000" b="0" i="0">
                <a:solidFill>
                  <a:srgbClr val="14281C"/>
                </a:solidFill>
                <a:latin typeface="Cormorant Garamond"/>
              </a:rPr>
              <a:t>MOHRA</a:t>
            </a:r>
          </a:p>
        </p:txBody>
      </p:sp>
      <p:sp>
        <p:nvSpPr>
          <p:cNvPr id="39" name="TextBox 38"/>
          <p:cNvSpPr txBox="1"/>
          <p:nvPr/>
        </p:nvSpPr>
        <p:spPr>
          <a:xfrm>
            <a:off x="1995487" y="4030563"/>
            <a:ext cx="1571625" cy="231457"/>
          </a:xfrm>
          <a:prstGeom prst="rect">
            <a:avLst/>
          </a:prstGeom>
          <a:noFill/>
        </p:spPr>
        <p:txBody>
          <a:bodyPr wrap="square">
            <a:spAutoFit/>
          </a:bodyPr>
          <a:lstStyle/>
          <a:p>
            <a:pPr algn="l"/>
            <a:r>
              <a:rPr sz="2025" b="0" i="0">
                <a:solidFill>
                  <a:srgbClr val="1F2B23"/>
                </a:solidFill>
                <a:latin typeface="Rubik"/>
              </a:rPr>
              <a:t>Luxury / Art</a:t>
            </a:r>
          </a:p>
        </p:txBody>
      </p:sp>
      <p:sp>
        <p:nvSpPr>
          <p:cNvPr id="40" name="TextBox 39"/>
          <p:cNvSpPr txBox="1"/>
          <p:nvPr/>
        </p:nvSpPr>
        <p:spPr>
          <a:xfrm>
            <a:off x="3567112" y="4027214"/>
            <a:ext cx="1762125" cy="240030"/>
          </a:xfrm>
          <a:prstGeom prst="rect">
            <a:avLst/>
          </a:prstGeom>
          <a:noFill/>
        </p:spPr>
        <p:txBody>
          <a:bodyPr wrap="square">
            <a:spAutoFit/>
          </a:bodyPr>
          <a:lstStyle/>
          <a:p>
            <a:pPr algn="l"/>
            <a:r>
              <a:rPr sz="2100" b="0" i="0">
                <a:solidFill>
                  <a:srgbClr val="8A6A22"/>
                </a:solidFill>
                <a:latin typeface="Rubik"/>
              </a:rPr>
              <a:t>€60–120+ / bottle</a:t>
            </a:r>
          </a:p>
        </p:txBody>
      </p:sp>
      <p:sp>
        <p:nvSpPr>
          <p:cNvPr id="41" name="TextBox 40"/>
          <p:cNvSpPr txBox="1"/>
          <p:nvPr/>
        </p:nvSpPr>
        <p:spPr>
          <a:xfrm>
            <a:off x="5329237" y="4005336"/>
            <a:ext cx="673224" cy="230460"/>
          </a:xfrm>
          <a:prstGeom prst="rect">
            <a:avLst/>
          </a:prstGeom>
          <a:noFill/>
        </p:spPr>
        <p:txBody>
          <a:bodyPr wrap="square">
            <a:spAutoFit/>
          </a:bodyPr>
          <a:lstStyle/>
          <a:p>
            <a:pPr algn="l"/>
            <a:r>
              <a:rPr sz="1950" b="0" i="0">
                <a:solidFill>
                  <a:srgbClr val="D9B45A"/>
                </a:solidFill>
                <a:latin typeface="Rubik"/>
              </a:rPr>
              <a:t>55–65%</a:t>
            </a:r>
          </a:p>
        </p:txBody>
      </p:sp>
      <p:sp>
        <p:nvSpPr>
          <p:cNvPr id="42" name="TextBox 41"/>
          <p:cNvSpPr txBox="1"/>
          <p:nvPr/>
        </p:nvSpPr>
        <p:spPr>
          <a:xfrm>
            <a:off x="6710362" y="4030563"/>
            <a:ext cx="1390947" cy="231457"/>
          </a:xfrm>
          <a:prstGeom prst="rect">
            <a:avLst/>
          </a:prstGeom>
          <a:noFill/>
        </p:spPr>
        <p:txBody>
          <a:bodyPr wrap="square">
            <a:spAutoFit/>
          </a:bodyPr>
          <a:lstStyle/>
          <a:p>
            <a:pPr algn="l"/>
            <a:r>
              <a:rPr sz="2025" b="0" i="0">
                <a:solidFill>
                  <a:srgbClr val="46534A"/>
                </a:solidFill>
                <a:latin typeface="Rubik"/>
              </a:rPr>
              <a:t>Limited edition · gifting</a:t>
            </a:r>
          </a:p>
        </p:txBody>
      </p:sp>
      <p:sp>
        <p:nvSpPr>
          <p:cNvPr id="43" name="TextBox 42"/>
          <p:cNvSpPr txBox="1"/>
          <p:nvPr/>
        </p:nvSpPr>
        <p:spPr>
          <a:xfrm>
            <a:off x="609600" y="4678709"/>
            <a:ext cx="666750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44" name="TextBox 43"/>
          <p:cNvSpPr txBox="1"/>
          <p:nvPr/>
        </p:nvSpPr>
        <p:spPr>
          <a:xfrm>
            <a:off x="7772400" y="4678709"/>
            <a:ext cx="762000" cy="205740"/>
          </a:xfrm>
          <a:prstGeom prst="rect">
            <a:avLst/>
          </a:prstGeom>
          <a:noFill/>
        </p:spPr>
        <p:txBody>
          <a:bodyPr wrap="square">
            <a:spAutoFit/>
          </a:bodyPr>
          <a:lstStyle/>
          <a:p>
            <a:pPr algn="r"/>
            <a:r>
              <a:rPr sz="1800" b="0" i="0" spc="150">
                <a:solidFill>
                  <a:srgbClr val="8A6A22"/>
                </a:solidFill>
                <a:latin typeface="Rubik"/>
              </a:rPr>
              <a:t>13 / 35</a:t>
            </a:r>
          </a:p>
        </p:txBody>
      </p:sp>
    </p:spTree>
  </p:cSld>
  <p:clrMapOvr>
    <a:masterClrMapping/>
  </p:clrMapOvr>
  <p:transition dur="500" advClick="1">
    <p:fade/>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4.png"/>
          <p:cNvPicPr>
            <a:picLocks noChangeAspect="1"/>
          </p:cNvPicPr>
          <p:nvPr/>
        </p:nvPicPr>
        <p:blipFill>
          <a:blip r:embed="rId2"/>
          <a:stretch>
            <a:fillRect/>
          </a:stretch>
        </p:blipFill>
        <p:spPr>
          <a:xfrm>
            <a:off x="0" y="0"/>
            <a:ext cx="9144000" cy="5143500"/>
          </a:xfrm>
          <a:prstGeom prst="rect">
            <a:avLst/>
          </a:prstGeom>
        </p:spPr>
      </p:pic>
      <p:pic>
        <p:nvPicPr>
          <p:cNvPr id="3" name="Picture 2" descr="e12f7b124403f742219234eab970e78a.jpg"/>
          <p:cNvPicPr>
            <a:picLocks noChangeAspect="1"/>
          </p:cNvPicPr>
          <p:nvPr/>
        </p:nvPicPr>
        <p:blipFill>
          <a:blip r:embed="rId3"/>
          <a:stretch>
            <a:fillRect/>
          </a:stretch>
        </p:blipFill>
        <p:spPr>
          <a:xfrm>
            <a:off x="609600" y="1602730"/>
            <a:ext cx="2667000" cy="2386012"/>
          </a:xfrm>
          <a:prstGeom prst="rect">
            <a:avLst/>
          </a:prstGeom>
        </p:spPr>
      </p:pic>
      <p:sp>
        <p:nvSpPr>
          <p:cNvPr id="4" name="TextBox 3"/>
          <p:cNvSpPr txBox="1"/>
          <p:nvPr/>
        </p:nvSpPr>
        <p:spPr>
          <a:xfrm>
            <a:off x="609600" y="533400"/>
            <a:ext cx="4472657" cy="205740"/>
          </a:xfrm>
          <a:prstGeom prst="rect">
            <a:avLst/>
          </a:prstGeom>
          <a:noFill/>
        </p:spPr>
        <p:txBody>
          <a:bodyPr wrap="square">
            <a:spAutoFit/>
          </a:bodyPr>
          <a:lstStyle/>
          <a:p>
            <a:pPr algn="l"/>
            <a:r>
              <a:rPr sz="1800" b="0" i="0" spc="300">
                <a:solidFill>
                  <a:srgbClr val="8A6A22"/>
                </a:solidFill>
                <a:latin typeface="Rubik"/>
              </a:rPr>
              <a:t>PRODUCTS · 1-10</a:t>
            </a:r>
          </a:p>
        </p:txBody>
      </p:sp>
      <p:sp>
        <p:nvSpPr>
          <p:cNvPr id="5" name="TextBox 4"/>
          <p:cNvSpPr txBox="1"/>
          <p:nvPr/>
        </p:nvSpPr>
        <p:spPr>
          <a:xfrm>
            <a:off x="609600" y="721965"/>
            <a:ext cx="4472657" cy="548640"/>
          </a:xfrm>
          <a:prstGeom prst="rect">
            <a:avLst/>
          </a:prstGeom>
          <a:noFill/>
        </p:spPr>
        <p:txBody>
          <a:bodyPr wrap="square">
            <a:spAutoFit/>
          </a:bodyPr>
          <a:lstStyle/>
          <a:p>
            <a:pPr algn="l"/>
            <a:r>
              <a:rPr sz="4800" b="0" i="0">
                <a:solidFill>
                  <a:srgbClr val="14281C"/>
                </a:solidFill>
                <a:latin typeface="Cormorant Garamond"/>
              </a:rPr>
              <a:t>Growth Engine — MAGON Flavored</a:t>
            </a:r>
          </a:p>
        </p:txBody>
      </p:sp>
      <p:sp>
        <p:nvSpPr>
          <p:cNvPr id="6" name="TextBox 5"/>
          <p:cNvSpPr txBox="1"/>
          <p:nvPr/>
        </p:nvSpPr>
        <p:spPr>
          <a:xfrm>
            <a:off x="3890962" y="1374353"/>
            <a:ext cx="1426517" cy="205740"/>
          </a:xfrm>
          <a:prstGeom prst="rect">
            <a:avLst/>
          </a:prstGeom>
          <a:noFill/>
        </p:spPr>
        <p:txBody>
          <a:bodyPr wrap="square">
            <a:spAutoFit/>
          </a:bodyPr>
          <a:lstStyle/>
          <a:p>
            <a:pPr algn="l"/>
            <a:r>
              <a:rPr sz="1800" b="0" i="0" spc="225">
                <a:solidFill>
                  <a:srgbClr val="8A6A22"/>
                </a:solidFill>
                <a:latin typeface="Rubik"/>
              </a:rPr>
              <a:t>FROM OIL TO FLAVOR</a:t>
            </a:r>
          </a:p>
        </p:txBody>
      </p:sp>
      <p:sp>
        <p:nvSpPr>
          <p:cNvPr id="7" name="TextBox 6"/>
          <p:cNvSpPr txBox="1"/>
          <p:nvPr/>
        </p:nvSpPr>
        <p:spPr>
          <a:xfrm>
            <a:off x="3586162" y="1604888"/>
            <a:ext cx="4791075" cy="214312"/>
          </a:xfrm>
          <a:prstGeom prst="rect">
            <a:avLst/>
          </a:prstGeom>
          <a:noFill/>
        </p:spPr>
        <p:txBody>
          <a:bodyPr wrap="square">
            <a:spAutoFit/>
          </a:bodyPr>
          <a:lstStyle/>
          <a:p>
            <a:pPr algn="l"/>
            <a:r>
              <a:rPr sz="1875" b="0" i="0">
                <a:solidFill>
                  <a:srgbClr val="1F2B23"/>
                </a:solidFill>
                <a:latin typeface="Rubik"/>
              </a:rPr>
              <a:t>Do not sell only “olive oil”. Sell a cooking idea:</a:t>
            </a:r>
          </a:p>
        </p:txBody>
      </p:sp>
      <p:sp>
        <p:nvSpPr>
          <p:cNvPr id="8" name="TextBox 7"/>
          <p:cNvSpPr txBox="1"/>
          <p:nvPr/>
        </p:nvSpPr>
        <p:spPr>
          <a:xfrm>
            <a:off x="3586162" y="1813247"/>
            <a:ext cx="805383" cy="205740"/>
          </a:xfrm>
          <a:prstGeom prst="rect">
            <a:avLst/>
          </a:prstGeom>
          <a:noFill/>
        </p:spPr>
        <p:txBody>
          <a:bodyPr wrap="square">
            <a:spAutoFit/>
          </a:bodyPr>
          <a:lstStyle/>
          <a:p>
            <a:pPr algn="l"/>
            <a:r>
              <a:rPr sz="1800" b="0" i="0">
                <a:solidFill>
                  <a:srgbClr val="14281C"/>
                </a:solidFill>
                <a:latin typeface="Rubik"/>
              </a:rPr>
              <a:t>Lemon × fish</a:t>
            </a:r>
          </a:p>
        </p:txBody>
      </p:sp>
      <p:sp>
        <p:nvSpPr>
          <p:cNvPr id="9" name="TextBox 8"/>
          <p:cNvSpPr txBox="1"/>
          <p:nvPr/>
        </p:nvSpPr>
        <p:spPr>
          <a:xfrm>
            <a:off x="4439170" y="1813247"/>
            <a:ext cx="1297111" cy="205740"/>
          </a:xfrm>
          <a:prstGeom prst="rect">
            <a:avLst/>
          </a:prstGeom>
          <a:noFill/>
        </p:spPr>
        <p:txBody>
          <a:bodyPr wrap="square">
            <a:spAutoFit/>
          </a:bodyPr>
          <a:lstStyle/>
          <a:p>
            <a:pPr algn="l"/>
            <a:r>
              <a:rPr sz="1800" b="0" i="0">
                <a:solidFill>
                  <a:srgbClr val="14281C"/>
                </a:solidFill>
                <a:latin typeface="Rubik"/>
              </a:rPr>
              <a:t>Basil × pasta / tomato</a:t>
            </a:r>
          </a:p>
        </p:txBody>
      </p:sp>
      <p:sp>
        <p:nvSpPr>
          <p:cNvPr id="10" name="TextBox 9"/>
          <p:cNvSpPr txBox="1"/>
          <p:nvPr/>
        </p:nvSpPr>
        <p:spPr>
          <a:xfrm>
            <a:off x="5783907" y="1813247"/>
            <a:ext cx="1518195" cy="205740"/>
          </a:xfrm>
          <a:prstGeom prst="rect">
            <a:avLst/>
          </a:prstGeom>
          <a:noFill/>
        </p:spPr>
        <p:txBody>
          <a:bodyPr wrap="square">
            <a:spAutoFit/>
          </a:bodyPr>
          <a:lstStyle/>
          <a:p>
            <a:pPr algn="l"/>
            <a:r>
              <a:rPr sz="1800" b="0" i="0">
                <a:solidFill>
                  <a:srgbClr val="14281C"/>
                </a:solidFill>
                <a:latin typeface="Rubik"/>
              </a:rPr>
              <a:t>Rosemary × meat / potato</a:t>
            </a:r>
          </a:p>
        </p:txBody>
      </p:sp>
      <p:sp>
        <p:nvSpPr>
          <p:cNvPr id="11" name="TextBox 10"/>
          <p:cNvSpPr txBox="1"/>
          <p:nvPr/>
        </p:nvSpPr>
        <p:spPr>
          <a:xfrm>
            <a:off x="7349728" y="1813247"/>
            <a:ext cx="1001092" cy="205740"/>
          </a:xfrm>
          <a:prstGeom prst="rect">
            <a:avLst/>
          </a:prstGeom>
          <a:noFill/>
        </p:spPr>
        <p:txBody>
          <a:bodyPr wrap="square">
            <a:spAutoFit/>
          </a:bodyPr>
          <a:lstStyle/>
          <a:p>
            <a:pPr algn="l"/>
            <a:r>
              <a:rPr sz="1800" b="0" i="0">
                <a:solidFill>
                  <a:srgbClr val="14281C"/>
                </a:solidFill>
                <a:latin typeface="Rubik"/>
              </a:rPr>
              <a:t>Vanilla × dessert</a:t>
            </a:r>
          </a:p>
        </p:txBody>
      </p:sp>
      <p:sp>
        <p:nvSpPr>
          <p:cNvPr id="12" name="TextBox 11"/>
          <p:cNvSpPr txBox="1"/>
          <p:nvPr/>
        </p:nvSpPr>
        <p:spPr>
          <a:xfrm>
            <a:off x="3586162" y="2058962"/>
            <a:ext cx="4791075" cy="205740"/>
          </a:xfrm>
          <a:prstGeom prst="rect">
            <a:avLst/>
          </a:prstGeom>
          <a:noFill/>
        </p:spPr>
        <p:txBody>
          <a:bodyPr wrap="square">
            <a:spAutoFit/>
          </a:bodyPr>
          <a:lstStyle/>
          <a:p>
            <a:pPr algn="l"/>
            <a:r>
              <a:rPr sz="1800" b="0" i="1">
                <a:solidFill>
                  <a:srgbClr val="3E6B4C"/>
                </a:solidFill>
                <a:latin typeface="Rubik"/>
              </a:rPr>
              <a:t>7 natural flavors create a discovery platform.</a:t>
            </a:r>
          </a:p>
        </p:txBody>
      </p:sp>
      <p:sp>
        <p:nvSpPr>
          <p:cNvPr id="13" name="TextBox 12"/>
          <p:cNvSpPr txBox="1"/>
          <p:nvPr/>
        </p:nvSpPr>
        <p:spPr>
          <a:xfrm>
            <a:off x="3890962" y="2588493"/>
            <a:ext cx="1299567" cy="205740"/>
          </a:xfrm>
          <a:prstGeom prst="rect">
            <a:avLst/>
          </a:prstGeom>
          <a:noFill/>
        </p:spPr>
        <p:txBody>
          <a:bodyPr wrap="square">
            <a:spAutoFit/>
          </a:bodyPr>
          <a:lstStyle/>
          <a:p>
            <a:pPr algn="l"/>
            <a:r>
              <a:rPr sz="1800" b="0" i="0" spc="225">
                <a:solidFill>
                  <a:srgbClr val="8A6A22"/>
                </a:solidFill>
                <a:latin typeface="Rubik"/>
              </a:rPr>
              <a:t>DIGITAL MECHANIC</a:t>
            </a:r>
          </a:p>
        </p:txBody>
      </p:sp>
      <p:sp>
        <p:nvSpPr>
          <p:cNvPr id="14" name="TextBox 13"/>
          <p:cNvSpPr txBox="1"/>
          <p:nvPr/>
        </p:nvSpPr>
        <p:spPr>
          <a:xfrm>
            <a:off x="3586162" y="2857127"/>
            <a:ext cx="1316459" cy="214312"/>
          </a:xfrm>
          <a:prstGeom prst="rect">
            <a:avLst/>
          </a:prstGeom>
          <a:noFill/>
        </p:spPr>
        <p:txBody>
          <a:bodyPr wrap="square">
            <a:spAutoFit/>
          </a:bodyPr>
          <a:lstStyle/>
          <a:p>
            <a:pPr algn="l"/>
            <a:r>
              <a:rPr sz="1875" b="0" i="0">
                <a:solidFill>
                  <a:srgbClr val="1F2B23"/>
                </a:solidFill>
                <a:latin typeface="Rubik"/>
              </a:rPr>
              <a:t>15–30 sec recipe videos</a:t>
            </a:r>
          </a:p>
        </p:txBody>
      </p:sp>
      <p:sp>
        <p:nvSpPr>
          <p:cNvPr id="15" name="TextBox 14"/>
          <p:cNvSpPr txBox="1"/>
          <p:nvPr/>
        </p:nvSpPr>
        <p:spPr>
          <a:xfrm>
            <a:off x="4997871" y="2819027"/>
            <a:ext cx="1421085" cy="291465"/>
          </a:xfrm>
          <a:prstGeom prst="rect">
            <a:avLst/>
          </a:prstGeom>
          <a:noFill/>
        </p:spPr>
        <p:txBody>
          <a:bodyPr wrap="square">
            <a:spAutoFit/>
          </a:bodyPr>
          <a:lstStyle/>
          <a:p>
            <a:pPr algn="l"/>
            <a:r>
              <a:rPr sz="2550" b="0" i="1">
                <a:solidFill>
                  <a:srgbClr val="14281C"/>
                </a:solidFill>
                <a:latin typeface="Cormorant Garamond"/>
              </a:rPr>
              <a:t>“1 dish + 1 oil + 1 minute”</a:t>
            </a:r>
          </a:p>
        </p:txBody>
      </p:sp>
      <p:sp>
        <p:nvSpPr>
          <p:cNvPr id="16" name="TextBox 15"/>
          <p:cNvSpPr txBox="1"/>
          <p:nvPr/>
        </p:nvSpPr>
        <p:spPr>
          <a:xfrm>
            <a:off x="3586162" y="3093318"/>
            <a:ext cx="976982" cy="205740"/>
          </a:xfrm>
          <a:prstGeom prst="rect">
            <a:avLst/>
          </a:prstGeom>
          <a:noFill/>
        </p:spPr>
        <p:txBody>
          <a:bodyPr wrap="square">
            <a:spAutoFit/>
          </a:bodyPr>
          <a:lstStyle/>
          <a:p>
            <a:pPr algn="l"/>
            <a:r>
              <a:rPr sz="1800" b="0" i="0">
                <a:solidFill>
                  <a:srgbClr val="14281C"/>
                </a:solidFill>
                <a:latin typeface="Rubik"/>
              </a:rPr>
              <a:t>Creator seeding</a:t>
            </a:r>
          </a:p>
        </p:txBody>
      </p:sp>
      <p:sp>
        <p:nvSpPr>
          <p:cNvPr id="17" name="TextBox 16"/>
          <p:cNvSpPr txBox="1"/>
          <p:nvPr/>
        </p:nvSpPr>
        <p:spPr>
          <a:xfrm>
            <a:off x="4610769" y="3093318"/>
            <a:ext cx="1163612" cy="205740"/>
          </a:xfrm>
          <a:prstGeom prst="rect">
            <a:avLst/>
          </a:prstGeom>
          <a:noFill/>
        </p:spPr>
        <p:txBody>
          <a:bodyPr wrap="square">
            <a:spAutoFit/>
          </a:bodyPr>
          <a:lstStyle/>
          <a:p>
            <a:pPr algn="l"/>
            <a:r>
              <a:rPr sz="1800" b="0" i="0">
                <a:solidFill>
                  <a:srgbClr val="14281C"/>
                </a:solidFill>
                <a:latin typeface="Rubik"/>
              </a:rPr>
              <a:t>Chef collaborations</a:t>
            </a:r>
          </a:p>
        </p:txBody>
      </p:sp>
      <p:sp>
        <p:nvSpPr>
          <p:cNvPr id="18" name="TextBox 17"/>
          <p:cNvSpPr txBox="1"/>
          <p:nvPr/>
        </p:nvSpPr>
        <p:spPr>
          <a:xfrm>
            <a:off x="5822007" y="3093318"/>
            <a:ext cx="1302841" cy="205740"/>
          </a:xfrm>
          <a:prstGeom prst="rect">
            <a:avLst/>
          </a:prstGeom>
          <a:noFill/>
        </p:spPr>
        <p:txBody>
          <a:bodyPr wrap="square">
            <a:spAutoFit/>
          </a:bodyPr>
          <a:lstStyle/>
          <a:p>
            <a:pPr algn="l"/>
            <a:r>
              <a:rPr sz="1800" b="0" i="0">
                <a:solidFill>
                  <a:srgbClr val="14281C"/>
                </a:solidFill>
                <a:latin typeface="Rubik"/>
              </a:rPr>
              <a:t>UGC / recipe contests</a:t>
            </a:r>
          </a:p>
        </p:txBody>
      </p:sp>
      <p:sp>
        <p:nvSpPr>
          <p:cNvPr id="19" name="TextBox 18"/>
          <p:cNvSpPr txBox="1"/>
          <p:nvPr/>
        </p:nvSpPr>
        <p:spPr>
          <a:xfrm>
            <a:off x="7172473" y="3093318"/>
            <a:ext cx="919088" cy="205740"/>
          </a:xfrm>
          <a:prstGeom prst="rect">
            <a:avLst/>
          </a:prstGeom>
          <a:noFill/>
        </p:spPr>
        <p:txBody>
          <a:bodyPr wrap="square">
            <a:spAutoFit/>
          </a:bodyPr>
          <a:lstStyle/>
          <a:p>
            <a:pPr algn="l"/>
            <a:r>
              <a:rPr sz="1800" b="0" i="0">
                <a:solidFill>
                  <a:srgbClr val="14281C"/>
                </a:solidFill>
                <a:latin typeface="Rubik"/>
              </a:rPr>
              <a:t>Discovery Sets</a:t>
            </a:r>
          </a:p>
        </p:txBody>
      </p:sp>
      <p:sp>
        <p:nvSpPr>
          <p:cNvPr id="20" name="TextBox 19"/>
          <p:cNvSpPr txBox="1"/>
          <p:nvPr/>
        </p:nvSpPr>
        <p:spPr>
          <a:xfrm>
            <a:off x="3886200" y="3656186"/>
            <a:ext cx="1303287" cy="205740"/>
          </a:xfrm>
          <a:prstGeom prst="rect">
            <a:avLst/>
          </a:prstGeom>
          <a:noFill/>
        </p:spPr>
        <p:txBody>
          <a:bodyPr wrap="square">
            <a:spAutoFit/>
          </a:bodyPr>
          <a:lstStyle/>
          <a:p>
            <a:pPr algn="l"/>
            <a:r>
              <a:rPr sz="1800" b="0" i="0" spc="225">
                <a:solidFill>
                  <a:srgbClr val="D9B45A"/>
                </a:solidFill>
                <a:latin typeface="Rubik"/>
              </a:rPr>
              <a:t>COMMERCIAL GOAL</a:t>
            </a:r>
          </a:p>
        </p:txBody>
      </p:sp>
      <p:sp>
        <p:nvSpPr>
          <p:cNvPr id="21" name="TextBox 20"/>
          <p:cNvSpPr txBox="1"/>
          <p:nvPr/>
        </p:nvSpPr>
        <p:spPr>
          <a:xfrm>
            <a:off x="3581400" y="3886720"/>
            <a:ext cx="4800600" cy="222885"/>
          </a:xfrm>
          <a:prstGeom prst="rect">
            <a:avLst/>
          </a:prstGeom>
          <a:noFill/>
        </p:spPr>
        <p:txBody>
          <a:bodyPr wrap="square">
            <a:spAutoFit/>
          </a:bodyPr>
          <a:lstStyle/>
          <a:p>
            <a:pPr algn="l"/>
            <a:r>
              <a:rPr sz="1950" b="0" i="0">
                <a:solidFill>
                  <a:srgbClr val="F7F4EC"/>
                </a:solidFill>
                <a:latin typeface="Rubik"/>
              </a:rPr>
              <a:t>Increase trial → Increase basket size → Create repeat purchase</a:t>
            </a:r>
          </a:p>
        </p:txBody>
      </p:sp>
      <p:sp>
        <p:nvSpPr>
          <p:cNvPr id="22" name="TextBox 21"/>
          <p:cNvSpPr txBox="1"/>
          <p:nvPr/>
        </p:nvSpPr>
        <p:spPr>
          <a:xfrm>
            <a:off x="3581400" y="4107656"/>
            <a:ext cx="4800600" cy="205740"/>
          </a:xfrm>
          <a:prstGeom prst="rect">
            <a:avLst/>
          </a:prstGeom>
          <a:noFill/>
        </p:spPr>
        <p:txBody>
          <a:bodyPr wrap="square">
            <a:spAutoFit/>
          </a:bodyPr>
          <a:lstStyle/>
          <a:p>
            <a:pPr algn="l"/>
            <a:r>
              <a:rPr sz="1800" b="0" i="1">
                <a:solidFill>
                  <a:srgbClr val="C9D6C4"/>
                </a:solidFill>
                <a:latin typeface="Rubik"/>
              </a:rPr>
              <a:t>Bundle Flavored with Classic / Premium and recipes.</a:t>
            </a:r>
          </a:p>
        </p:txBody>
      </p:sp>
      <p:sp>
        <p:nvSpPr>
          <p:cNvPr id="23" name="TextBox 22"/>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14 / 35</a:t>
            </a:r>
          </a:p>
        </p:txBody>
      </p:sp>
    </p:spTree>
  </p:cSld>
  <p:clrMapOvr>
    <a:masterClrMapping/>
  </p:clrMapOvr>
  <p:transition dur="500" advClick="1">
    <p:fade/>
  </p:transition>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5.png"/>
          <p:cNvPicPr>
            <a:picLocks noChangeAspect="1"/>
          </p:cNvPicPr>
          <p:nvPr/>
        </p:nvPicPr>
        <p:blipFill>
          <a:blip r:embed="rId2"/>
          <a:stretch>
            <a:fillRect/>
          </a:stretch>
        </p:blipFill>
        <p:spPr>
          <a:xfrm>
            <a:off x="0" y="0"/>
            <a:ext cx="9144000" cy="5143500"/>
          </a:xfrm>
          <a:prstGeom prst="rect">
            <a:avLst/>
          </a:prstGeom>
        </p:spPr>
      </p:pic>
      <p:pic>
        <p:nvPicPr>
          <p:cNvPr id="3" name="Picture 2" descr="c3a2c5f0ed5e85e7c51bbc8e2c97aca0.jpg"/>
          <p:cNvPicPr>
            <a:picLocks noChangeAspect="1"/>
          </p:cNvPicPr>
          <p:nvPr/>
        </p:nvPicPr>
        <p:blipFill>
          <a:blip r:embed="rId3"/>
          <a:stretch>
            <a:fillRect/>
          </a:stretch>
        </p:blipFill>
        <p:spPr>
          <a:xfrm>
            <a:off x="0" y="0"/>
            <a:ext cx="3619500" cy="5143500"/>
          </a:xfrm>
          <a:prstGeom prst="rect">
            <a:avLst/>
          </a:prstGeom>
        </p:spPr>
      </p:pic>
      <p:sp>
        <p:nvSpPr>
          <p:cNvPr id="4" name="TextBox 3"/>
          <p:cNvSpPr txBox="1"/>
          <p:nvPr/>
        </p:nvSpPr>
        <p:spPr>
          <a:xfrm>
            <a:off x="4000500" y="533400"/>
            <a:ext cx="3042865" cy="205740"/>
          </a:xfrm>
          <a:prstGeom prst="rect">
            <a:avLst/>
          </a:prstGeom>
          <a:noFill/>
        </p:spPr>
        <p:txBody>
          <a:bodyPr wrap="square">
            <a:spAutoFit/>
          </a:bodyPr>
          <a:lstStyle/>
          <a:p>
            <a:pPr algn="l"/>
            <a:r>
              <a:rPr sz="1800" b="0" i="0" spc="300">
                <a:solidFill>
                  <a:srgbClr val="D9B45A"/>
                </a:solidFill>
                <a:latin typeface="Rubik"/>
              </a:rPr>
              <a:t>PRODUCTS · 1-11</a:t>
            </a:r>
          </a:p>
        </p:txBody>
      </p:sp>
      <p:sp>
        <p:nvSpPr>
          <p:cNvPr id="5" name="TextBox 4"/>
          <p:cNvSpPr txBox="1"/>
          <p:nvPr/>
        </p:nvSpPr>
        <p:spPr>
          <a:xfrm>
            <a:off x="4000500" y="721965"/>
            <a:ext cx="3042865" cy="548640"/>
          </a:xfrm>
          <a:prstGeom prst="rect">
            <a:avLst/>
          </a:prstGeom>
          <a:noFill/>
        </p:spPr>
        <p:txBody>
          <a:bodyPr wrap="square">
            <a:spAutoFit/>
          </a:bodyPr>
          <a:lstStyle/>
          <a:p>
            <a:pPr algn="l"/>
            <a:r>
              <a:rPr sz="4800" b="0" i="0">
                <a:solidFill>
                  <a:srgbClr val="F7F4EC"/>
                </a:solidFill>
                <a:latin typeface="Cormorant Garamond"/>
              </a:rPr>
              <a:t>Luxury Halo — MOHRA</a:t>
            </a:r>
          </a:p>
        </p:txBody>
      </p:sp>
      <p:sp>
        <p:nvSpPr>
          <p:cNvPr id="6" name="TextBox 5"/>
          <p:cNvSpPr txBox="1"/>
          <p:nvPr/>
        </p:nvSpPr>
        <p:spPr>
          <a:xfrm>
            <a:off x="4672012" y="1347713"/>
            <a:ext cx="1962150" cy="205740"/>
          </a:xfrm>
          <a:prstGeom prst="rect">
            <a:avLst/>
          </a:prstGeom>
          <a:noFill/>
        </p:spPr>
        <p:txBody>
          <a:bodyPr wrap="square">
            <a:spAutoFit/>
          </a:bodyPr>
          <a:lstStyle/>
          <a:p>
            <a:pPr algn="l"/>
            <a:r>
              <a:rPr sz="1800" b="0" i="0" spc="225">
                <a:solidFill>
                  <a:srgbClr val="D9B45A"/>
                </a:solidFill>
                <a:latin typeface="Rubik"/>
              </a:rPr>
              <a:t>POSITIONING</a:t>
            </a:r>
          </a:p>
        </p:txBody>
      </p:sp>
      <p:sp>
        <p:nvSpPr>
          <p:cNvPr id="7" name="TextBox 6"/>
          <p:cNvSpPr txBox="1"/>
          <p:nvPr/>
        </p:nvSpPr>
        <p:spPr>
          <a:xfrm>
            <a:off x="4672012" y="1503908"/>
            <a:ext cx="1962150" cy="501401"/>
          </a:xfrm>
          <a:prstGeom prst="rect">
            <a:avLst/>
          </a:prstGeom>
          <a:noFill/>
        </p:spPr>
        <p:txBody>
          <a:bodyPr wrap="square">
            <a:spAutoFit/>
          </a:bodyPr>
          <a:lstStyle/>
          <a:p>
            <a:pPr algn="l"/>
            <a:r>
              <a:rPr sz="1950" b="0" i="0">
                <a:solidFill>
                  <a:srgbClr val="F7F4EC"/>
                </a:solidFill>
                <a:latin typeface="Rubik"/>
              </a:rPr>
              <a:t>Tunisian olive oil + artisan object · Not a commodity. Not a supermarket SKU.</a:t>
            </a:r>
          </a:p>
        </p:txBody>
      </p:sp>
      <p:sp>
        <p:nvSpPr>
          <p:cNvPr id="8" name="TextBox 7"/>
          <p:cNvSpPr txBox="1"/>
          <p:nvPr/>
        </p:nvSpPr>
        <p:spPr>
          <a:xfrm>
            <a:off x="6786562" y="1466924"/>
            <a:ext cx="1571625" cy="419100"/>
          </a:xfrm>
          <a:prstGeom prst="rect">
            <a:avLst/>
          </a:prstGeom>
          <a:noFill/>
        </p:spPr>
        <p:txBody>
          <a:bodyPr wrap="square">
            <a:spAutoFit/>
          </a:bodyPr>
          <a:lstStyle/>
          <a:p>
            <a:pPr algn="r"/>
            <a:r>
              <a:rPr sz="3000" b="0" i="1">
                <a:solidFill>
                  <a:srgbClr val="D9B45A"/>
                </a:solidFill>
                <a:latin typeface="Cormorant Garamond"/>
              </a:rPr>
              <a:t>Position as: “Tunisian Olive Oil Art”</a:t>
            </a:r>
          </a:p>
        </p:txBody>
      </p:sp>
      <p:sp>
        <p:nvSpPr>
          <p:cNvPr id="9" name="TextBox 8"/>
          <p:cNvSpPr txBox="1"/>
          <p:nvPr/>
        </p:nvSpPr>
        <p:spPr>
          <a:xfrm>
            <a:off x="4514850" y="2455812"/>
            <a:ext cx="858663" cy="205740"/>
          </a:xfrm>
          <a:prstGeom prst="rect">
            <a:avLst/>
          </a:prstGeom>
          <a:noFill/>
        </p:spPr>
        <p:txBody>
          <a:bodyPr wrap="square">
            <a:spAutoFit/>
          </a:bodyPr>
          <a:lstStyle/>
          <a:p>
            <a:pPr algn="l"/>
            <a:r>
              <a:rPr sz="1800" b="0" i="0" spc="225">
                <a:solidFill>
                  <a:srgbClr val="8A6A22"/>
                </a:solidFill>
                <a:latin typeface="Rubik"/>
              </a:rPr>
              <a:t>EXPERIENCE</a:t>
            </a:r>
          </a:p>
        </p:txBody>
      </p:sp>
      <p:sp>
        <p:nvSpPr>
          <p:cNvPr id="10" name="TextBox 9"/>
          <p:cNvSpPr txBox="1"/>
          <p:nvPr/>
        </p:nvSpPr>
        <p:spPr>
          <a:xfrm>
            <a:off x="4314304" y="2724447"/>
            <a:ext cx="1734070" cy="222885"/>
          </a:xfrm>
          <a:prstGeom prst="rect">
            <a:avLst/>
          </a:prstGeom>
          <a:noFill/>
        </p:spPr>
        <p:txBody>
          <a:bodyPr wrap="square">
            <a:spAutoFit/>
          </a:bodyPr>
          <a:lstStyle/>
          <a:p>
            <a:pPr algn="l"/>
            <a:r>
              <a:rPr sz="1950" b="0" i="0">
                <a:solidFill>
                  <a:srgbClr val="1F2B23"/>
                </a:solidFill>
                <a:latin typeface="Rubik"/>
              </a:rPr>
              <a:t>Craftsman story</a:t>
            </a:r>
          </a:p>
        </p:txBody>
      </p:sp>
      <p:sp>
        <p:nvSpPr>
          <p:cNvPr id="11" name="TextBox 10"/>
          <p:cNvSpPr txBox="1"/>
          <p:nvPr/>
        </p:nvSpPr>
        <p:spPr>
          <a:xfrm>
            <a:off x="4314304" y="2910185"/>
            <a:ext cx="1734070" cy="222885"/>
          </a:xfrm>
          <a:prstGeom prst="rect">
            <a:avLst/>
          </a:prstGeom>
          <a:noFill/>
        </p:spPr>
        <p:txBody>
          <a:bodyPr wrap="square">
            <a:spAutoFit/>
          </a:bodyPr>
          <a:lstStyle/>
          <a:p>
            <a:pPr algn="l"/>
            <a:r>
              <a:rPr sz="1950" b="0" i="0">
                <a:solidFill>
                  <a:srgbClr val="1F2B23"/>
                </a:solidFill>
                <a:latin typeface="Rubik"/>
              </a:rPr>
              <a:t>Limited edition</a:t>
            </a:r>
          </a:p>
        </p:txBody>
      </p:sp>
      <p:sp>
        <p:nvSpPr>
          <p:cNvPr id="12" name="TextBox 11"/>
          <p:cNvSpPr txBox="1"/>
          <p:nvPr/>
        </p:nvSpPr>
        <p:spPr>
          <a:xfrm>
            <a:off x="4314304" y="3095922"/>
            <a:ext cx="1734070" cy="222885"/>
          </a:xfrm>
          <a:prstGeom prst="rect">
            <a:avLst/>
          </a:prstGeom>
          <a:noFill/>
        </p:spPr>
        <p:txBody>
          <a:bodyPr wrap="square">
            <a:spAutoFit/>
          </a:bodyPr>
          <a:lstStyle/>
          <a:p>
            <a:pPr algn="l"/>
            <a:r>
              <a:rPr sz="1950" b="0" i="0">
                <a:solidFill>
                  <a:srgbClr val="1F2B23"/>
                </a:solidFill>
                <a:latin typeface="Rubik"/>
              </a:rPr>
              <a:t>Numbered bottle</a:t>
            </a:r>
          </a:p>
        </p:txBody>
      </p:sp>
      <p:sp>
        <p:nvSpPr>
          <p:cNvPr id="13" name="TextBox 12"/>
          <p:cNvSpPr txBox="1"/>
          <p:nvPr/>
        </p:nvSpPr>
        <p:spPr>
          <a:xfrm>
            <a:off x="4314304" y="3281660"/>
            <a:ext cx="1734070" cy="222885"/>
          </a:xfrm>
          <a:prstGeom prst="rect">
            <a:avLst/>
          </a:prstGeom>
          <a:noFill/>
        </p:spPr>
        <p:txBody>
          <a:bodyPr wrap="square">
            <a:spAutoFit/>
          </a:bodyPr>
          <a:lstStyle/>
          <a:p>
            <a:pPr algn="l"/>
            <a:r>
              <a:rPr sz="1950" b="0" i="0">
                <a:solidFill>
                  <a:srgbClr val="1F2B23"/>
                </a:solidFill>
                <a:latin typeface="Rubik"/>
              </a:rPr>
              <a:t>Premium gift box</a:t>
            </a:r>
          </a:p>
        </p:txBody>
      </p:sp>
      <p:sp>
        <p:nvSpPr>
          <p:cNvPr id="14" name="TextBox 13"/>
          <p:cNvSpPr txBox="1"/>
          <p:nvPr/>
        </p:nvSpPr>
        <p:spPr>
          <a:xfrm>
            <a:off x="4314304" y="3467397"/>
            <a:ext cx="1734070" cy="222885"/>
          </a:xfrm>
          <a:prstGeom prst="rect">
            <a:avLst/>
          </a:prstGeom>
          <a:noFill/>
        </p:spPr>
        <p:txBody>
          <a:bodyPr wrap="square">
            <a:spAutoFit/>
          </a:bodyPr>
          <a:lstStyle/>
          <a:p>
            <a:pPr algn="l"/>
            <a:r>
              <a:rPr sz="1950" b="0" i="0">
                <a:solidFill>
                  <a:srgbClr val="1F2B23"/>
                </a:solidFill>
                <a:latin typeface="Rubik"/>
              </a:rPr>
              <a:t>Story / certificate card</a:t>
            </a:r>
          </a:p>
        </p:txBody>
      </p:sp>
      <p:sp>
        <p:nvSpPr>
          <p:cNvPr id="15" name="TextBox 14"/>
          <p:cNvSpPr txBox="1"/>
          <p:nvPr/>
        </p:nvSpPr>
        <p:spPr>
          <a:xfrm>
            <a:off x="6829425" y="2455812"/>
            <a:ext cx="734987" cy="205740"/>
          </a:xfrm>
          <a:prstGeom prst="rect">
            <a:avLst/>
          </a:prstGeom>
          <a:noFill/>
        </p:spPr>
        <p:txBody>
          <a:bodyPr wrap="square">
            <a:spAutoFit/>
          </a:bodyPr>
          <a:lstStyle/>
          <a:p>
            <a:pPr algn="l"/>
            <a:r>
              <a:rPr sz="1800" b="0" i="0" spc="225">
                <a:solidFill>
                  <a:srgbClr val="8A6A22"/>
                </a:solidFill>
                <a:latin typeface="Rubik"/>
              </a:rPr>
              <a:t>CHANNELS</a:t>
            </a:r>
          </a:p>
        </p:txBody>
      </p:sp>
      <p:sp>
        <p:nvSpPr>
          <p:cNvPr id="16" name="TextBox 15"/>
          <p:cNvSpPr txBox="1"/>
          <p:nvPr/>
        </p:nvSpPr>
        <p:spPr>
          <a:xfrm>
            <a:off x="6628879" y="2724447"/>
            <a:ext cx="1734070" cy="222885"/>
          </a:xfrm>
          <a:prstGeom prst="rect">
            <a:avLst/>
          </a:prstGeom>
          <a:noFill/>
        </p:spPr>
        <p:txBody>
          <a:bodyPr wrap="square">
            <a:spAutoFit/>
          </a:bodyPr>
          <a:lstStyle/>
          <a:p>
            <a:pPr algn="l"/>
            <a:r>
              <a:rPr sz="1950" b="0" i="0">
                <a:solidFill>
                  <a:srgbClr val="1F2B23"/>
                </a:solidFill>
                <a:latin typeface="Rubik"/>
              </a:rPr>
              <a:t>Luxury department stores</a:t>
            </a:r>
          </a:p>
        </p:txBody>
      </p:sp>
      <p:sp>
        <p:nvSpPr>
          <p:cNvPr id="17" name="TextBox 16"/>
          <p:cNvSpPr txBox="1"/>
          <p:nvPr/>
        </p:nvSpPr>
        <p:spPr>
          <a:xfrm>
            <a:off x="6628879" y="2910185"/>
            <a:ext cx="1734070" cy="222885"/>
          </a:xfrm>
          <a:prstGeom prst="rect">
            <a:avLst/>
          </a:prstGeom>
          <a:noFill/>
        </p:spPr>
        <p:txBody>
          <a:bodyPr wrap="square">
            <a:spAutoFit/>
          </a:bodyPr>
          <a:lstStyle/>
          <a:p>
            <a:pPr algn="l"/>
            <a:r>
              <a:rPr sz="1950" b="0" i="0">
                <a:solidFill>
                  <a:srgbClr val="1F2B23"/>
                </a:solidFill>
                <a:latin typeface="Rubik"/>
              </a:rPr>
              <a:t>High-end gourmet</a:t>
            </a:r>
          </a:p>
        </p:txBody>
      </p:sp>
      <p:sp>
        <p:nvSpPr>
          <p:cNvPr id="18" name="TextBox 17"/>
          <p:cNvSpPr txBox="1"/>
          <p:nvPr/>
        </p:nvSpPr>
        <p:spPr>
          <a:xfrm>
            <a:off x="6628879" y="3095922"/>
            <a:ext cx="1734070" cy="222885"/>
          </a:xfrm>
          <a:prstGeom prst="rect">
            <a:avLst/>
          </a:prstGeom>
          <a:noFill/>
        </p:spPr>
        <p:txBody>
          <a:bodyPr wrap="square">
            <a:spAutoFit/>
          </a:bodyPr>
          <a:lstStyle/>
          <a:p>
            <a:pPr algn="l"/>
            <a:r>
              <a:rPr sz="1950" b="0" i="0">
                <a:solidFill>
                  <a:srgbClr val="1F2B23"/>
                </a:solidFill>
                <a:latin typeface="Rubik"/>
              </a:rPr>
              <a:t>5-star hotels</a:t>
            </a:r>
          </a:p>
        </p:txBody>
      </p:sp>
      <p:sp>
        <p:nvSpPr>
          <p:cNvPr id="19" name="TextBox 18"/>
          <p:cNvSpPr txBox="1"/>
          <p:nvPr/>
        </p:nvSpPr>
        <p:spPr>
          <a:xfrm>
            <a:off x="6628879" y="3281660"/>
            <a:ext cx="1734070" cy="222885"/>
          </a:xfrm>
          <a:prstGeom prst="rect">
            <a:avLst/>
          </a:prstGeom>
          <a:noFill/>
        </p:spPr>
        <p:txBody>
          <a:bodyPr wrap="square">
            <a:spAutoFit/>
          </a:bodyPr>
          <a:lstStyle/>
          <a:p>
            <a:pPr algn="l"/>
            <a:r>
              <a:rPr sz="1950" b="0" i="0">
                <a:solidFill>
                  <a:srgbClr val="1F2B23"/>
                </a:solidFill>
                <a:latin typeface="Rubik"/>
              </a:rPr>
              <a:t>Corporate gifting</a:t>
            </a:r>
          </a:p>
        </p:txBody>
      </p:sp>
      <p:sp>
        <p:nvSpPr>
          <p:cNvPr id="20" name="TextBox 19"/>
          <p:cNvSpPr txBox="1"/>
          <p:nvPr/>
        </p:nvSpPr>
        <p:spPr>
          <a:xfrm>
            <a:off x="6628879" y="3467397"/>
            <a:ext cx="1734070" cy="222885"/>
          </a:xfrm>
          <a:prstGeom prst="rect">
            <a:avLst/>
          </a:prstGeom>
          <a:noFill/>
        </p:spPr>
        <p:txBody>
          <a:bodyPr wrap="square">
            <a:spAutoFit/>
          </a:bodyPr>
          <a:lstStyle/>
          <a:p>
            <a:pPr algn="l"/>
            <a:r>
              <a:rPr sz="1950" b="0" i="0">
                <a:solidFill>
                  <a:srgbClr val="1F2B23"/>
                </a:solidFill>
                <a:latin typeface="Rubik"/>
              </a:rPr>
              <a:t>Tourism / destination retail</a:t>
            </a:r>
          </a:p>
        </p:txBody>
      </p:sp>
      <p:sp>
        <p:nvSpPr>
          <p:cNvPr id="21" name="TextBox 20"/>
          <p:cNvSpPr txBox="1"/>
          <p:nvPr/>
        </p:nvSpPr>
        <p:spPr>
          <a:xfrm>
            <a:off x="7581900" y="4678709"/>
            <a:ext cx="952500" cy="205740"/>
          </a:xfrm>
          <a:prstGeom prst="rect">
            <a:avLst/>
          </a:prstGeom>
          <a:noFill/>
        </p:spPr>
        <p:txBody>
          <a:bodyPr wrap="square">
            <a:spAutoFit/>
          </a:bodyPr>
          <a:lstStyle/>
          <a:p>
            <a:pPr algn="r"/>
            <a:r>
              <a:rPr sz="1800" b="0" i="0" spc="150">
                <a:solidFill>
                  <a:srgbClr val="D9B45A"/>
                </a:solidFill>
                <a:latin typeface="Rubik"/>
              </a:rPr>
              <a:t>15 / 35</a:t>
            </a:r>
          </a:p>
        </p:txBody>
      </p:sp>
    </p:spTree>
  </p:cSld>
  <p:clrMapOvr>
    <a:masterClrMapping/>
  </p:clrMapOvr>
  <p:transition dur="500" advClick="1">
    <p:fade/>
  </p:transition>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6.png"/>
          <p:cNvPicPr>
            <a:picLocks noChangeAspect="1"/>
          </p:cNvPicPr>
          <p:nvPr/>
        </p:nvPicPr>
        <p:blipFill>
          <a:blip r:embed="rId2"/>
          <a:stretch>
            <a:fillRect/>
          </a:stretch>
        </p:blipFill>
        <p:spPr>
          <a:xfrm>
            <a:off x="0" y="0"/>
            <a:ext cx="9144000" cy="5143500"/>
          </a:xfrm>
          <a:prstGeom prst="rect">
            <a:avLst/>
          </a:prstGeom>
        </p:spPr>
      </p:pic>
      <p:pic>
        <p:nvPicPr>
          <p:cNvPr id="3" name="Picture 2" descr="b2b42ba23621f633222e959312a9d5c1.png"/>
          <p:cNvPicPr>
            <a:picLocks noChangeAspect="1"/>
          </p:cNvPicPr>
          <p:nvPr/>
        </p:nvPicPr>
        <p:blipFill>
          <a:blip r:embed="rId3"/>
          <a:stretch>
            <a:fillRect/>
          </a:stretch>
        </p:blipFill>
        <p:spPr>
          <a:xfrm>
            <a:off x="862012" y="920874"/>
            <a:ext cx="571500" cy="542925"/>
          </a:xfrm>
          <a:prstGeom prst="rect">
            <a:avLst/>
          </a:prstGeom>
        </p:spPr>
      </p:pic>
      <p:pic>
        <p:nvPicPr>
          <p:cNvPr id="4" name="Picture 3" descr="0c616cb248f356dbf0fab972aae9b778.png"/>
          <p:cNvPicPr>
            <a:picLocks noChangeAspect="1"/>
          </p:cNvPicPr>
          <p:nvPr/>
        </p:nvPicPr>
        <p:blipFill>
          <a:blip r:embed="rId4"/>
          <a:stretch>
            <a:fillRect/>
          </a:stretch>
        </p:blipFill>
        <p:spPr>
          <a:xfrm>
            <a:off x="2243137" y="920874"/>
            <a:ext cx="571500" cy="542925"/>
          </a:xfrm>
          <a:prstGeom prst="rect">
            <a:avLst/>
          </a:prstGeom>
        </p:spPr>
      </p:pic>
      <p:pic>
        <p:nvPicPr>
          <p:cNvPr id="5" name="Picture 4" descr="f699644c55f0346ac79a5872bb57fb41.png"/>
          <p:cNvPicPr>
            <a:picLocks noChangeAspect="1"/>
          </p:cNvPicPr>
          <p:nvPr/>
        </p:nvPicPr>
        <p:blipFill>
          <a:blip r:embed="rId5"/>
          <a:stretch>
            <a:fillRect/>
          </a:stretch>
        </p:blipFill>
        <p:spPr>
          <a:xfrm>
            <a:off x="3624262" y="920874"/>
            <a:ext cx="571500" cy="542925"/>
          </a:xfrm>
          <a:prstGeom prst="rect">
            <a:avLst/>
          </a:prstGeom>
        </p:spPr>
      </p:pic>
      <p:pic>
        <p:nvPicPr>
          <p:cNvPr id="6" name="Picture 5" descr="f699644c55f0346ac79a5872bb57fb41.png"/>
          <p:cNvPicPr>
            <a:picLocks noChangeAspect="1"/>
          </p:cNvPicPr>
          <p:nvPr/>
        </p:nvPicPr>
        <p:blipFill>
          <a:blip r:embed="rId5"/>
          <a:stretch>
            <a:fillRect/>
          </a:stretch>
        </p:blipFill>
        <p:spPr>
          <a:xfrm>
            <a:off x="5005387" y="920874"/>
            <a:ext cx="571500" cy="542925"/>
          </a:xfrm>
          <a:prstGeom prst="rect">
            <a:avLst/>
          </a:prstGeom>
        </p:spPr>
      </p:pic>
      <p:pic>
        <p:nvPicPr>
          <p:cNvPr id="7" name="Picture 6" descr="60c3e70a95a4e0887e353b0f2a565dc4.png"/>
          <p:cNvPicPr>
            <a:picLocks noChangeAspect="1"/>
          </p:cNvPicPr>
          <p:nvPr/>
        </p:nvPicPr>
        <p:blipFill>
          <a:blip r:embed="rId6"/>
          <a:stretch>
            <a:fillRect/>
          </a:stretch>
        </p:blipFill>
        <p:spPr>
          <a:xfrm>
            <a:off x="6386512" y="920874"/>
            <a:ext cx="571500" cy="542925"/>
          </a:xfrm>
          <a:prstGeom prst="rect">
            <a:avLst/>
          </a:prstGeom>
        </p:spPr>
      </p:pic>
      <p:pic>
        <p:nvPicPr>
          <p:cNvPr id="8" name="Picture 7" descr="7c22edea684272bfab93087c4e497058.png"/>
          <p:cNvPicPr>
            <a:picLocks noChangeAspect="1"/>
          </p:cNvPicPr>
          <p:nvPr/>
        </p:nvPicPr>
        <p:blipFill>
          <a:blip r:embed="rId7"/>
          <a:stretch>
            <a:fillRect/>
          </a:stretch>
        </p:blipFill>
        <p:spPr>
          <a:xfrm>
            <a:off x="7767637" y="920874"/>
            <a:ext cx="571500" cy="542925"/>
          </a:xfrm>
          <a:prstGeom prst="rect">
            <a:avLst/>
          </a:prstGeom>
        </p:spPr>
      </p:pic>
      <p:pic>
        <p:nvPicPr>
          <p:cNvPr id="9" name="Picture 8" descr="c5b319ee548988dcb9b94d9ebef1c2dc.png"/>
          <p:cNvPicPr>
            <a:picLocks noChangeAspect="1"/>
          </p:cNvPicPr>
          <p:nvPr/>
        </p:nvPicPr>
        <p:blipFill>
          <a:blip r:embed="rId8"/>
          <a:stretch>
            <a:fillRect/>
          </a:stretch>
        </p:blipFill>
        <p:spPr>
          <a:xfrm>
            <a:off x="957262" y="1946448"/>
            <a:ext cx="571500" cy="542925"/>
          </a:xfrm>
          <a:prstGeom prst="rect">
            <a:avLst/>
          </a:prstGeom>
        </p:spPr>
      </p:pic>
      <p:pic>
        <p:nvPicPr>
          <p:cNvPr id="10" name="Picture 9" descr="c5b319ee548988dcb9b94d9ebef1c2dc.png"/>
          <p:cNvPicPr>
            <a:picLocks noChangeAspect="1"/>
          </p:cNvPicPr>
          <p:nvPr/>
        </p:nvPicPr>
        <p:blipFill>
          <a:blip r:embed="rId8"/>
          <a:stretch>
            <a:fillRect/>
          </a:stretch>
        </p:blipFill>
        <p:spPr>
          <a:xfrm>
            <a:off x="2621756" y="1946448"/>
            <a:ext cx="571500" cy="542925"/>
          </a:xfrm>
          <a:prstGeom prst="rect">
            <a:avLst/>
          </a:prstGeom>
        </p:spPr>
      </p:pic>
      <p:pic>
        <p:nvPicPr>
          <p:cNvPr id="11" name="Picture 10" descr="bebac9e307d3ecec932448393ba68463.png"/>
          <p:cNvPicPr>
            <a:picLocks noChangeAspect="1"/>
          </p:cNvPicPr>
          <p:nvPr/>
        </p:nvPicPr>
        <p:blipFill>
          <a:blip r:embed="rId9"/>
          <a:stretch>
            <a:fillRect/>
          </a:stretch>
        </p:blipFill>
        <p:spPr>
          <a:xfrm>
            <a:off x="4024312" y="1946448"/>
            <a:ext cx="1095375" cy="542925"/>
          </a:xfrm>
          <a:prstGeom prst="rect">
            <a:avLst/>
          </a:prstGeom>
        </p:spPr>
      </p:pic>
      <p:pic>
        <p:nvPicPr>
          <p:cNvPr id="12" name="Picture 11" descr="0cc6ed474a05d21a5c6547d8882c711d.png"/>
          <p:cNvPicPr>
            <a:picLocks noChangeAspect="1"/>
          </p:cNvPicPr>
          <p:nvPr/>
        </p:nvPicPr>
        <p:blipFill>
          <a:blip r:embed="rId10"/>
          <a:stretch>
            <a:fillRect/>
          </a:stretch>
        </p:blipFill>
        <p:spPr>
          <a:xfrm>
            <a:off x="5950743" y="1946448"/>
            <a:ext cx="571500" cy="542925"/>
          </a:xfrm>
          <a:prstGeom prst="rect">
            <a:avLst/>
          </a:prstGeom>
        </p:spPr>
      </p:pic>
      <p:pic>
        <p:nvPicPr>
          <p:cNvPr id="13" name="Picture 12" descr="718a67c65bcab9e102e7ea485d164154.png"/>
          <p:cNvPicPr>
            <a:picLocks noChangeAspect="1"/>
          </p:cNvPicPr>
          <p:nvPr/>
        </p:nvPicPr>
        <p:blipFill>
          <a:blip r:embed="rId11"/>
          <a:stretch>
            <a:fillRect/>
          </a:stretch>
        </p:blipFill>
        <p:spPr>
          <a:xfrm>
            <a:off x="7615237" y="1946448"/>
            <a:ext cx="571500" cy="542925"/>
          </a:xfrm>
          <a:prstGeom prst="rect">
            <a:avLst/>
          </a:prstGeom>
        </p:spPr>
      </p:pic>
      <p:pic>
        <p:nvPicPr>
          <p:cNvPr id="14" name="Picture 13" descr="4eec83f6d65e197be6fbbf29b65bdb14.png"/>
          <p:cNvPicPr>
            <a:picLocks noChangeAspect="1"/>
          </p:cNvPicPr>
          <p:nvPr/>
        </p:nvPicPr>
        <p:blipFill>
          <a:blip r:embed="rId12"/>
          <a:stretch>
            <a:fillRect/>
          </a:stretch>
        </p:blipFill>
        <p:spPr>
          <a:xfrm>
            <a:off x="957262" y="2972023"/>
            <a:ext cx="571500" cy="542925"/>
          </a:xfrm>
          <a:prstGeom prst="rect">
            <a:avLst/>
          </a:prstGeom>
        </p:spPr>
      </p:pic>
      <p:pic>
        <p:nvPicPr>
          <p:cNvPr id="15" name="Picture 14" descr="332855a598e2724497aca40321a4b3bd.png"/>
          <p:cNvPicPr>
            <a:picLocks noChangeAspect="1"/>
          </p:cNvPicPr>
          <p:nvPr/>
        </p:nvPicPr>
        <p:blipFill>
          <a:blip r:embed="rId13"/>
          <a:stretch>
            <a:fillRect/>
          </a:stretch>
        </p:blipFill>
        <p:spPr>
          <a:xfrm>
            <a:off x="2621756" y="2972023"/>
            <a:ext cx="571500" cy="542925"/>
          </a:xfrm>
          <a:prstGeom prst="rect">
            <a:avLst/>
          </a:prstGeom>
        </p:spPr>
      </p:pic>
      <p:pic>
        <p:nvPicPr>
          <p:cNvPr id="16" name="Picture 15" descr="88381179f900051c2cc3cc33dcdb6c68.png"/>
          <p:cNvPicPr>
            <a:picLocks noChangeAspect="1"/>
          </p:cNvPicPr>
          <p:nvPr/>
        </p:nvPicPr>
        <p:blipFill>
          <a:blip r:embed="rId14"/>
          <a:stretch>
            <a:fillRect/>
          </a:stretch>
        </p:blipFill>
        <p:spPr>
          <a:xfrm>
            <a:off x="4167187" y="2972023"/>
            <a:ext cx="809625" cy="542925"/>
          </a:xfrm>
          <a:prstGeom prst="rect">
            <a:avLst/>
          </a:prstGeom>
        </p:spPr>
      </p:pic>
      <p:pic>
        <p:nvPicPr>
          <p:cNvPr id="17" name="Picture 16" descr="27d4bd9484d6cfdb069cfa981265216c.png"/>
          <p:cNvPicPr>
            <a:picLocks noChangeAspect="1"/>
          </p:cNvPicPr>
          <p:nvPr/>
        </p:nvPicPr>
        <p:blipFill>
          <a:blip r:embed="rId15"/>
          <a:stretch>
            <a:fillRect/>
          </a:stretch>
        </p:blipFill>
        <p:spPr>
          <a:xfrm>
            <a:off x="5819775" y="2972023"/>
            <a:ext cx="833437" cy="542925"/>
          </a:xfrm>
          <a:prstGeom prst="rect">
            <a:avLst/>
          </a:prstGeom>
        </p:spPr>
      </p:pic>
      <p:pic>
        <p:nvPicPr>
          <p:cNvPr id="18" name="Picture 17" descr="f44da69b537277deccf85df7a22cb8df.png"/>
          <p:cNvPicPr>
            <a:picLocks noChangeAspect="1"/>
          </p:cNvPicPr>
          <p:nvPr/>
        </p:nvPicPr>
        <p:blipFill>
          <a:blip r:embed="rId16"/>
          <a:stretch>
            <a:fillRect/>
          </a:stretch>
        </p:blipFill>
        <p:spPr>
          <a:xfrm>
            <a:off x="7615237" y="2972023"/>
            <a:ext cx="571500" cy="542925"/>
          </a:xfrm>
          <a:prstGeom prst="rect">
            <a:avLst/>
          </a:prstGeom>
        </p:spPr>
      </p:pic>
      <p:pic>
        <p:nvPicPr>
          <p:cNvPr id="19" name="Picture 18" descr="4e7ff26eedc9981d6cbdca8cf3f2b1b4.png"/>
          <p:cNvPicPr>
            <a:picLocks noChangeAspect="1"/>
          </p:cNvPicPr>
          <p:nvPr/>
        </p:nvPicPr>
        <p:blipFill>
          <a:blip r:embed="rId17"/>
          <a:stretch>
            <a:fillRect/>
          </a:stretch>
        </p:blipFill>
        <p:spPr>
          <a:xfrm>
            <a:off x="957262" y="3997597"/>
            <a:ext cx="571500" cy="542925"/>
          </a:xfrm>
          <a:prstGeom prst="rect">
            <a:avLst/>
          </a:prstGeom>
        </p:spPr>
      </p:pic>
      <p:pic>
        <p:nvPicPr>
          <p:cNvPr id="20" name="Picture 19" descr="324bcedd7979c9d7246639f70c6f974b.png"/>
          <p:cNvPicPr>
            <a:picLocks noChangeAspect="1"/>
          </p:cNvPicPr>
          <p:nvPr/>
        </p:nvPicPr>
        <p:blipFill>
          <a:blip r:embed="rId18"/>
          <a:stretch>
            <a:fillRect/>
          </a:stretch>
        </p:blipFill>
        <p:spPr>
          <a:xfrm>
            <a:off x="2621756" y="3997597"/>
            <a:ext cx="571500" cy="542925"/>
          </a:xfrm>
          <a:prstGeom prst="rect">
            <a:avLst/>
          </a:prstGeom>
        </p:spPr>
      </p:pic>
      <p:pic>
        <p:nvPicPr>
          <p:cNvPr id="21" name="Picture 20" descr="2683482b472298e2ee6a9d51f7444701.png"/>
          <p:cNvPicPr>
            <a:picLocks noChangeAspect="1"/>
          </p:cNvPicPr>
          <p:nvPr/>
        </p:nvPicPr>
        <p:blipFill>
          <a:blip r:embed="rId19"/>
          <a:stretch>
            <a:fillRect/>
          </a:stretch>
        </p:blipFill>
        <p:spPr>
          <a:xfrm>
            <a:off x="4286250" y="3997597"/>
            <a:ext cx="571500" cy="542925"/>
          </a:xfrm>
          <a:prstGeom prst="rect">
            <a:avLst/>
          </a:prstGeom>
        </p:spPr>
      </p:pic>
      <p:pic>
        <p:nvPicPr>
          <p:cNvPr id="22" name="Picture 21" descr="15dff72831aee2f6b4382ca839fecb7c.png"/>
          <p:cNvPicPr>
            <a:picLocks noChangeAspect="1"/>
          </p:cNvPicPr>
          <p:nvPr/>
        </p:nvPicPr>
        <p:blipFill>
          <a:blip r:embed="rId20"/>
          <a:stretch>
            <a:fillRect/>
          </a:stretch>
        </p:blipFill>
        <p:spPr>
          <a:xfrm>
            <a:off x="5950743" y="3997597"/>
            <a:ext cx="571500" cy="542925"/>
          </a:xfrm>
          <a:prstGeom prst="rect">
            <a:avLst/>
          </a:prstGeom>
        </p:spPr>
      </p:pic>
      <p:pic>
        <p:nvPicPr>
          <p:cNvPr id="23" name="Picture 22" descr="8dab593b45f183518a27d0d02761c454.png"/>
          <p:cNvPicPr>
            <a:picLocks noChangeAspect="1"/>
          </p:cNvPicPr>
          <p:nvPr/>
        </p:nvPicPr>
        <p:blipFill>
          <a:blip r:embed="rId21"/>
          <a:stretch>
            <a:fillRect/>
          </a:stretch>
        </p:blipFill>
        <p:spPr>
          <a:xfrm>
            <a:off x="7615237" y="3997597"/>
            <a:ext cx="571500" cy="542925"/>
          </a:xfrm>
          <a:prstGeom prst="rect">
            <a:avLst/>
          </a:prstGeom>
        </p:spPr>
      </p:pic>
      <p:sp>
        <p:nvSpPr>
          <p:cNvPr id="24" name="TextBox 23"/>
          <p:cNvSpPr txBox="1"/>
          <p:nvPr/>
        </p:nvSpPr>
        <p:spPr>
          <a:xfrm>
            <a:off x="609600" y="266700"/>
            <a:ext cx="2558950" cy="205740"/>
          </a:xfrm>
          <a:prstGeom prst="rect">
            <a:avLst/>
          </a:prstGeom>
          <a:noFill/>
        </p:spPr>
        <p:txBody>
          <a:bodyPr wrap="square">
            <a:spAutoFit/>
          </a:bodyPr>
          <a:lstStyle/>
          <a:p>
            <a:pPr algn="l"/>
            <a:r>
              <a:rPr sz="1800" b="0" i="0" spc="300">
                <a:solidFill>
                  <a:srgbClr val="D9B45A"/>
                </a:solidFill>
                <a:latin typeface="Rubik"/>
              </a:rPr>
              <a:t>PRODUCTS · 1-12</a:t>
            </a:r>
          </a:p>
        </p:txBody>
      </p:sp>
      <p:sp>
        <p:nvSpPr>
          <p:cNvPr id="25" name="TextBox 24"/>
          <p:cNvSpPr txBox="1"/>
          <p:nvPr/>
        </p:nvSpPr>
        <p:spPr>
          <a:xfrm>
            <a:off x="609600" y="436215"/>
            <a:ext cx="2558950" cy="514350"/>
          </a:xfrm>
          <a:prstGeom prst="rect">
            <a:avLst/>
          </a:prstGeom>
          <a:noFill/>
        </p:spPr>
        <p:txBody>
          <a:bodyPr wrap="square">
            <a:spAutoFit/>
          </a:bodyPr>
          <a:lstStyle/>
          <a:p>
            <a:pPr algn="l"/>
            <a:r>
              <a:rPr sz="4500" b="0" i="0">
                <a:solidFill>
                  <a:srgbClr val="F7F4EC"/>
                </a:solidFill>
                <a:latin typeface="Cormorant Garamond"/>
              </a:rPr>
              <a:t>Awards &amp; Recognition</a:t>
            </a:r>
          </a:p>
        </p:txBody>
      </p:sp>
      <p:sp>
        <p:nvSpPr>
          <p:cNvPr id="26" name="TextBox 25"/>
          <p:cNvSpPr txBox="1"/>
          <p:nvPr/>
        </p:nvSpPr>
        <p:spPr>
          <a:xfrm>
            <a:off x="710579" y="1482849"/>
            <a:ext cx="874365" cy="240030"/>
          </a:xfrm>
          <a:prstGeom prst="rect">
            <a:avLst/>
          </a:prstGeom>
          <a:noFill/>
        </p:spPr>
        <p:txBody>
          <a:bodyPr wrap="square">
            <a:spAutoFit/>
          </a:bodyPr>
          <a:lstStyle/>
          <a:p>
            <a:pPr algn="ctr"/>
            <a:r>
              <a:rPr sz="2100" b="0" i="0">
                <a:solidFill>
                  <a:srgbClr val="F7F4EC"/>
                </a:solidFill>
                <a:latin typeface="Cormorant Garamond"/>
              </a:rPr>
              <a:t>OLIVINUS 2026</a:t>
            </a:r>
          </a:p>
        </p:txBody>
      </p:sp>
      <p:sp>
        <p:nvSpPr>
          <p:cNvPr id="27" name="TextBox 26"/>
          <p:cNvSpPr txBox="1"/>
          <p:nvPr/>
        </p:nvSpPr>
        <p:spPr>
          <a:xfrm>
            <a:off x="406375" y="1636141"/>
            <a:ext cx="1482849" cy="188595"/>
          </a:xfrm>
          <a:prstGeom prst="rect">
            <a:avLst/>
          </a:prstGeom>
          <a:noFill/>
        </p:spPr>
        <p:txBody>
          <a:bodyPr wrap="square">
            <a:spAutoFit/>
          </a:bodyPr>
          <a:lstStyle/>
          <a:p>
            <a:pPr algn="ctr"/>
            <a:r>
              <a:rPr sz="1650" b="0" i="0">
                <a:solidFill>
                  <a:srgbClr val="D9B45A"/>
                </a:solidFill>
                <a:latin typeface="Rubik"/>
              </a:rPr>
              <a:t>94/100 · Grand Prestige Gold</a:t>
            </a:r>
          </a:p>
        </p:txBody>
      </p:sp>
      <p:sp>
        <p:nvSpPr>
          <p:cNvPr id="28" name="TextBox 27"/>
          <p:cNvSpPr txBox="1"/>
          <p:nvPr/>
        </p:nvSpPr>
        <p:spPr>
          <a:xfrm>
            <a:off x="2091704" y="1482849"/>
            <a:ext cx="874365" cy="240030"/>
          </a:xfrm>
          <a:prstGeom prst="rect">
            <a:avLst/>
          </a:prstGeom>
          <a:noFill/>
        </p:spPr>
        <p:txBody>
          <a:bodyPr wrap="square">
            <a:spAutoFit/>
          </a:bodyPr>
          <a:lstStyle/>
          <a:p>
            <a:pPr algn="ctr"/>
            <a:r>
              <a:rPr sz="2100" b="0" i="0">
                <a:solidFill>
                  <a:srgbClr val="F7F4EC"/>
                </a:solidFill>
                <a:latin typeface="Cormorant Garamond"/>
              </a:rPr>
              <a:t>OLIVINUS 2026</a:t>
            </a:r>
          </a:p>
        </p:txBody>
      </p:sp>
      <p:sp>
        <p:nvSpPr>
          <p:cNvPr id="29" name="TextBox 28"/>
          <p:cNvSpPr txBox="1"/>
          <p:nvPr/>
        </p:nvSpPr>
        <p:spPr>
          <a:xfrm>
            <a:off x="1940867" y="1636141"/>
            <a:ext cx="1175965" cy="188595"/>
          </a:xfrm>
          <a:prstGeom prst="rect">
            <a:avLst/>
          </a:prstGeom>
          <a:noFill/>
        </p:spPr>
        <p:txBody>
          <a:bodyPr wrap="square">
            <a:spAutoFit/>
          </a:bodyPr>
          <a:lstStyle/>
          <a:p>
            <a:pPr algn="ctr"/>
            <a:r>
              <a:rPr sz="1650" b="0" i="0">
                <a:solidFill>
                  <a:srgbClr val="D9B45A"/>
                </a:solidFill>
                <a:latin typeface="Rubik"/>
              </a:rPr>
              <a:t>Prestige Gold · Chetoui</a:t>
            </a:r>
          </a:p>
        </p:txBody>
      </p:sp>
      <p:sp>
        <p:nvSpPr>
          <p:cNvPr id="30" name="TextBox 29"/>
          <p:cNvSpPr txBox="1"/>
          <p:nvPr/>
        </p:nvSpPr>
        <p:spPr>
          <a:xfrm>
            <a:off x="3387402" y="1482849"/>
            <a:ext cx="1045219" cy="240030"/>
          </a:xfrm>
          <a:prstGeom prst="rect">
            <a:avLst/>
          </a:prstGeom>
          <a:noFill/>
        </p:spPr>
        <p:txBody>
          <a:bodyPr wrap="square">
            <a:spAutoFit/>
          </a:bodyPr>
          <a:lstStyle/>
          <a:p>
            <a:pPr algn="ctr"/>
            <a:r>
              <a:rPr sz="2100" b="0" i="0">
                <a:solidFill>
                  <a:srgbClr val="F7F4EC"/>
                </a:solidFill>
                <a:latin typeface="Cormorant Garamond"/>
              </a:rPr>
              <a:t>London IOOC 2026</a:t>
            </a:r>
          </a:p>
        </p:txBody>
      </p:sp>
      <p:sp>
        <p:nvSpPr>
          <p:cNvPr id="31" name="TextBox 30"/>
          <p:cNvSpPr txBox="1"/>
          <p:nvPr/>
        </p:nvSpPr>
        <p:spPr>
          <a:xfrm>
            <a:off x="3532286" y="1636141"/>
            <a:ext cx="755451" cy="188595"/>
          </a:xfrm>
          <a:prstGeom prst="rect">
            <a:avLst/>
          </a:prstGeom>
          <a:noFill/>
        </p:spPr>
        <p:txBody>
          <a:bodyPr wrap="square">
            <a:spAutoFit/>
          </a:bodyPr>
          <a:lstStyle/>
          <a:p>
            <a:pPr algn="ctr"/>
            <a:r>
              <a:rPr sz="1650" b="0" i="0">
                <a:solidFill>
                  <a:srgbClr val="D9B45A"/>
                </a:solidFill>
                <a:latin typeface="Rubik"/>
              </a:rPr>
              <a:t>Gold · Chemlali</a:t>
            </a:r>
          </a:p>
        </p:txBody>
      </p:sp>
      <p:sp>
        <p:nvSpPr>
          <p:cNvPr id="32" name="TextBox 31"/>
          <p:cNvSpPr txBox="1"/>
          <p:nvPr/>
        </p:nvSpPr>
        <p:spPr>
          <a:xfrm>
            <a:off x="4768527" y="1482849"/>
            <a:ext cx="1045219" cy="240030"/>
          </a:xfrm>
          <a:prstGeom prst="rect">
            <a:avLst/>
          </a:prstGeom>
          <a:noFill/>
        </p:spPr>
        <p:txBody>
          <a:bodyPr wrap="square">
            <a:spAutoFit/>
          </a:bodyPr>
          <a:lstStyle/>
          <a:p>
            <a:pPr algn="ctr"/>
            <a:r>
              <a:rPr sz="2100" b="0" i="0">
                <a:solidFill>
                  <a:srgbClr val="F7F4EC"/>
                </a:solidFill>
                <a:latin typeface="Cormorant Garamond"/>
              </a:rPr>
              <a:t>London IOOC 2026</a:t>
            </a:r>
          </a:p>
        </p:txBody>
      </p:sp>
      <p:sp>
        <p:nvSpPr>
          <p:cNvPr id="33" name="TextBox 32"/>
          <p:cNvSpPr txBox="1"/>
          <p:nvPr/>
        </p:nvSpPr>
        <p:spPr>
          <a:xfrm>
            <a:off x="4932312" y="1636141"/>
            <a:ext cx="717649" cy="188595"/>
          </a:xfrm>
          <a:prstGeom prst="rect">
            <a:avLst/>
          </a:prstGeom>
          <a:noFill/>
        </p:spPr>
        <p:txBody>
          <a:bodyPr wrap="square">
            <a:spAutoFit/>
          </a:bodyPr>
          <a:lstStyle/>
          <a:p>
            <a:pPr algn="ctr"/>
            <a:r>
              <a:rPr sz="1650" b="0" i="0">
                <a:solidFill>
                  <a:srgbClr val="D9B45A"/>
                </a:solidFill>
                <a:latin typeface="Rubik"/>
              </a:rPr>
              <a:t>Gold · Chetoui</a:t>
            </a:r>
          </a:p>
        </p:txBody>
      </p:sp>
      <p:sp>
        <p:nvSpPr>
          <p:cNvPr id="34" name="TextBox 33"/>
          <p:cNvSpPr txBox="1"/>
          <p:nvPr/>
        </p:nvSpPr>
        <p:spPr>
          <a:xfrm>
            <a:off x="6114975" y="1482849"/>
            <a:ext cx="1114573" cy="240030"/>
          </a:xfrm>
          <a:prstGeom prst="rect">
            <a:avLst/>
          </a:prstGeom>
          <a:noFill/>
        </p:spPr>
        <p:txBody>
          <a:bodyPr wrap="square">
            <a:spAutoFit/>
          </a:bodyPr>
          <a:lstStyle/>
          <a:p>
            <a:pPr algn="ctr"/>
            <a:r>
              <a:rPr sz="2100" b="0" i="0">
                <a:solidFill>
                  <a:srgbClr val="F7F4EC"/>
                </a:solidFill>
                <a:latin typeface="Cormorant Garamond"/>
              </a:rPr>
              <a:t>Carthage IOOC 2026</a:t>
            </a:r>
          </a:p>
        </p:txBody>
      </p:sp>
      <p:sp>
        <p:nvSpPr>
          <p:cNvPr id="35" name="TextBox 34"/>
          <p:cNvSpPr txBox="1"/>
          <p:nvPr/>
        </p:nvSpPr>
        <p:spPr>
          <a:xfrm>
            <a:off x="6313437" y="1636141"/>
            <a:ext cx="717649" cy="188595"/>
          </a:xfrm>
          <a:prstGeom prst="rect">
            <a:avLst/>
          </a:prstGeom>
          <a:noFill/>
        </p:spPr>
        <p:txBody>
          <a:bodyPr wrap="square">
            <a:spAutoFit/>
          </a:bodyPr>
          <a:lstStyle/>
          <a:p>
            <a:pPr algn="ctr"/>
            <a:r>
              <a:rPr sz="1650" b="0" i="0">
                <a:solidFill>
                  <a:srgbClr val="D9B45A"/>
                </a:solidFill>
                <a:latin typeface="Rubik"/>
              </a:rPr>
              <a:t>Gold · Chetoui</a:t>
            </a:r>
          </a:p>
        </p:txBody>
      </p:sp>
      <p:sp>
        <p:nvSpPr>
          <p:cNvPr id="36" name="TextBox 35"/>
          <p:cNvSpPr txBox="1"/>
          <p:nvPr/>
        </p:nvSpPr>
        <p:spPr>
          <a:xfrm>
            <a:off x="7470576" y="1482849"/>
            <a:ext cx="1165621" cy="240030"/>
          </a:xfrm>
          <a:prstGeom prst="rect">
            <a:avLst/>
          </a:prstGeom>
          <a:noFill/>
        </p:spPr>
        <p:txBody>
          <a:bodyPr wrap="square">
            <a:spAutoFit/>
          </a:bodyPr>
          <a:lstStyle/>
          <a:p>
            <a:pPr algn="ctr"/>
            <a:r>
              <a:rPr sz="2100" b="0" i="0">
                <a:solidFill>
                  <a:srgbClr val="F7F4EC"/>
                </a:solidFill>
                <a:latin typeface="Cormorant Garamond"/>
              </a:rPr>
              <a:t>EVO IOOC Italy 2026</a:t>
            </a:r>
          </a:p>
        </p:txBody>
      </p:sp>
      <p:sp>
        <p:nvSpPr>
          <p:cNvPr id="37" name="TextBox 36"/>
          <p:cNvSpPr txBox="1"/>
          <p:nvPr/>
        </p:nvSpPr>
        <p:spPr>
          <a:xfrm>
            <a:off x="7391697" y="1636141"/>
            <a:ext cx="1323379" cy="188595"/>
          </a:xfrm>
          <a:prstGeom prst="rect">
            <a:avLst/>
          </a:prstGeom>
          <a:noFill/>
        </p:spPr>
        <p:txBody>
          <a:bodyPr wrap="square">
            <a:spAutoFit/>
          </a:bodyPr>
          <a:lstStyle/>
          <a:p>
            <a:pPr algn="ctr"/>
            <a:r>
              <a:rPr sz="1650" b="0" i="0">
                <a:solidFill>
                  <a:srgbClr val="D9B45A"/>
                </a:solidFill>
                <a:latin typeface="Rubik"/>
              </a:rPr>
              <a:t>Gold Medal · MAGON EVOO</a:t>
            </a:r>
          </a:p>
        </p:txBody>
      </p:sp>
      <p:sp>
        <p:nvSpPr>
          <p:cNvPr id="38" name="TextBox 37"/>
          <p:cNvSpPr txBox="1"/>
          <p:nvPr/>
        </p:nvSpPr>
        <p:spPr>
          <a:xfrm>
            <a:off x="685725" y="2508423"/>
            <a:ext cx="1114573" cy="240030"/>
          </a:xfrm>
          <a:prstGeom prst="rect">
            <a:avLst/>
          </a:prstGeom>
          <a:noFill/>
        </p:spPr>
        <p:txBody>
          <a:bodyPr wrap="square">
            <a:spAutoFit/>
          </a:bodyPr>
          <a:lstStyle/>
          <a:p>
            <a:pPr algn="ctr"/>
            <a:r>
              <a:rPr sz="2100" b="0" i="0">
                <a:solidFill>
                  <a:srgbClr val="F7F4EC"/>
                </a:solidFill>
                <a:latin typeface="Cormorant Garamond"/>
              </a:rPr>
              <a:t>Carthage IOOC 2026</a:t>
            </a:r>
          </a:p>
        </p:txBody>
      </p:sp>
      <p:sp>
        <p:nvSpPr>
          <p:cNvPr id="39" name="TextBox 38"/>
          <p:cNvSpPr txBox="1"/>
          <p:nvPr/>
        </p:nvSpPr>
        <p:spPr>
          <a:xfrm>
            <a:off x="503262" y="2661716"/>
            <a:ext cx="1479425" cy="188595"/>
          </a:xfrm>
          <a:prstGeom prst="rect">
            <a:avLst/>
          </a:prstGeom>
          <a:noFill/>
        </p:spPr>
        <p:txBody>
          <a:bodyPr wrap="square">
            <a:spAutoFit/>
          </a:bodyPr>
          <a:lstStyle/>
          <a:p>
            <a:pPr algn="ctr"/>
            <a:r>
              <a:rPr sz="1650" b="0" i="0">
                <a:solidFill>
                  <a:srgbClr val="D9B45A"/>
                </a:solidFill>
                <a:latin typeface="Rubik"/>
              </a:rPr>
              <a:t>Double Gold · Flavored Citrus</a:t>
            </a:r>
          </a:p>
        </p:txBody>
      </p:sp>
      <p:sp>
        <p:nvSpPr>
          <p:cNvPr id="40" name="TextBox 39"/>
          <p:cNvSpPr txBox="1"/>
          <p:nvPr/>
        </p:nvSpPr>
        <p:spPr>
          <a:xfrm>
            <a:off x="2350219" y="2508423"/>
            <a:ext cx="1114573" cy="240030"/>
          </a:xfrm>
          <a:prstGeom prst="rect">
            <a:avLst/>
          </a:prstGeom>
          <a:noFill/>
        </p:spPr>
        <p:txBody>
          <a:bodyPr wrap="square">
            <a:spAutoFit/>
          </a:bodyPr>
          <a:lstStyle/>
          <a:p>
            <a:pPr algn="ctr"/>
            <a:r>
              <a:rPr sz="2100" b="0" i="0">
                <a:solidFill>
                  <a:srgbClr val="F7F4EC"/>
                </a:solidFill>
                <a:latin typeface="Cormorant Garamond"/>
              </a:rPr>
              <a:t>Carthage IOOC 2026</a:t>
            </a:r>
          </a:p>
        </p:txBody>
      </p:sp>
      <p:sp>
        <p:nvSpPr>
          <p:cNvPr id="41" name="TextBox 40"/>
          <p:cNvSpPr txBox="1"/>
          <p:nvPr/>
        </p:nvSpPr>
        <p:spPr>
          <a:xfrm>
            <a:off x="2202209" y="2661716"/>
            <a:ext cx="1410592" cy="188595"/>
          </a:xfrm>
          <a:prstGeom prst="rect">
            <a:avLst/>
          </a:prstGeom>
          <a:noFill/>
        </p:spPr>
        <p:txBody>
          <a:bodyPr wrap="square">
            <a:spAutoFit/>
          </a:bodyPr>
          <a:lstStyle/>
          <a:p>
            <a:pPr algn="ctr"/>
            <a:r>
              <a:rPr sz="1650" b="0" i="0">
                <a:solidFill>
                  <a:srgbClr val="D9B45A"/>
                </a:solidFill>
                <a:latin typeface="Rubik"/>
              </a:rPr>
              <a:t>Double Gold · Flavored Basil</a:t>
            </a:r>
          </a:p>
        </p:txBody>
      </p:sp>
      <p:sp>
        <p:nvSpPr>
          <p:cNvPr id="42" name="TextBox 41"/>
          <p:cNvSpPr txBox="1"/>
          <p:nvPr/>
        </p:nvSpPr>
        <p:spPr>
          <a:xfrm>
            <a:off x="4046487" y="2508423"/>
            <a:ext cx="1051024" cy="240030"/>
          </a:xfrm>
          <a:prstGeom prst="rect">
            <a:avLst/>
          </a:prstGeom>
          <a:noFill/>
        </p:spPr>
        <p:txBody>
          <a:bodyPr wrap="square">
            <a:spAutoFit/>
          </a:bodyPr>
          <a:lstStyle/>
          <a:p>
            <a:pPr algn="ctr"/>
            <a:r>
              <a:rPr sz="2100" b="0" i="0">
                <a:solidFill>
                  <a:srgbClr val="F7F4EC"/>
                </a:solidFill>
                <a:latin typeface="Cormorant Garamond"/>
              </a:rPr>
              <a:t>Olive Japan 2025–26</a:t>
            </a:r>
          </a:p>
        </p:txBody>
      </p:sp>
      <p:sp>
        <p:nvSpPr>
          <p:cNvPr id="43" name="TextBox 42"/>
          <p:cNvSpPr txBox="1"/>
          <p:nvPr/>
        </p:nvSpPr>
        <p:spPr>
          <a:xfrm>
            <a:off x="3928839" y="2661716"/>
            <a:ext cx="1286321" cy="188595"/>
          </a:xfrm>
          <a:prstGeom prst="rect">
            <a:avLst/>
          </a:prstGeom>
          <a:noFill/>
        </p:spPr>
        <p:txBody>
          <a:bodyPr wrap="square">
            <a:spAutoFit/>
          </a:bodyPr>
          <a:lstStyle/>
          <a:p>
            <a:pPr algn="ctr"/>
            <a:r>
              <a:rPr sz="1650" b="0" i="0">
                <a:solidFill>
                  <a:srgbClr val="D9B45A"/>
                </a:solidFill>
                <a:latin typeface="Rubik"/>
              </a:rPr>
              <a:t>Silver · two years in a row</a:t>
            </a:r>
          </a:p>
        </p:txBody>
      </p:sp>
      <p:sp>
        <p:nvSpPr>
          <p:cNvPr id="44" name="TextBox 43"/>
          <p:cNvSpPr txBox="1"/>
          <p:nvPr/>
        </p:nvSpPr>
        <p:spPr>
          <a:xfrm>
            <a:off x="5679950" y="2508423"/>
            <a:ext cx="1113085" cy="240030"/>
          </a:xfrm>
          <a:prstGeom prst="rect">
            <a:avLst/>
          </a:prstGeom>
          <a:noFill/>
        </p:spPr>
        <p:txBody>
          <a:bodyPr wrap="square">
            <a:spAutoFit/>
          </a:bodyPr>
          <a:lstStyle/>
          <a:p>
            <a:pPr algn="ctr"/>
            <a:r>
              <a:rPr sz="2100" b="0" i="0">
                <a:solidFill>
                  <a:srgbClr val="F7F4EC"/>
                </a:solidFill>
                <a:latin typeface="Cormorant Garamond"/>
              </a:rPr>
              <a:t>Carthage IOOC 2024</a:t>
            </a:r>
          </a:p>
        </p:txBody>
      </p:sp>
      <p:sp>
        <p:nvSpPr>
          <p:cNvPr id="45" name="TextBox 44"/>
          <p:cNvSpPr txBox="1"/>
          <p:nvPr/>
        </p:nvSpPr>
        <p:spPr>
          <a:xfrm>
            <a:off x="5929907" y="2661716"/>
            <a:ext cx="613171" cy="188595"/>
          </a:xfrm>
          <a:prstGeom prst="rect">
            <a:avLst/>
          </a:prstGeom>
          <a:noFill/>
        </p:spPr>
        <p:txBody>
          <a:bodyPr wrap="square">
            <a:spAutoFit/>
          </a:bodyPr>
          <a:lstStyle/>
          <a:p>
            <a:pPr algn="ctr"/>
            <a:r>
              <a:rPr sz="1650" b="0" i="0">
                <a:solidFill>
                  <a:srgbClr val="D9B45A"/>
                </a:solidFill>
                <a:latin typeface="Rubik"/>
              </a:rPr>
              <a:t>Double Gold</a:t>
            </a:r>
          </a:p>
        </p:txBody>
      </p:sp>
      <p:sp>
        <p:nvSpPr>
          <p:cNvPr id="46" name="TextBox 45"/>
          <p:cNvSpPr txBox="1"/>
          <p:nvPr/>
        </p:nvSpPr>
        <p:spPr>
          <a:xfrm>
            <a:off x="7435601" y="2508423"/>
            <a:ext cx="930696" cy="240030"/>
          </a:xfrm>
          <a:prstGeom prst="rect">
            <a:avLst/>
          </a:prstGeom>
          <a:noFill/>
        </p:spPr>
        <p:txBody>
          <a:bodyPr wrap="square">
            <a:spAutoFit/>
          </a:bodyPr>
          <a:lstStyle/>
          <a:p>
            <a:pPr algn="ctr"/>
            <a:r>
              <a:rPr sz="2100" b="0" i="0">
                <a:solidFill>
                  <a:srgbClr val="F7F4EC"/>
                </a:solidFill>
                <a:latin typeface="Cormorant Garamond"/>
              </a:rPr>
              <a:t>Monte Carlo 2023</a:t>
            </a:r>
          </a:p>
        </p:txBody>
      </p:sp>
      <p:sp>
        <p:nvSpPr>
          <p:cNvPr id="47" name="TextBox 46"/>
          <p:cNvSpPr txBox="1"/>
          <p:nvPr/>
        </p:nvSpPr>
        <p:spPr>
          <a:xfrm>
            <a:off x="7455098" y="2661716"/>
            <a:ext cx="891778" cy="188595"/>
          </a:xfrm>
          <a:prstGeom prst="rect">
            <a:avLst/>
          </a:prstGeom>
          <a:noFill/>
        </p:spPr>
        <p:txBody>
          <a:bodyPr wrap="square">
            <a:spAutoFit/>
          </a:bodyPr>
          <a:lstStyle/>
          <a:p>
            <a:pPr algn="ctr"/>
            <a:r>
              <a:rPr sz="1650" b="0" i="0">
                <a:solidFill>
                  <a:srgbClr val="D9B45A"/>
                </a:solidFill>
                <a:latin typeface="Rubik"/>
              </a:rPr>
              <a:t>1st place · Overall</a:t>
            </a:r>
          </a:p>
        </p:txBody>
      </p:sp>
      <p:sp>
        <p:nvSpPr>
          <p:cNvPr id="48" name="TextBox 47"/>
          <p:cNvSpPr txBox="1"/>
          <p:nvPr/>
        </p:nvSpPr>
        <p:spPr>
          <a:xfrm>
            <a:off x="777626" y="3533998"/>
            <a:ext cx="930696" cy="240030"/>
          </a:xfrm>
          <a:prstGeom prst="rect">
            <a:avLst/>
          </a:prstGeom>
          <a:noFill/>
        </p:spPr>
        <p:txBody>
          <a:bodyPr wrap="square">
            <a:spAutoFit/>
          </a:bodyPr>
          <a:lstStyle/>
          <a:p>
            <a:pPr algn="ctr"/>
            <a:r>
              <a:rPr sz="2100" b="0" i="0">
                <a:solidFill>
                  <a:srgbClr val="F7F4EC"/>
                </a:solidFill>
                <a:latin typeface="Cormorant Garamond"/>
              </a:rPr>
              <a:t>Monte Carlo 2023</a:t>
            </a:r>
          </a:p>
        </p:txBody>
      </p:sp>
      <p:sp>
        <p:nvSpPr>
          <p:cNvPr id="49" name="TextBox 48"/>
          <p:cNvSpPr txBox="1"/>
          <p:nvPr/>
        </p:nvSpPr>
        <p:spPr>
          <a:xfrm>
            <a:off x="673893" y="3687291"/>
            <a:ext cx="1138163" cy="188595"/>
          </a:xfrm>
          <a:prstGeom prst="rect">
            <a:avLst/>
          </a:prstGeom>
          <a:noFill/>
        </p:spPr>
        <p:txBody>
          <a:bodyPr wrap="square">
            <a:spAutoFit/>
          </a:bodyPr>
          <a:lstStyle/>
          <a:p>
            <a:pPr algn="ctr"/>
            <a:r>
              <a:rPr sz="1650" b="0" i="0">
                <a:solidFill>
                  <a:srgbClr val="D9B45A"/>
                </a:solidFill>
                <a:latin typeface="Rubik"/>
              </a:rPr>
              <a:t>1st place · Light Fruity</a:t>
            </a:r>
          </a:p>
        </p:txBody>
      </p:sp>
      <p:sp>
        <p:nvSpPr>
          <p:cNvPr id="50" name="TextBox 49"/>
          <p:cNvSpPr txBox="1"/>
          <p:nvPr/>
        </p:nvSpPr>
        <p:spPr>
          <a:xfrm>
            <a:off x="2389733" y="3533998"/>
            <a:ext cx="1035471" cy="240030"/>
          </a:xfrm>
          <a:prstGeom prst="rect">
            <a:avLst/>
          </a:prstGeom>
          <a:noFill/>
        </p:spPr>
        <p:txBody>
          <a:bodyPr wrap="square">
            <a:spAutoFit/>
          </a:bodyPr>
          <a:lstStyle/>
          <a:p>
            <a:pPr algn="ctr"/>
            <a:r>
              <a:rPr sz="2100" b="0" i="0">
                <a:solidFill>
                  <a:srgbClr val="F7F4EC"/>
                </a:solidFill>
                <a:latin typeface="Cormorant Garamond"/>
              </a:rPr>
              <a:t>London IOOC 2023</a:t>
            </a:r>
          </a:p>
        </p:txBody>
      </p:sp>
      <p:sp>
        <p:nvSpPr>
          <p:cNvPr id="51" name="TextBox 50"/>
          <p:cNvSpPr txBox="1"/>
          <p:nvPr/>
        </p:nvSpPr>
        <p:spPr>
          <a:xfrm>
            <a:off x="2395686" y="3687291"/>
            <a:ext cx="1023565" cy="188595"/>
          </a:xfrm>
          <a:prstGeom prst="rect">
            <a:avLst/>
          </a:prstGeom>
          <a:noFill/>
        </p:spPr>
        <p:txBody>
          <a:bodyPr wrap="square">
            <a:spAutoFit/>
          </a:bodyPr>
          <a:lstStyle/>
          <a:p>
            <a:pPr algn="ctr"/>
            <a:r>
              <a:rPr sz="1650" b="0" i="0">
                <a:solidFill>
                  <a:srgbClr val="D9B45A"/>
                </a:solidFill>
                <a:latin typeface="Rubik"/>
              </a:rPr>
              <a:t>Gold · Quality Award</a:t>
            </a:r>
          </a:p>
        </p:txBody>
      </p:sp>
      <p:sp>
        <p:nvSpPr>
          <p:cNvPr id="52" name="TextBox 51"/>
          <p:cNvSpPr txBox="1"/>
          <p:nvPr/>
        </p:nvSpPr>
        <p:spPr>
          <a:xfrm>
            <a:off x="4230662" y="3533998"/>
            <a:ext cx="682600" cy="240030"/>
          </a:xfrm>
          <a:prstGeom prst="rect">
            <a:avLst/>
          </a:prstGeom>
          <a:noFill/>
        </p:spPr>
        <p:txBody>
          <a:bodyPr wrap="square">
            <a:spAutoFit/>
          </a:bodyPr>
          <a:lstStyle/>
          <a:p>
            <a:pPr algn="ctr"/>
            <a:r>
              <a:rPr sz="2100" b="0" i="0">
                <a:solidFill>
                  <a:srgbClr val="F7F4EC"/>
                </a:solidFill>
                <a:latin typeface="Cormorant Garamond"/>
              </a:rPr>
              <a:t>NWorld 2023</a:t>
            </a:r>
          </a:p>
        </p:txBody>
      </p:sp>
      <p:sp>
        <p:nvSpPr>
          <p:cNvPr id="53" name="TextBox 52"/>
          <p:cNvSpPr txBox="1"/>
          <p:nvPr/>
        </p:nvSpPr>
        <p:spPr>
          <a:xfrm>
            <a:off x="4282454" y="3687291"/>
            <a:ext cx="579015" cy="188595"/>
          </a:xfrm>
          <a:prstGeom prst="rect">
            <a:avLst/>
          </a:prstGeom>
          <a:noFill/>
        </p:spPr>
        <p:txBody>
          <a:bodyPr wrap="square">
            <a:spAutoFit/>
          </a:bodyPr>
          <a:lstStyle/>
          <a:p>
            <a:pPr algn="ctr"/>
            <a:r>
              <a:rPr sz="1650" b="0" i="0">
                <a:solidFill>
                  <a:srgbClr val="D9B45A"/>
                </a:solidFill>
                <a:latin typeface="Rubik"/>
              </a:rPr>
              <a:t>Gold Award</a:t>
            </a:r>
          </a:p>
        </p:txBody>
      </p:sp>
      <p:sp>
        <p:nvSpPr>
          <p:cNvPr id="54" name="TextBox 53"/>
          <p:cNvSpPr txBox="1"/>
          <p:nvPr/>
        </p:nvSpPr>
        <p:spPr>
          <a:xfrm>
            <a:off x="5960789" y="3533998"/>
            <a:ext cx="551408" cy="240030"/>
          </a:xfrm>
          <a:prstGeom prst="rect">
            <a:avLst/>
          </a:prstGeom>
          <a:noFill/>
        </p:spPr>
        <p:txBody>
          <a:bodyPr wrap="square">
            <a:spAutoFit/>
          </a:bodyPr>
          <a:lstStyle/>
          <a:p>
            <a:pPr algn="ctr"/>
            <a:r>
              <a:rPr sz="2100" b="0" i="0">
                <a:solidFill>
                  <a:srgbClr val="F7F4EC"/>
                </a:solidFill>
                <a:latin typeface="Cormorant Garamond"/>
              </a:rPr>
              <a:t>BIOL 2023</a:t>
            </a:r>
          </a:p>
        </p:txBody>
      </p:sp>
      <p:sp>
        <p:nvSpPr>
          <p:cNvPr id="55" name="TextBox 54"/>
          <p:cNvSpPr txBox="1"/>
          <p:nvPr/>
        </p:nvSpPr>
        <p:spPr>
          <a:xfrm>
            <a:off x="5958259" y="3687291"/>
            <a:ext cx="556393" cy="188595"/>
          </a:xfrm>
          <a:prstGeom prst="rect">
            <a:avLst/>
          </a:prstGeom>
          <a:noFill/>
        </p:spPr>
        <p:txBody>
          <a:bodyPr wrap="square">
            <a:spAutoFit/>
          </a:bodyPr>
          <a:lstStyle/>
          <a:p>
            <a:pPr algn="ctr"/>
            <a:r>
              <a:rPr sz="1650" b="0" i="0">
                <a:solidFill>
                  <a:srgbClr val="D9B45A"/>
                </a:solidFill>
                <a:latin typeface="Rubik"/>
              </a:rPr>
              <a:t>Gold Medal</a:t>
            </a:r>
          </a:p>
        </p:txBody>
      </p:sp>
      <p:sp>
        <p:nvSpPr>
          <p:cNvPr id="56" name="TextBox 55"/>
          <p:cNvSpPr txBox="1"/>
          <p:nvPr/>
        </p:nvSpPr>
        <p:spPr>
          <a:xfrm>
            <a:off x="7468716" y="3533998"/>
            <a:ext cx="864468" cy="240030"/>
          </a:xfrm>
          <a:prstGeom prst="rect">
            <a:avLst/>
          </a:prstGeom>
          <a:noFill/>
        </p:spPr>
        <p:txBody>
          <a:bodyPr wrap="square">
            <a:spAutoFit/>
          </a:bodyPr>
          <a:lstStyle/>
          <a:p>
            <a:pPr algn="ctr"/>
            <a:r>
              <a:rPr sz="2100" b="0" i="0">
                <a:solidFill>
                  <a:srgbClr val="F7F4EC"/>
                </a:solidFill>
                <a:latin typeface="Cormorant Garamond"/>
              </a:rPr>
              <a:t>Olive Japan 2023</a:t>
            </a:r>
          </a:p>
        </p:txBody>
      </p:sp>
      <p:sp>
        <p:nvSpPr>
          <p:cNvPr id="57" name="TextBox 56"/>
          <p:cNvSpPr txBox="1"/>
          <p:nvPr/>
        </p:nvSpPr>
        <p:spPr>
          <a:xfrm>
            <a:off x="7785273" y="3687291"/>
            <a:ext cx="231353" cy="188595"/>
          </a:xfrm>
          <a:prstGeom prst="rect">
            <a:avLst/>
          </a:prstGeom>
          <a:noFill/>
        </p:spPr>
        <p:txBody>
          <a:bodyPr wrap="square">
            <a:spAutoFit/>
          </a:bodyPr>
          <a:lstStyle/>
          <a:p>
            <a:pPr algn="ctr"/>
            <a:r>
              <a:rPr sz="1650" b="0" i="0">
                <a:solidFill>
                  <a:srgbClr val="D9B45A"/>
                </a:solidFill>
                <a:latin typeface="Rubik"/>
              </a:rPr>
              <a:t>Gold</a:t>
            </a:r>
          </a:p>
        </p:txBody>
      </p:sp>
      <p:sp>
        <p:nvSpPr>
          <p:cNvPr id="58" name="TextBox 57"/>
          <p:cNvSpPr txBox="1"/>
          <p:nvPr/>
        </p:nvSpPr>
        <p:spPr>
          <a:xfrm>
            <a:off x="740866" y="4559572"/>
            <a:ext cx="1004292" cy="240030"/>
          </a:xfrm>
          <a:prstGeom prst="rect">
            <a:avLst/>
          </a:prstGeom>
          <a:noFill/>
        </p:spPr>
        <p:txBody>
          <a:bodyPr wrap="square">
            <a:spAutoFit/>
          </a:bodyPr>
          <a:lstStyle/>
          <a:p>
            <a:pPr algn="ctr"/>
            <a:r>
              <a:rPr sz="2100" b="0" i="0">
                <a:solidFill>
                  <a:srgbClr val="F7F4EC"/>
                </a:solidFill>
                <a:latin typeface="Cormorant Garamond"/>
              </a:rPr>
              <a:t>Berlin GOOA 2022</a:t>
            </a:r>
          </a:p>
        </p:txBody>
      </p:sp>
      <p:sp>
        <p:nvSpPr>
          <p:cNvPr id="59" name="TextBox 58"/>
          <p:cNvSpPr txBox="1"/>
          <p:nvPr/>
        </p:nvSpPr>
        <p:spPr>
          <a:xfrm>
            <a:off x="903684" y="4712865"/>
            <a:ext cx="678581" cy="188595"/>
          </a:xfrm>
          <a:prstGeom prst="rect">
            <a:avLst/>
          </a:prstGeom>
          <a:noFill/>
        </p:spPr>
        <p:txBody>
          <a:bodyPr wrap="square">
            <a:spAutoFit/>
          </a:bodyPr>
          <a:lstStyle/>
          <a:p>
            <a:pPr algn="ctr"/>
            <a:r>
              <a:rPr sz="1650" b="0" i="0">
                <a:solidFill>
                  <a:srgbClr val="D9B45A"/>
                </a:solidFill>
                <a:latin typeface="Rubik"/>
              </a:rPr>
              <a:t>Gold · Quality</a:t>
            </a:r>
          </a:p>
        </p:txBody>
      </p:sp>
      <p:sp>
        <p:nvSpPr>
          <p:cNvPr id="60" name="TextBox 59"/>
          <p:cNvSpPr txBox="1"/>
          <p:nvPr/>
        </p:nvSpPr>
        <p:spPr>
          <a:xfrm>
            <a:off x="2407146" y="4559572"/>
            <a:ext cx="1000720" cy="240030"/>
          </a:xfrm>
          <a:prstGeom prst="rect">
            <a:avLst/>
          </a:prstGeom>
          <a:noFill/>
        </p:spPr>
        <p:txBody>
          <a:bodyPr wrap="square">
            <a:spAutoFit/>
          </a:bodyPr>
          <a:lstStyle/>
          <a:p>
            <a:pPr algn="ctr"/>
            <a:r>
              <a:rPr sz="2100" b="0" i="0">
                <a:solidFill>
                  <a:srgbClr val="F7F4EC"/>
                </a:solidFill>
                <a:latin typeface="Cormorant Garamond"/>
              </a:rPr>
              <a:t>Riyadh IOOC 2023</a:t>
            </a:r>
          </a:p>
        </p:txBody>
      </p:sp>
      <p:sp>
        <p:nvSpPr>
          <p:cNvPr id="61" name="TextBox 60"/>
          <p:cNvSpPr txBox="1"/>
          <p:nvPr/>
        </p:nvSpPr>
        <p:spPr>
          <a:xfrm>
            <a:off x="2297757" y="4712865"/>
            <a:ext cx="1219497" cy="188595"/>
          </a:xfrm>
          <a:prstGeom prst="rect">
            <a:avLst/>
          </a:prstGeom>
          <a:noFill/>
        </p:spPr>
        <p:txBody>
          <a:bodyPr wrap="square">
            <a:spAutoFit/>
          </a:bodyPr>
          <a:lstStyle/>
          <a:p>
            <a:pPr algn="ctr"/>
            <a:r>
              <a:rPr sz="1650" b="0" i="0">
                <a:solidFill>
                  <a:srgbClr val="D9B45A"/>
                </a:solidFill>
                <a:latin typeface="Rubik"/>
              </a:rPr>
              <a:t>Afro-Asian Competition</a:t>
            </a:r>
          </a:p>
        </p:txBody>
      </p:sp>
      <p:sp>
        <p:nvSpPr>
          <p:cNvPr id="62" name="TextBox 61"/>
          <p:cNvSpPr txBox="1"/>
          <p:nvPr/>
        </p:nvSpPr>
        <p:spPr>
          <a:xfrm>
            <a:off x="4182888" y="4559572"/>
            <a:ext cx="778147" cy="240030"/>
          </a:xfrm>
          <a:prstGeom prst="rect">
            <a:avLst/>
          </a:prstGeom>
          <a:noFill/>
        </p:spPr>
        <p:txBody>
          <a:bodyPr wrap="square">
            <a:spAutoFit/>
          </a:bodyPr>
          <a:lstStyle/>
          <a:p>
            <a:pPr algn="ctr"/>
            <a:r>
              <a:rPr sz="2100" b="0" i="0">
                <a:solidFill>
                  <a:srgbClr val="F7F4EC"/>
                </a:solidFill>
                <a:latin typeface="Cormorant Garamond"/>
              </a:rPr>
              <a:t>Oil China 2023</a:t>
            </a:r>
          </a:p>
        </p:txBody>
      </p:sp>
      <p:sp>
        <p:nvSpPr>
          <p:cNvPr id="63" name="TextBox 62"/>
          <p:cNvSpPr txBox="1"/>
          <p:nvPr/>
        </p:nvSpPr>
        <p:spPr>
          <a:xfrm>
            <a:off x="4220393" y="4712865"/>
            <a:ext cx="703138" cy="188595"/>
          </a:xfrm>
          <a:prstGeom prst="rect">
            <a:avLst/>
          </a:prstGeom>
          <a:noFill/>
        </p:spPr>
        <p:txBody>
          <a:bodyPr wrap="square">
            <a:spAutoFit/>
          </a:bodyPr>
          <a:lstStyle/>
          <a:p>
            <a:pPr algn="ctr"/>
            <a:r>
              <a:rPr sz="1650" b="0" i="0">
                <a:solidFill>
                  <a:srgbClr val="D9B45A"/>
                </a:solidFill>
                <a:latin typeface="Rubik"/>
              </a:rPr>
              <a:t>Award winner</a:t>
            </a:r>
          </a:p>
        </p:txBody>
      </p:sp>
      <p:sp>
        <p:nvSpPr>
          <p:cNvPr id="64" name="TextBox 63"/>
          <p:cNvSpPr txBox="1"/>
          <p:nvPr/>
        </p:nvSpPr>
        <p:spPr>
          <a:xfrm>
            <a:off x="6017865" y="4559572"/>
            <a:ext cx="437257" cy="240030"/>
          </a:xfrm>
          <a:prstGeom prst="rect">
            <a:avLst/>
          </a:prstGeom>
          <a:noFill/>
        </p:spPr>
        <p:txBody>
          <a:bodyPr wrap="square">
            <a:spAutoFit/>
          </a:bodyPr>
          <a:lstStyle/>
          <a:p>
            <a:pPr algn="ctr"/>
            <a:r>
              <a:rPr sz="2100" b="0" i="0">
                <a:solidFill>
                  <a:srgbClr val="F7F4EC"/>
                </a:solidFill>
                <a:latin typeface="Cormorant Garamond"/>
              </a:rPr>
              <a:t>GIOOC</a:t>
            </a:r>
          </a:p>
        </p:txBody>
      </p:sp>
      <p:sp>
        <p:nvSpPr>
          <p:cNvPr id="65" name="TextBox 64"/>
          <p:cNvSpPr txBox="1"/>
          <p:nvPr/>
        </p:nvSpPr>
        <p:spPr>
          <a:xfrm>
            <a:off x="5884887" y="4712865"/>
            <a:ext cx="703138" cy="188595"/>
          </a:xfrm>
          <a:prstGeom prst="rect">
            <a:avLst/>
          </a:prstGeom>
          <a:noFill/>
        </p:spPr>
        <p:txBody>
          <a:bodyPr wrap="square">
            <a:spAutoFit/>
          </a:bodyPr>
          <a:lstStyle/>
          <a:p>
            <a:pPr algn="ctr"/>
            <a:r>
              <a:rPr sz="1650" b="0" i="0">
                <a:solidFill>
                  <a:srgbClr val="D9B45A"/>
                </a:solidFill>
                <a:latin typeface="Rubik"/>
              </a:rPr>
              <a:t>Award winner</a:t>
            </a:r>
          </a:p>
        </p:txBody>
      </p:sp>
      <p:sp>
        <p:nvSpPr>
          <p:cNvPr id="66" name="TextBox 65"/>
          <p:cNvSpPr txBox="1"/>
          <p:nvPr/>
        </p:nvSpPr>
        <p:spPr>
          <a:xfrm>
            <a:off x="7543204" y="4559572"/>
            <a:ext cx="715491" cy="240030"/>
          </a:xfrm>
          <a:prstGeom prst="rect">
            <a:avLst/>
          </a:prstGeom>
          <a:noFill/>
        </p:spPr>
        <p:txBody>
          <a:bodyPr wrap="square">
            <a:spAutoFit/>
          </a:bodyPr>
          <a:lstStyle/>
          <a:p>
            <a:pPr algn="ctr"/>
            <a:r>
              <a:rPr sz="2100" b="0" i="0">
                <a:solidFill>
                  <a:srgbClr val="F7F4EC"/>
                </a:solidFill>
                <a:latin typeface="Cormorant Garamond"/>
              </a:rPr>
              <a:t>ONH Tunisia</a:t>
            </a:r>
          </a:p>
        </p:txBody>
      </p:sp>
      <p:sp>
        <p:nvSpPr>
          <p:cNvPr id="67" name="TextBox 66"/>
          <p:cNvSpPr txBox="1"/>
          <p:nvPr/>
        </p:nvSpPr>
        <p:spPr>
          <a:xfrm>
            <a:off x="7549381" y="4712865"/>
            <a:ext cx="703138" cy="188595"/>
          </a:xfrm>
          <a:prstGeom prst="rect">
            <a:avLst/>
          </a:prstGeom>
          <a:noFill/>
        </p:spPr>
        <p:txBody>
          <a:bodyPr wrap="square">
            <a:spAutoFit/>
          </a:bodyPr>
          <a:lstStyle/>
          <a:p>
            <a:pPr algn="ctr"/>
            <a:r>
              <a:rPr sz="1650" b="0" i="0">
                <a:solidFill>
                  <a:srgbClr val="D9B45A"/>
                </a:solidFill>
                <a:latin typeface="Rubik"/>
              </a:rPr>
              <a:t>Award winner</a:t>
            </a:r>
          </a:p>
        </p:txBody>
      </p:sp>
      <p:sp>
        <p:nvSpPr>
          <p:cNvPr id="68" name="TextBox 67"/>
          <p:cNvSpPr txBox="1"/>
          <p:nvPr/>
        </p:nvSpPr>
        <p:spPr>
          <a:xfrm>
            <a:off x="7581900" y="4869209"/>
            <a:ext cx="952500" cy="205740"/>
          </a:xfrm>
          <a:prstGeom prst="rect">
            <a:avLst/>
          </a:prstGeom>
          <a:noFill/>
        </p:spPr>
        <p:txBody>
          <a:bodyPr wrap="square">
            <a:spAutoFit/>
          </a:bodyPr>
          <a:lstStyle/>
          <a:p>
            <a:pPr algn="r"/>
            <a:r>
              <a:rPr sz="1800" b="0" i="0" spc="150">
                <a:solidFill>
                  <a:srgbClr val="D9B45A"/>
                </a:solidFill>
                <a:latin typeface="Rubik"/>
              </a:rPr>
              <a:t>16 / 35</a:t>
            </a:r>
          </a:p>
        </p:txBody>
      </p:sp>
    </p:spTree>
  </p:cSld>
  <p:clrMapOvr>
    <a:masterClrMapping/>
  </p:clrMapOvr>
  <p:transition dur="500" advClick="1">
    <p:fade/>
  </p:transition>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7.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pic>
        <p:nvPicPr>
          <p:cNvPr id="4" name="Picture 3"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pic>
        <p:nvPicPr>
          <p:cNvPr id="5" name="Picture 4"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pic>
        <p:nvPicPr>
          <p:cNvPr id="6" name="Picture 5"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pic>
        <p:nvPicPr>
          <p:cNvPr id="7" name="Picture 6"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8" name="TextBox 7"/>
          <p:cNvSpPr txBox="1"/>
          <p:nvPr/>
        </p:nvSpPr>
        <p:spPr>
          <a:xfrm>
            <a:off x="714375" y="533400"/>
            <a:ext cx="754112" cy="205740"/>
          </a:xfrm>
          <a:prstGeom prst="rect">
            <a:avLst/>
          </a:prstGeom>
          <a:noFill/>
        </p:spPr>
        <p:txBody>
          <a:bodyPr wrap="square">
            <a:spAutoFit/>
          </a:bodyPr>
          <a:lstStyle/>
          <a:p>
            <a:pPr algn="l"/>
            <a:r>
              <a:rPr sz="1800" b="0" i="0" spc="300">
                <a:solidFill>
                  <a:srgbClr val="8A6A22"/>
                </a:solidFill>
                <a:latin typeface="Rubik"/>
              </a:rPr>
              <a:t>CONTENTS</a:t>
            </a:r>
          </a:p>
        </p:txBody>
      </p:sp>
      <p:sp>
        <p:nvSpPr>
          <p:cNvPr id="9" name="TextBox 8"/>
          <p:cNvSpPr txBox="1"/>
          <p:nvPr/>
        </p:nvSpPr>
        <p:spPr>
          <a:xfrm>
            <a:off x="714375" y="695325"/>
            <a:ext cx="1030113" cy="617220"/>
          </a:xfrm>
          <a:prstGeom prst="rect">
            <a:avLst/>
          </a:prstGeom>
          <a:noFill/>
        </p:spPr>
        <p:txBody>
          <a:bodyPr wrap="square">
            <a:spAutoFit/>
          </a:bodyPr>
          <a:lstStyle/>
          <a:p>
            <a:pPr algn="l"/>
            <a:r>
              <a:rPr sz="5400" b="0" i="0">
                <a:solidFill>
                  <a:srgbClr val="14281C"/>
                </a:solidFill>
                <a:latin typeface="Cormorant Garamond"/>
              </a:rPr>
              <a:t>Agenda</a:t>
            </a:r>
          </a:p>
        </p:txBody>
      </p:sp>
      <p:sp>
        <p:nvSpPr>
          <p:cNvPr id="10" name="TextBox 9"/>
          <p:cNvSpPr txBox="1"/>
          <p:nvPr/>
        </p:nvSpPr>
        <p:spPr>
          <a:xfrm>
            <a:off x="838200" y="1524000"/>
            <a:ext cx="323701" cy="720090"/>
          </a:xfrm>
          <a:prstGeom prst="rect">
            <a:avLst/>
          </a:prstGeom>
          <a:noFill/>
        </p:spPr>
        <p:txBody>
          <a:bodyPr wrap="square">
            <a:spAutoFit/>
          </a:bodyPr>
          <a:lstStyle/>
          <a:p>
            <a:pPr algn="l"/>
            <a:r>
              <a:rPr sz="6300" b="0" i="0">
                <a:solidFill>
                  <a:srgbClr val="D9B45A"/>
                </a:solidFill>
                <a:latin typeface="Cormorant Garamond"/>
              </a:rPr>
              <a:t>01</a:t>
            </a:r>
          </a:p>
        </p:txBody>
      </p:sp>
      <p:sp>
        <p:nvSpPr>
          <p:cNvPr id="11" name="TextBox 10"/>
          <p:cNvSpPr txBox="1"/>
          <p:nvPr/>
        </p:nvSpPr>
        <p:spPr>
          <a:xfrm>
            <a:off x="838200" y="3142803"/>
            <a:ext cx="1143000" cy="360045"/>
          </a:xfrm>
          <a:prstGeom prst="rect">
            <a:avLst/>
          </a:prstGeom>
          <a:noFill/>
        </p:spPr>
        <p:txBody>
          <a:bodyPr wrap="square">
            <a:spAutoFit/>
          </a:bodyPr>
          <a:lstStyle/>
          <a:p>
            <a:pPr algn="l"/>
            <a:r>
              <a:rPr sz="3150" b="0" i="0">
                <a:solidFill>
                  <a:srgbClr val="F7F4EC"/>
                </a:solidFill>
                <a:latin typeface="Cormorant Garamond"/>
              </a:rPr>
              <a:t>Product</a:t>
            </a:r>
          </a:p>
        </p:txBody>
      </p:sp>
      <p:sp>
        <p:nvSpPr>
          <p:cNvPr id="12" name="TextBox 11"/>
          <p:cNvSpPr txBox="1"/>
          <p:nvPr/>
        </p:nvSpPr>
        <p:spPr>
          <a:xfrm>
            <a:off x="714375" y="3619500"/>
            <a:ext cx="1390650" cy="308520"/>
          </a:xfrm>
          <a:prstGeom prst="rect">
            <a:avLst/>
          </a:prstGeom>
          <a:noFill/>
        </p:spPr>
        <p:txBody>
          <a:bodyPr wrap="square">
            <a:spAutoFit/>
          </a:bodyPr>
          <a:lstStyle/>
          <a:p>
            <a:pPr algn="ctr"/>
            <a:r>
              <a:rPr sz="1800" b="0" i="0">
                <a:solidFill>
                  <a:srgbClr val="6B776E"/>
                </a:solidFill>
                <a:latin typeface="Rubik"/>
              </a:rPr>
              <a:t>Range · Pricing · Flavored · MOHRA</a:t>
            </a:r>
          </a:p>
        </p:txBody>
      </p:sp>
      <p:sp>
        <p:nvSpPr>
          <p:cNvPr id="13" name="TextBox 12"/>
          <p:cNvSpPr txBox="1"/>
          <p:nvPr/>
        </p:nvSpPr>
        <p:spPr>
          <a:xfrm>
            <a:off x="2419350" y="1524000"/>
            <a:ext cx="351680" cy="720090"/>
          </a:xfrm>
          <a:prstGeom prst="rect">
            <a:avLst/>
          </a:prstGeom>
          <a:noFill/>
        </p:spPr>
        <p:txBody>
          <a:bodyPr wrap="square">
            <a:spAutoFit/>
          </a:bodyPr>
          <a:lstStyle/>
          <a:p>
            <a:pPr algn="l"/>
            <a:r>
              <a:rPr sz="6300" b="0" i="0">
                <a:solidFill>
                  <a:srgbClr val="D9B45A"/>
                </a:solidFill>
                <a:latin typeface="Cormorant Garamond"/>
              </a:rPr>
              <a:t>02</a:t>
            </a:r>
          </a:p>
        </p:txBody>
      </p:sp>
      <p:sp>
        <p:nvSpPr>
          <p:cNvPr id="14" name="TextBox 13"/>
          <p:cNvSpPr txBox="1"/>
          <p:nvPr/>
        </p:nvSpPr>
        <p:spPr>
          <a:xfrm>
            <a:off x="2419350" y="3142803"/>
            <a:ext cx="1143000" cy="360045"/>
          </a:xfrm>
          <a:prstGeom prst="rect">
            <a:avLst/>
          </a:prstGeom>
          <a:noFill/>
        </p:spPr>
        <p:txBody>
          <a:bodyPr wrap="square">
            <a:spAutoFit/>
          </a:bodyPr>
          <a:lstStyle/>
          <a:p>
            <a:pPr algn="l"/>
            <a:r>
              <a:rPr sz="3150" b="0" i="0">
                <a:solidFill>
                  <a:srgbClr val="F7F4EC"/>
                </a:solidFill>
                <a:latin typeface="Cormorant Garamond"/>
              </a:rPr>
              <a:t>Customers</a:t>
            </a:r>
          </a:p>
        </p:txBody>
      </p:sp>
      <p:sp>
        <p:nvSpPr>
          <p:cNvPr id="15" name="TextBox 14"/>
          <p:cNvSpPr txBox="1"/>
          <p:nvPr/>
        </p:nvSpPr>
        <p:spPr>
          <a:xfrm>
            <a:off x="2295525" y="3619500"/>
            <a:ext cx="1390650" cy="308520"/>
          </a:xfrm>
          <a:prstGeom prst="rect">
            <a:avLst/>
          </a:prstGeom>
          <a:noFill/>
        </p:spPr>
        <p:txBody>
          <a:bodyPr wrap="square">
            <a:spAutoFit/>
          </a:bodyPr>
          <a:lstStyle/>
          <a:p>
            <a:pPr algn="ctr"/>
            <a:r>
              <a:rPr sz="1800" b="0" i="0">
                <a:solidFill>
                  <a:srgbClr val="14281C"/>
                </a:solidFill>
                <a:latin typeface="Rubik"/>
              </a:rPr>
              <a:t>Segments · Markets · B2B · Unit economics</a:t>
            </a:r>
          </a:p>
        </p:txBody>
      </p:sp>
      <p:sp>
        <p:nvSpPr>
          <p:cNvPr id="16" name="TextBox 15"/>
          <p:cNvSpPr txBox="1"/>
          <p:nvPr/>
        </p:nvSpPr>
        <p:spPr>
          <a:xfrm>
            <a:off x="4000500" y="1524000"/>
            <a:ext cx="347662" cy="720090"/>
          </a:xfrm>
          <a:prstGeom prst="rect">
            <a:avLst/>
          </a:prstGeom>
          <a:noFill/>
        </p:spPr>
        <p:txBody>
          <a:bodyPr wrap="square">
            <a:spAutoFit/>
          </a:bodyPr>
          <a:lstStyle/>
          <a:p>
            <a:pPr algn="l"/>
            <a:r>
              <a:rPr sz="6300" b="0" i="0">
                <a:solidFill>
                  <a:srgbClr val="D9B45A"/>
                </a:solidFill>
                <a:latin typeface="Cormorant Garamond"/>
              </a:rPr>
              <a:t>03</a:t>
            </a:r>
          </a:p>
        </p:txBody>
      </p:sp>
      <p:sp>
        <p:nvSpPr>
          <p:cNvPr id="17" name="TextBox 16"/>
          <p:cNvSpPr txBox="1"/>
          <p:nvPr/>
        </p:nvSpPr>
        <p:spPr>
          <a:xfrm>
            <a:off x="4000500" y="3142803"/>
            <a:ext cx="1143000" cy="360045"/>
          </a:xfrm>
          <a:prstGeom prst="rect">
            <a:avLst/>
          </a:prstGeom>
          <a:noFill/>
        </p:spPr>
        <p:txBody>
          <a:bodyPr wrap="square">
            <a:spAutoFit/>
          </a:bodyPr>
          <a:lstStyle/>
          <a:p>
            <a:pPr algn="l"/>
            <a:r>
              <a:rPr sz="3150" b="0" i="0">
                <a:solidFill>
                  <a:srgbClr val="F7F4EC"/>
                </a:solidFill>
                <a:latin typeface="Cormorant Garamond"/>
              </a:rPr>
              <a:t>Marketing</a:t>
            </a:r>
          </a:p>
        </p:txBody>
      </p:sp>
      <p:sp>
        <p:nvSpPr>
          <p:cNvPr id="18" name="TextBox 17"/>
          <p:cNvSpPr txBox="1"/>
          <p:nvPr/>
        </p:nvSpPr>
        <p:spPr>
          <a:xfrm>
            <a:off x="3876675" y="3619500"/>
            <a:ext cx="1390650" cy="462781"/>
          </a:xfrm>
          <a:prstGeom prst="rect">
            <a:avLst/>
          </a:prstGeom>
          <a:noFill/>
        </p:spPr>
        <p:txBody>
          <a:bodyPr wrap="square">
            <a:spAutoFit/>
          </a:bodyPr>
          <a:lstStyle/>
          <a:p>
            <a:pPr algn="ctr"/>
            <a:r>
              <a:rPr sz="1800" b="0" i="0">
                <a:solidFill>
                  <a:srgbClr val="6B776E"/>
                </a:solidFill>
                <a:latin typeface="Rubik"/>
              </a:rPr>
              <a:t>Content · KPIs · Operating model · Budget · Distributors</a:t>
            </a:r>
          </a:p>
        </p:txBody>
      </p:sp>
      <p:sp>
        <p:nvSpPr>
          <p:cNvPr id="19" name="TextBox 18"/>
          <p:cNvSpPr txBox="1"/>
          <p:nvPr/>
        </p:nvSpPr>
        <p:spPr>
          <a:xfrm>
            <a:off x="5581650" y="1524000"/>
            <a:ext cx="372516" cy="720090"/>
          </a:xfrm>
          <a:prstGeom prst="rect">
            <a:avLst/>
          </a:prstGeom>
          <a:noFill/>
        </p:spPr>
        <p:txBody>
          <a:bodyPr wrap="square">
            <a:spAutoFit/>
          </a:bodyPr>
          <a:lstStyle/>
          <a:p>
            <a:pPr algn="l"/>
            <a:r>
              <a:rPr sz="6300" b="0" i="0">
                <a:solidFill>
                  <a:srgbClr val="D9B45A"/>
                </a:solidFill>
                <a:latin typeface="Cormorant Garamond"/>
              </a:rPr>
              <a:t>04</a:t>
            </a:r>
          </a:p>
        </p:txBody>
      </p:sp>
      <p:sp>
        <p:nvSpPr>
          <p:cNvPr id="20" name="TextBox 19"/>
          <p:cNvSpPr txBox="1"/>
          <p:nvPr/>
        </p:nvSpPr>
        <p:spPr>
          <a:xfrm>
            <a:off x="5581650" y="3142803"/>
            <a:ext cx="1143000" cy="360045"/>
          </a:xfrm>
          <a:prstGeom prst="rect">
            <a:avLst/>
          </a:prstGeom>
          <a:noFill/>
        </p:spPr>
        <p:txBody>
          <a:bodyPr wrap="square">
            <a:spAutoFit/>
          </a:bodyPr>
          <a:lstStyle/>
          <a:p>
            <a:pPr algn="l"/>
            <a:r>
              <a:rPr sz="3150" b="0" i="0">
                <a:solidFill>
                  <a:srgbClr val="F7F4EC"/>
                </a:solidFill>
                <a:latin typeface="Cormorant Garamond"/>
              </a:rPr>
              <a:t>Financial Plan</a:t>
            </a:r>
          </a:p>
        </p:txBody>
      </p:sp>
      <p:sp>
        <p:nvSpPr>
          <p:cNvPr id="21" name="TextBox 20"/>
          <p:cNvSpPr txBox="1"/>
          <p:nvPr/>
        </p:nvSpPr>
        <p:spPr>
          <a:xfrm>
            <a:off x="5457825" y="3619500"/>
            <a:ext cx="1390650" cy="308520"/>
          </a:xfrm>
          <a:prstGeom prst="rect">
            <a:avLst/>
          </a:prstGeom>
          <a:noFill/>
        </p:spPr>
        <p:txBody>
          <a:bodyPr wrap="square">
            <a:spAutoFit/>
          </a:bodyPr>
          <a:lstStyle/>
          <a:p>
            <a:pPr algn="ctr"/>
            <a:r>
              <a:rPr sz="1800" b="0" i="0">
                <a:solidFill>
                  <a:srgbClr val="6B776E"/>
                </a:solidFill>
                <a:latin typeface="Rubik"/>
              </a:rPr>
              <a:t>P&amp;L · Balance sheet · Investment &amp; ROI</a:t>
            </a:r>
          </a:p>
        </p:txBody>
      </p:sp>
      <p:sp>
        <p:nvSpPr>
          <p:cNvPr id="22" name="TextBox 21"/>
          <p:cNvSpPr txBox="1"/>
          <p:nvPr/>
        </p:nvSpPr>
        <p:spPr>
          <a:xfrm>
            <a:off x="7162800" y="1524000"/>
            <a:ext cx="354508" cy="720090"/>
          </a:xfrm>
          <a:prstGeom prst="rect">
            <a:avLst/>
          </a:prstGeom>
          <a:noFill/>
        </p:spPr>
        <p:txBody>
          <a:bodyPr wrap="squar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squar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squar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8.png"/>
          <p:cNvPicPr>
            <a:picLocks noChangeAspect="1"/>
          </p:cNvPicPr>
          <p:nvPr/>
        </p:nvPicPr>
        <p:blipFill>
          <a:blip r:embed="rId2"/>
          <a:stretch>
            <a:fillRect/>
          </a:stretch>
        </p:blipFill>
        <p:spPr>
          <a:xfrm>
            <a:off x="0" y="0"/>
            <a:ext cx="9144000" cy="5143500"/>
          </a:xfrm>
          <a:prstGeom prst="rect">
            <a:avLst/>
          </a:prstGeom>
        </p:spPr>
      </p:pic>
      <p:pic>
        <p:nvPicPr>
          <p:cNvPr id="3" name="Picture 2" descr="c6dd24b92400134059fc0c40d7e564c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square">
            <a:spAutoFit/>
          </a:bodyPr>
          <a:lstStyle/>
          <a:p>
            <a:pPr algn="l"/>
            <a:r>
              <a:rPr sz="19500" b="0" i="0">
                <a:solidFill>
                  <a:srgbClr val="D9B45A"/>
                </a:solidFill>
                <a:latin typeface="Cormorant Garamond"/>
              </a:rPr>
              <a:t>02</a:t>
            </a:r>
          </a:p>
        </p:txBody>
      </p:sp>
      <p:sp>
        <p:nvSpPr>
          <p:cNvPr id="5" name="TextBox 4"/>
          <p:cNvSpPr txBox="1"/>
          <p:nvPr/>
        </p:nvSpPr>
        <p:spPr>
          <a:xfrm>
            <a:off x="609600" y="2286000"/>
            <a:ext cx="3619500" cy="1097280"/>
          </a:xfrm>
          <a:prstGeom prst="rect">
            <a:avLst/>
          </a:prstGeom>
          <a:noFill/>
        </p:spPr>
        <p:txBody>
          <a:bodyPr wrap="square">
            <a:spAutoFit/>
          </a:bodyPr>
          <a:lstStyle/>
          <a:p>
            <a:pPr algn="l"/>
            <a:r>
              <a:rPr sz="9600" b="0" i="0">
                <a:solidFill>
                  <a:srgbClr val="F7F4EC"/>
                </a:solidFill>
                <a:latin typeface="Cormorant Garamond"/>
              </a:rPr>
              <a:t>Customers</a:t>
            </a:r>
          </a:p>
        </p:txBody>
      </p:sp>
      <p:sp>
        <p:nvSpPr>
          <p:cNvPr id="6" name="TextBox 5"/>
          <p:cNvSpPr txBox="1"/>
          <p:nvPr/>
        </p:nvSpPr>
        <p:spPr>
          <a:xfrm>
            <a:off x="609600" y="3048000"/>
            <a:ext cx="3619500" cy="257175"/>
          </a:xfrm>
          <a:prstGeom prst="rect">
            <a:avLst/>
          </a:prstGeom>
          <a:noFill/>
        </p:spPr>
        <p:txBody>
          <a:bodyPr wrap="squar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square">
            <a:spAutoFit/>
          </a:bodyPr>
          <a:lstStyle/>
          <a:p>
            <a:pPr algn="l"/>
            <a:r>
              <a:rPr sz="3000" b="0" i="1">
                <a:solidFill>
                  <a:srgbClr val="D9B45A"/>
                </a:solidFill>
                <a:latin typeface="Cormorant Garamond"/>
              </a:rPr>
              <a:t>Segments · Markets · B2B · Unit economics</a:t>
            </a:r>
          </a:p>
        </p:txBody>
      </p:sp>
    </p:spTree>
  </p:cSld>
  <p:clrMapOvr>
    <a:masterClrMapping/>
  </p:clrMapOvr>
  <p:transition dur="500" advClick="1">
    <p:fade/>
  </p:transition>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19.png"/>
          <p:cNvPicPr>
            <a:picLocks noChangeAspect="1"/>
          </p:cNvPicPr>
          <p:nvPr/>
        </p:nvPicPr>
        <p:blipFill>
          <a:blip r:embed="rId2"/>
          <a:stretch>
            <a:fillRect/>
          </a:stretch>
        </p:blipFill>
        <p:spPr>
          <a:xfrm>
            <a:off x="0" y="0"/>
            <a:ext cx="9144000" cy="5143500"/>
          </a:xfrm>
          <a:prstGeom prst="rect">
            <a:avLst/>
          </a:prstGeom>
        </p:spPr>
      </p:pic>
      <p:pic>
        <p:nvPicPr>
          <p:cNvPr id="3" name="Picture 2" descr="ee25cd9f4e19cb582224cf8a138e67dd.jpg"/>
          <p:cNvPicPr>
            <a:picLocks noChangeAspect="1"/>
          </p:cNvPicPr>
          <p:nvPr/>
        </p:nvPicPr>
        <p:blipFill>
          <a:blip r:embed="rId3"/>
          <a:stretch>
            <a:fillRect/>
          </a:stretch>
        </p:blipFill>
        <p:spPr>
          <a:xfrm>
            <a:off x="609600" y="1209600"/>
            <a:ext cx="1881187" cy="3095625"/>
          </a:xfrm>
          <a:prstGeom prst="rect">
            <a:avLst/>
          </a:prstGeom>
        </p:spPr>
      </p:pic>
      <p:pic>
        <p:nvPicPr>
          <p:cNvPr id="4" name="Picture 3" descr="c9ad53525a492b1f49f3ed6dc0fa0478.jpg"/>
          <p:cNvPicPr>
            <a:picLocks noChangeAspect="1"/>
          </p:cNvPicPr>
          <p:nvPr/>
        </p:nvPicPr>
        <p:blipFill>
          <a:blip r:embed="rId4"/>
          <a:stretch>
            <a:fillRect/>
          </a:stretch>
        </p:blipFill>
        <p:spPr>
          <a:xfrm>
            <a:off x="2624137" y="1209600"/>
            <a:ext cx="1881187" cy="3095625"/>
          </a:xfrm>
          <a:prstGeom prst="rect">
            <a:avLst/>
          </a:prstGeom>
        </p:spPr>
      </p:pic>
      <p:pic>
        <p:nvPicPr>
          <p:cNvPr id="5" name="Picture 4" descr="c09dfecdd5ddcb0e6778a148950857db.jpg"/>
          <p:cNvPicPr>
            <a:picLocks noChangeAspect="1"/>
          </p:cNvPicPr>
          <p:nvPr/>
        </p:nvPicPr>
        <p:blipFill>
          <a:blip r:embed="rId5"/>
          <a:stretch>
            <a:fillRect/>
          </a:stretch>
        </p:blipFill>
        <p:spPr>
          <a:xfrm>
            <a:off x="4638675" y="1209600"/>
            <a:ext cx="1881187" cy="3095625"/>
          </a:xfrm>
          <a:prstGeom prst="rect">
            <a:avLst/>
          </a:prstGeom>
        </p:spPr>
      </p:pic>
      <p:pic>
        <p:nvPicPr>
          <p:cNvPr id="6" name="Picture 5" descr="c9f84b9859f62e589fc464a93229d02b.jpg"/>
          <p:cNvPicPr>
            <a:picLocks noChangeAspect="1"/>
          </p:cNvPicPr>
          <p:nvPr/>
        </p:nvPicPr>
        <p:blipFill>
          <a:blip r:embed="rId6"/>
          <a:stretch>
            <a:fillRect/>
          </a:stretch>
        </p:blipFill>
        <p:spPr>
          <a:xfrm>
            <a:off x="6653212" y="1209600"/>
            <a:ext cx="1881187" cy="3095625"/>
          </a:xfrm>
          <a:prstGeom prst="rect">
            <a:avLst/>
          </a:prstGeom>
        </p:spPr>
      </p:pic>
      <p:sp>
        <p:nvSpPr>
          <p:cNvPr id="7" name="TextBox 6"/>
          <p:cNvSpPr txBox="1"/>
          <p:nvPr/>
        </p:nvSpPr>
        <p:spPr>
          <a:xfrm>
            <a:off x="609600" y="533400"/>
            <a:ext cx="3235449" cy="205740"/>
          </a:xfrm>
          <a:prstGeom prst="rect">
            <a:avLst/>
          </a:prstGeom>
          <a:noFill/>
        </p:spPr>
        <p:txBody>
          <a:bodyPr wrap="square">
            <a:spAutoFit/>
          </a:bodyPr>
          <a:lstStyle/>
          <a:p>
            <a:pPr algn="l"/>
            <a:r>
              <a:rPr sz="1800" b="0" i="0" spc="300">
                <a:solidFill>
                  <a:srgbClr val="8A6A22"/>
                </a:solidFill>
                <a:latin typeface="Rubik"/>
              </a:rPr>
              <a:t>CUSTOMERS · 2-1</a:t>
            </a:r>
          </a:p>
        </p:txBody>
      </p:sp>
      <p:sp>
        <p:nvSpPr>
          <p:cNvPr id="8" name="TextBox 7"/>
          <p:cNvSpPr txBox="1"/>
          <p:nvPr/>
        </p:nvSpPr>
        <p:spPr>
          <a:xfrm>
            <a:off x="609600" y="721965"/>
            <a:ext cx="3235449" cy="548640"/>
          </a:xfrm>
          <a:prstGeom prst="rect">
            <a:avLst/>
          </a:prstGeom>
          <a:noFill/>
        </p:spPr>
        <p:txBody>
          <a:bodyPr wrap="square">
            <a:spAutoFit/>
          </a:bodyPr>
          <a:lstStyle/>
          <a:p>
            <a:pPr algn="l"/>
            <a:r>
              <a:rPr sz="4800" b="0" i="0">
                <a:solidFill>
                  <a:srgbClr val="14281C"/>
                </a:solidFill>
                <a:latin typeface="Cormorant Garamond"/>
              </a:rPr>
              <a:t>Target Customer Segments</a:t>
            </a:r>
          </a:p>
        </p:txBody>
      </p:sp>
      <p:sp>
        <p:nvSpPr>
          <p:cNvPr id="9" name="TextBox 8"/>
          <p:cNvSpPr txBox="1"/>
          <p:nvPr/>
        </p:nvSpPr>
        <p:spPr>
          <a:xfrm>
            <a:off x="1045517" y="3076500"/>
            <a:ext cx="1302394" cy="285750"/>
          </a:xfrm>
          <a:prstGeom prst="rect">
            <a:avLst/>
          </a:prstGeom>
          <a:noFill/>
        </p:spPr>
        <p:txBody>
          <a:bodyPr wrap="square">
            <a:spAutoFit/>
          </a:bodyPr>
          <a:lstStyle/>
          <a:p>
            <a:pPr algn="l"/>
            <a:r>
              <a:rPr sz="1875" b="0" i="0" spc="150">
                <a:solidFill>
                  <a:srgbClr val="F7F4EC"/>
                </a:solidFill>
                <a:latin typeface="Rubik"/>
              </a:rPr>
              <a:t>GOURMET CONSUMER</a:t>
            </a:r>
          </a:p>
        </p:txBody>
      </p:sp>
      <p:sp>
        <p:nvSpPr>
          <p:cNvPr id="10" name="TextBox 9"/>
          <p:cNvSpPr txBox="1"/>
          <p:nvPr/>
        </p:nvSpPr>
        <p:spPr>
          <a:xfrm>
            <a:off x="894829" y="3419400"/>
            <a:ext cx="1453083" cy="222885"/>
          </a:xfrm>
          <a:prstGeom prst="rect">
            <a:avLst/>
          </a:prstGeom>
          <a:noFill/>
        </p:spPr>
        <p:txBody>
          <a:bodyPr wrap="square">
            <a:spAutoFit/>
          </a:bodyPr>
          <a:lstStyle/>
          <a:p>
            <a:pPr algn="l"/>
            <a:r>
              <a:rPr sz="1950" b="0" i="0">
                <a:solidFill>
                  <a:srgbClr val="E4EBE1"/>
                </a:solidFill>
                <a:latin typeface="Rubik"/>
              </a:rPr>
              <a:t>Taste + provenance</a:t>
            </a:r>
          </a:p>
        </p:txBody>
      </p:sp>
      <p:sp>
        <p:nvSpPr>
          <p:cNvPr id="11" name="TextBox 10"/>
          <p:cNvSpPr txBox="1"/>
          <p:nvPr/>
        </p:nvSpPr>
        <p:spPr>
          <a:xfrm>
            <a:off x="894829" y="3611314"/>
            <a:ext cx="1453083" cy="222885"/>
          </a:xfrm>
          <a:prstGeom prst="rect">
            <a:avLst/>
          </a:prstGeom>
          <a:noFill/>
        </p:spPr>
        <p:txBody>
          <a:bodyPr wrap="square">
            <a:spAutoFit/>
          </a:bodyPr>
          <a:lstStyle/>
          <a:p>
            <a:pPr algn="l"/>
            <a:r>
              <a:rPr sz="1950" b="0" i="0">
                <a:solidFill>
                  <a:srgbClr val="E4EBE1"/>
                </a:solidFill>
                <a:latin typeface="Rubik"/>
              </a:rPr>
              <a:t>Premium but accessible</a:t>
            </a:r>
          </a:p>
        </p:txBody>
      </p:sp>
      <p:sp>
        <p:nvSpPr>
          <p:cNvPr id="12" name="TextBox 11"/>
          <p:cNvSpPr txBox="1"/>
          <p:nvPr/>
        </p:nvSpPr>
        <p:spPr>
          <a:xfrm>
            <a:off x="894829" y="3803228"/>
            <a:ext cx="1453083" cy="222885"/>
          </a:xfrm>
          <a:prstGeom prst="rect">
            <a:avLst/>
          </a:prstGeom>
          <a:noFill/>
        </p:spPr>
        <p:txBody>
          <a:bodyPr wrap="square">
            <a:spAutoFit/>
          </a:bodyPr>
          <a:lstStyle/>
          <a:p>
            <a:pPr algn="l"/>
            <a:r>
              <a:rPr sz="1950" b="0" i="0">
                <a:solidFill>
                  <a:srgbClr val="E4EBE1"/>
                </a:solidFill>
                <a:latin typeface="Rubik"/>
              </a:rPr>
              <a:t>Discovery sets</a:t>
            </a:r>
          </a:p>
        </p:txBody>
      </p:sp>
      <p:sp>
        <p:nvSpPr>
          <p:cNvPr id="13" name="TextBox 12"/>
          <p:cNvSpPr txBox="1"/>
          <p:nvPr/>
        </p:nvSpPr>
        <p:spPr>
          <a:xfrm>
            <a:off x="894829" y="3995142"/>
            <a:ext cx="1453083" cy="222885"/>
          </a:xfrm>
          <a:prstGeom prst="rect">
            <a:avLst/>
          </a:prstGeom>
          <a:noFill/>
        </p:spPr>
        <p:txBody>
          <a:bodyPr wrap="square">
            <a:spAutoFit/>
          </a:bodyPr>
          <a:lstStyle/>
          <a:p>
            <a:pPr algn="l"/>
            <a:r>
              <a:rPr sz="1950" b="0" i="0">
                <a:solidFill>
                  <a:srgbClr val="E4EBE1"/>
                </a:solidFill>
                <a:latin typeface="Rubik"/>
              </a:rPr>
              <a:t>Recipe-led EC</a:t>
            </a:r>
          </a:p>
        </p:txBody>
      </p:sp>
      <p:sp>
        <p:nvSpPr>
          <p:cNvPr id="14" name="TextBox 13"/>
          <p:cNvSpPr txBox="1"/>
          <p:nvPr/>
        </p:nvSpPr>
        <p:spPr>
          <a:xfrm>
            <a:off x="3081337" y="3128888"/>
            <a:ext cx="1267345" cy="214312"/>
          </a:xfrm>
          <a:prstGeom prst="rect">
            <a:avLst/>
          </a:prstGeom>
          <a:noFill/>
        </p:spPr>
        <p:txBody>
          <a:bodyPr wrap="square">
            <a:spAutoFit/>
          </a:bodyPr>
          <a:lstStyle/>
          <a:p>
            <a:pPr algn="l"/>
            <a:r>
              <a:rPr sz="1875" b="0" i="0" spc="150">
                <a:solidFill>
                  <a:srgbClr val="F7F4EC"/>
                </a:solidFill>
                <a:latin typeface="Rubik"/>
              </a:rPr>
              <a:t>HEALTH / ORGANIC</a:t>
            </a:r>
          </a:p>
        </p:txBody>
      </p:sp>
      <p:sp>
        <p:nvSpPr>
          <p:cNvPr id="15" name="TextBox 14"/>
          <p:cNvSpPr txBox="1"/>
          <p:nvPr/>
        </p:nvSpPr>
        <p:spPr>
          <a:xfrm>
            <a:off x="2909366" y="3381300"/>
            <a:ext cx="1453083" cy="222885"/>
          </a:xfrm>
          <a:prstGeom prst="rect">
            <a:avLst/>
          </a:prstGeom>
          <a:noFill/>
        </p:spPr>
        <p:txBody>
          <a:bodyPr wrap="square">
            <a:spAutoFit/>
          </a:bodyPr>
          <a:lstStyle/>
          <a:p>
            <a:pPr algn="l"/>
            <a:r>
              <a:rPr sz="1950" b="0" i="0">
                <a:solidFill>
                  <a:srgbClr val="E4EBE1"/>
                </a:solidFill>
                <a:latin typeface="Rubik"/>
              </a:rPr>
              <a:t>Organic certification</a:t>
            </a:r>
          </a:p>
        </p:txBody>
      </p:sp>
      <p:sp>
        <p:nvSpPr>
          <p:cNvPr id="16" name="TextBox 15"/>
          <p:cNvSpPr txBox="1"/>
          <p:nvPr/>
        </p:nvSpPr>
        <p:spPr>
          <a:xfrm>
            <a:off x="2909366" y="3573214"/>
            <a:ext cx="1453083" cy="222885"/>
          </a:xfrm>
          <a:prstGeom prst="rect">
            <a:avLst/>
          </a:prstGeom>
          <a:noFill/>
        </p:spPr>
        <p:txBody>
          <a:bodyPr wrap="square">
            <a:spAutoFit/>
          </a:bodyPr>
          <a:lstStyle/>
          <a:p>
            <a:pPr algn="l"/>
            <a:r>
              <a:rPr sz="1950" b="0" i="0">
                <a:solidFill>
                  <a:srgbClr val="E4EBE1"/>
                </a:solidFill>
                <a:latin typeface="Rubik"/>
              </a:rPr>
              <a:t>Natural positioning</a:t>
            </a:r>
          </a:p>
        </p:txBody>
      </p:sp>
      <p:sp>
        <p:nvSpPr>
          <p:cNvPr id="17" name="TextBox 16"/>
          <p:cNvSpPr txBox="1"/>
          <p:nvPr/>
        </p:nvSpPr>
        <p:spPr>
          <a:xfrm>
            <a:off x="2909366" y="3765128"/>
            <a:ext cx="1453083" cy="222885"/>
          </a:xfrm>
          <a:prstGeom prst="rect">
            <a:avLst/>
          </a:prstGeom>
          <a:noFill/>
        </p:spPr>
        <p:txBody>
          <a:bodyPr wrap="square">
            <a:spAutoFit/>
          </a:bodyPr>
          <a:lstStyle/>
          <a:p>
            <a:pPr algn="l"/>
            <a:r>
              <a:rPr sz="1950" b="0" i="0">
                <a:solidFill>
                  <a:srgbClr val="E4EBE1"/>
                </a:solidFill>
                <a:latin typeface="Rubik"/>
              </a:rPr>
              <a:t>Clean-label story</a:t>
            </a:r>
          </a:p>
        </p:txBody>
      </p:sp>
      <p:sp>
        <p:nvSpPr>
          <p:cNvPr id="18" name="TextBox 17"/>
          <p:cNvSpPr txBox="1"/>
          <p:nvPr/>
        </p:nvSpPr>
        <p:spPr>
          <a:xfrm>
            <a:off x="2909366" y="3957042"/>
            <a:ext cx="1453083" cy="222885"/>
          </a:xfrm>
          <a:prstGeom prst="rect">
            <a:avLst/>
          </a:prstGeom>
          <a:noFill/>
        </p:spPr>
        <p:txBody>
          <a:bodyPr wrap="square">
            <a:spAutoFit/>
          </a:bodyPr>
          <a:lstStyle/>
          <a:p>
            <a:pPr algn="l"/>
            <a:r>
              <a:rPr sz="1950" b="0" i="0">
                <a:solidFill>
                  <a:srgbClr val="E4EBE1"/>
                </a:solidFill>
                <a:latin typeface="Rubik"/>
              </a:rPr>
              <a:t>Organic channels</a:t>
            </a:r>
          </a:p>
        </p:txBody>
      </p:sp>
      <p:sp>
        <p:nvSpPr>
          <p:cNvPr id="19" name="TextBox 18"/>
          <p:cNvSpPr txBox="1"/>
          <p:nvPr/>
        </p:nvSpPr>
        <p:spPr>
          <a:xfrm>
            <a:off x="5095875" y="3128888"/>
            <a:ext cx="1135186" cy="214312"/>
          </a:xfrm>
          <a:prstGeom prst="rect">
            <a:avLst/>
          </a:prstGeom>
          <a:noFill/>
        </p:spPr>
        <p:txBody>
          <a:bodyPr wrap="square">
            <a:spAutoFit/>
          </a:bodyPr>
          <a:lstStyle/>
          <a:p>
            <a:pPr algn="l"/>
            <a:r>
              <a:rPr sz="1875" b="0" i="0" spc="150">
                <a:solidFill>
                  <a:srgbClr val="F7F4EC"/>
                </a:solidFill>
                <a:latin typeface="Rubik"/>
              </a:rPr>
              <a:t>CHEFS / HORECA</a:t>
            </a:r>
          </a:p>
        </p:txBody>
      </p:sp>
      <p:sp>
        <p:nvSpPr>
          <p:cNvPr id="20" name="TextBox 19"/>
          <p:cNvSpPr txBox="1"/>
          <p:nvPr/>
        </p:nvSpPr>
        <p:spPr>
          <a:xfrm>
            <a:off x="4923904" y="3381300"/>
            <a:ext cx="1453083" cy="222885"/>
          </a:xfrm>
          <a:prstGeom prst="rect">
            <a:avLst/>
          </a:prstGeom>
          <a:noFill/>
        </p:spPr>
        <p:txBody>
          <a:bodyPr wrap="square">
            <a:spAutoFit/>
          </a:bodyPr>
          <a:lstStyle/>
          <a:p>
            <a:pPr algn="l"/>
            <a:r>
              <a:rPr sz="1950" b="0" i="0">
                <a:solidFill>
                  <a:srgbClr val="E4EBE1"/>
                </a:solidFill>
                <a:latin typeface="Rubik"/>
              </a:rPr>
              <a:t>Signature dishes</a:t>
            </a:r>
          </a:p>
        </p:txBody>
      </p:sp>
      <p:sp>
        <p:nvSpPr>
          <p:cNvPr id="21" name="TextBox 20"/>
          <p:cNvSpPr txBox="1"/>
          <p:nvPr/>
        </p:nvSpPr>
        <p:spPr>
          <a:xfrm>
            <a:off x="4923904" y="3573214"/>
            <a:ext cx="1453083" cy="222885"/>
          </a:xfrm>
          <a:prstGeom prst="rect">
            <a:avLst/>
          </a:prstGeom>
          <a:noFill/>
        </p:spPr>
        <p:txBody>
          <a:bodyPr wrap="square">
            <a:spAutoFit/>
          </a:bodyPr>
          <a:lstStyle/>
          <a:p>
            <a:pPr algn="l"/>
            <a:r>
              <a:rPr sz="1950" b="0" i="0">
                <a:solidFill>
                  <a:srgbClr val="E4EBE1"/>
                </a:solidFill>
                <a:latin typeface="Rubik"/>
              </a:rPr>
              <a:t>Premium oil</a:t>
            </a:r>
          </a:p>
        </p:txBody>
      </p:sp>
      <p:sp>
        <p:nvSpPr>
          <p:cNvPr id="22" name="TextBox 21"/>
          <p:cNvSpPr txBox="1"/>
          <p:nvPr/>
        </p:nvSpPr>
        <p:spPr>
          <a:xfrm>
            <a:off x="4923904" y="3765128"/>
            <a:ext cx="1453083" cy="222885"/>
          </a:xfrm>
          <a:prstGeom prst="rect">
            <a:avLst/>
          </a:prstGeom>
          <a:noFill/>
        </p:spPr>
        <p:txBody>
          <a:bodyPr wrap="square">
            <a:spAutoFit/>
          </a:bodyPr>
          <a:lstStyle/>
          <a:p>
            <a:pPr algn="l"/>
            <a:r>
              <a:rPr sz="1950" b="0" i="0">
                <a:solidFill>
                  <a:srgbClr val="E4EBE1"/>
                </a:solidFill>
                <a:latin typeface="Rubik"/>
              </a:rPr>
              <a:t>Menu collaboration</a:t>
            </a:r>
          </a:p>
        </p:txBody>
      </p:sp>
      <p:sp>
        <p:nvSpPr>
          <p:cNvPr id="23" name="TextBox 22"/>
          <p:cNvSpPr txBox="1"/>
          <p:nvPr/>
        </p:nvSpPr>
        <p:spPr>
          <a:xfrm>
            <a:off x="4923904" y="3957042"/>
            <a:ext cx="1453083" cy="222885"/>
          </a:xfrm>
          <a:prstGeom prst="rect">
            <a:avLst/>
          </a:prstGeom>
          <a:noFill/>
        </p:spPr>
        <p:txBody>
          <a:bodyPr wrap="square">
            <a:spAutoFit/>
          </a:bodyPr>
          <a:lstStyle/>
          <a:p>
            <a:pPr algn="l"/>
            <a:r>
              <a:rPr sz="1950" b="0" i="0">
                <a:solidFill>
                  <a:srgbClr val="E4EBE1"/>
                </a:solidFill>
                <a:latin typeface="Rubik"/>
              </a:rPr>
              <a:t>Sampling → account</a:t>
            </a:r>
          </a:p>
        </p:txBody>
      </p:sp>
      <p:sp>
        <p:nvSpPr>
          <p:cNvPr id="24" name="TextBox 23"/>
          <p:cNvSpPr txBox="1"/>
          <p:nvPr/>
        </p:nvSpPr>
        <p:spPr>
          <a:xfrm>
            <a:off x="7110412" y="3128888"/>
            <a:ext cx="979884" cy="214312"/>
          </a:xfrm>
          <a:prstGeom prst="rect">
            <a:avLst/>
          </a:prstGeom>
          <a:noFill/>
        </p:spPr>
        <p:txBody>
          <a:bodyPr wrap="square">
            <a:spAutoFit/>
          </a:bodyPr>
          <a:lstStyle/>
          <a:p>
            <a:pPr algn="l"/>
            <a:r>
              <a:rPr sz="1875" b="0" i="0" spc="150">
                <a:solidFill>
                  <a:srgbClr val="F7F4EC"/>
                </a:solidFill>
                <a:latin typeface="Rubik"/>
              </a:rPr>
              <a:t>LUXURY / GIFT</a:t>
            </a:r>
          </a:p>
        </p:txBody>
      </p:sp>
      <p:sp>
        <p:nvSpPr>
          <p:cNvPr id="25" name="TextBox 24"/>
          <p:cNvSpPr txBox="1"/>
          <p:nvPr/>
        </p:nvSpPr>
        <p:spPr>
          <a:xfrm>
            <a:off x="6938441" y="3381300"/>
            <a:ext cx="1453083" cy="222885"/>
          </a:xfrm>
          <a:prstGeom prst="rect">
            <a:avLst/>
          </a:prstGeom>
          <a:noFill/>
        </p:spPr>
        <p:txBody>
          <a:bodyPr wrap="square">
            <a:spAutoFit/>
          </a:bodyPr>
          <a:lstStyle/>
          <a:p>
            <a:pPr algn="l"/>
            <a:r>
              <a:rPr sz="1950" b="0" i="0">
                <a:solidFill>
                  <a:srgbClr val="E4EBE1"/>
                </a:solidFill>
                <a:latin typeface="Rubik"/>
              </a:rPr>
              <a:t>MOHRA</a:t>
            </a:r>
          </a:p>
        </p:txBody>
      </p:sp>
      <p:sp>
        <p:nvSpPr>
          <p:cNvPr id="26" name="TextBox 25"/>
          <p:cNvSpPr txBox="1"/>
          <p:nvPr/>
        </p:nvSpPr>
        <p:spPr>
          <a:xfrm>
            <a:off x="6938441" y="3573214"/>
            <a:ext cx="1453083" cy="222885"/>
          </a:xfrm>
          <a:prstGeom prst="rect">
            <a:avLst/>
          </a:prstGeom>
          <a:noFill/>
        </p:spPr>
        <p:txBody>
          <a:bodyPr wrap="square">
            <a:spAutoFit/>
          </a:bodyPr>
          <a:lstStyle/>
          <a:p>
            <a:pPr algn="l"/>
            <a:r>
              <a:rPr sz="1950" b="0" i="0">
                <a:solidFill>
                  <a:srgbClr val="E4EBE1"/>
                </a:solidFill>
                <a:latin typeface="Rubik"/>
              </a:rPr>
              <a:t>Limited editions</a:t>
            </a:r>
          </a:p>
        </p:txBody>
      </p:sp>
      <p:sp>
        <p:nvSpPr>
          <p:cNvPr id="27" name="TextBox 26"/>
          <p:cNvSpPr txBox="1"/>
          <p:nvPr/>
        </p:nvSpPr>
        <p:spPr>
          <a:xfrm>
            <a:off x="6938441" y="3765128"/>
            <a:ext cx="1453083" cy="222885"/>
          </a:xfrm>
          <a:prstGeom prst="rect">
            <a:avLst/>
          </a:prstGeom>
          <a:noFill/>
        </p:spPr>
        <p:txBody>
          <a:bodyPr wrap="square">
            <a:spAutoFit/>
          </a:bodyPr>
          <a:lstStyle/>
          <a:p>
            <a:pPr algn="l"/>
            <a:r>
              <a:rPr sz="1950" b="0" i="0">
                <a:solidFill>
                  <a:srgbClr val="E4EBE1"/>
                </a:solidFill>
                <a:latin typeface="Rubik"/>
              </a:rPr>
              <a:t>Corporate gifts</a:t>
            </a:r>
          </a:p>
        </p:txBody>
      </p:sp>
      <p:sp>
        <p:nvSpPr>
          <p:cNvPr id="28" name="TextBox 27"/>
          <p:cNvSpPr txBox="1"/>
          <p:nvPr/>
        </p:nvSpPr>
        <p:spPr>
          <a:xfrm>
            <a:off x="6938441" y="3957042"/>
            <a:ext cx="1453083" cy="222885"/>
          </a:xfrm>
          <a:prstGeom prst="rect">
            <a:avLst/>
          </a:prstGeom>
          <a:noFill/>
        </p:spPr>
        <p:txBody>
          <a:bodyPr wrap="square">
            <a:spAutoFit/>
          </a:bodyPr>
          <a:lstStyle/>
          <a:p>
            <a:pPr algn="l"/>
            <a:r>
              <a:rPr sz="1950" b="0" i="0">
                <a:solidFill>
                  <a:srgbClr val="E4EBE1"/>
                </a:solidFill>
                <a:latin typeface="Rubik"/>
              </a:rPr>
              <a:t>Hotel / tourism</a:t>
            </a:r>
          </a:p>
        </p:txBody>
      </p:sp>
      <p:sp>
        <p:nvSpPr>
          <p:cNvPr id="29" name="TextBox 28"/>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18 / 35</a:t>
            </a:r>
          </a:p>
        </p:txBody>
      </p:sp>
    </p:spTree>
  </p:cSld>
  <p:clrMapOvr>
    <a:masterClrMapping/>
  </p:clrMapOvr>
  <p:transition dur="500" advClick="1">
    <p:fade/>
  </p:transition>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0.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450208" cy="205740"/>
          </a:xfrm>
          <a:prstGeom prst="rect">
            <a:avLst/>
          </a:prstGeom>
          <a:noFill/>
        </p:spPr>
        <p:txBody>
          <a:bodyPr wrap="square">
            <a:spAutoFit/>
          </a:bodyPr>
          <a:lstStyle/>
          <a:p>
            <a:pPr algn="l"/>
            <a:r>
              <a:rPr sz="1800" b="0" i="0" spc="300">
                <a:solidFill>
                  <a:srgbClr val="8A6A22"/>
                </a:solidFill>
                <a:latin typeface="Rubik"/>
              </a:rPr>
              <a:t>CUSTOMERS · 2-2</a:t>
            </a:r>
          </a:p>
        </p:txBody>
      </p:sp>
      <p:sp>
        <p:nvSpPr>
          <p:cNvPr id="4" name="TextBox 3"/>
          <p:cNvSpPr txBox="1"/>
          <p:nvPr/>
        </p:nvSpPr>
        <p:spPr>
          <a:xfrm>
            <a:off x="609600" y="721965"/>
            <a:ext cx="3450208" cy="548640"/>
          </a:xfrm>
          <a:prstGeom prst="rect">
            <a:avLst/>
          </a:prstGeom>
          <a:noFill/>
        </p:spPr>
        <p:txBody>
          <a:bodyPr wrap="square">
            <a:spAutoFit/>
          </a:bodyPr>
          <a:lstStyle/>
          <a:p>
            <a:pPr algn="l"/>
            <a:r>
              <a:rPr sz="4800" b="0" i="0">
                <a:solidFill>
                  <a:srgbClr val="14281C"/>
                </a:solidFill>
                <a:latin typeface="Cormorant Garamond"/>
              </a:rPr>
              <a:t>Global Market Prioritization</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2027: two lead markets (~70% of sales) get 80% of the effort — the others get sales time, no ad budget</a:t>
            </a:r>
          </a:p>
        </p:txBody>
      </p:sp>
      <p:sp>
        <p:nvSpPr>
          <p:cNvPr id="6" name="TextBox 5"/>
          <p:cNvSpPr txBox="1"/>
          <p:nvPr/>
        </p:nvSpPr>
        <p:spPr>
          <a:xfrm>
            <a:off x="1023937" y="1559123"/>
            <a:ext cx="1520279" cy="222885"/>
          </a:xfrm>
          <a:prstGeom prst="rect">
            <a:avLst/>
          </a:prstGeom>
          <a:noFill/>
        </p:spPr>
        <p:txBody>
          <a:bodyPr wrap="square">
            <a:spAutoFit/>
          </a:bodyPr>
          <a:lstStyle/>
          <a:p>
            <a:pPr algn="l"/>
            <a:r>
              <a:rPr sz="1950" b="0" i="0" spc="225">
                <a:solidFill>
                  <a:srgbClr val="F7F4EC"/>
                </a:solidFill>
                <a:latin typeface="Rubik"/>
              </a:rPr>
              <a:t>LEAD MARKETS 2027</a:t>
            </a:r>
          </a:p>
        </p:txBody>
      </p:sp>
      <p:sp>
        <p:nvSpPr>
          <p:cNvPr id="7" name="TextBox 6"/>
          <p:cNvSpPr txBox="1"/>
          <p:nvPr/>
        </p:nvSpPr>
        <p:spPr>
          <a:xfrm>
            <a:off x="785812" y="1941983"/>
            <a:ext cx="2200275" cy="360045"/>
          </a:xfrm>
          <a:prstGeom prst="rect">
            <a:avLst/>
          </a:prstGeom>
          <a:noFill/>
        </p:spPr>
        <p:txBody>
          <a:bodyPr wrap="square">
            <a:spAutoFit/>
          </a:bodyPr>
          <a:lstStyle/>
          <a:p>
            <a:pPr algn="l"/>
            <a:r>
              <a:rPr sz="3150" b="0" i="0">
                <a:solidFill>
                  <a:srgbClr val="14281C"/>
                </a:solidFill>
                <a:latin typeface="Cormorant Garamond"/>
              </a:rPr>
              <a:t>France / EU</a:t>
            </a:r>
          </a:p>
        </p:txBody>
      </p:sp>
      <p:sp>
        <p:nvSpPr>
          <p:cNvPr id="8" name="TextBox 7"/>
          <p:cNvSpPr txBox="1"/>
          <p:nvPr/>
        </p:nvSpPr>
        <p:spPr>
          <a:xfrm>
            <a:off x="944612" y="2220069"/>
            <a:ext cx="2041475" cy="248602"/>
          </a:xfrm>
          <a:prstGeom prst="rect">
            <a:avLst/>
          </a:prstGeom>
          <a:noFill/>
        </p:spPr>
        <p:txBody>
          <a:bodyPr wrap="square">
            <a:spAutoFit/>
          </a:bodyPr>
          <a:lstStyle/>
          <a:p>
            <a:pPr algn="l"/>
            <a:r>
              <a:rPr sz="2175" b="0" i="0">
                <a:solidFill>
                  <a:srgbClr val="46534A"/>
                </a:solidFill>
                <a:latin typeface="Rubik"/>
              </a:rPr>
              <a:t>1–2 fine-food distributors</a:t>
            </a:r>
          </a:p>
        </p:txBody>
      </p:sp>
      <p:sp>
        <p:nvSpPr>
          <p:cNvPr id="9" name="TextBox 8"/>
          <p:cNvSpPr txBox="1"/>
          <p:nvPr/>
        </p:nvSpPr>
        <p:spPr>
          <a:xfrm>
            <a:off x="944612" y="2441004"/>
            <a:ext cx="2041475" cy="248602"/>
          </a:xfrm>
          <a:prstGeom prst="rect">
            <a:avLst/>
          </a:prstGeom>
          <a:noFill/>
        </p:spPr>
        <p:txBody>
          <a:bodyPr wrap="square">
            <a:spAutoFit/>
          </a:bodyPr>
          <a:lstStyle/>
          <a:p>
            <a:pPr algn="l"/>
            <a:r>
              <a:rPr sz="2175" b="0" i="0">
                <a:solidFill>
                  <a:srgbClr val="46534A"/>
                </a:solidFill>
                <a:latin typeface="Rubik"/>
              </a:rPr>
              <a:t>Chefs, delis, organic stores</a:t>
            </a:r>
          </a:p>
        </p:txBody>
      </p:sp>
      <p:sp>
        <p:nvSpPr>
          <p:cNvPr id="10" name="TextBox 9"/>
          <p:cNvSpPr txBox="1"/>
          <p:nvPr/>
        </p:nvSpPr>
        <p:spPr>
          <a:xfrm>
            <a:off x="944612" y="2661939"/>
            <a:ext cx="2041475" cy="248602"/>
          </a:xfrm>
          <a:prstGeom prst="rect">
            <a:avLst/>
          </a:prstGeom>
          <a:noFill/>
        </p:spPr>
        <p:txBody>
          <a:bodyPr wrap="square">
            <a:spAutoFit/>
          </a:bodyPr>
          <a:lstStyle/>
          <a:p>
            <a:pPr algn="l"/>
            <a:r>
              <a:rPr sz="2175" b="0" i="0">
                <a:solidFill>
                  <a:srgbClr val="46534A"/>
                </a:solidFill>
                <a:latin typeface="Rubik"/>
              </a:rPr>
              <a:t>Hero: Premium + Organic</a:t>
            </a:r>
          </a:p>
        </p:txBody>
      </p:sp>
      <p:sp>
        <p:nvSpPr>
          <p:cNvPr id="11" name="TextBox 10"/>
          <p:cNvSpPr txBox="1"/>
          <p:nvPr/>
        </p:nvSpPr>
        <p:spPr>
          <a:xfrm>
            <a:off x="785812" y="2920975"/>
            <a:ext cx="2200275" cy="360045"/>
          </a:xfrm>
          <a:prstGeom prst="rect">
            <a:avLst/>
          </a:prstGeom>
          <a:noFill/>
        </p:spPr>
        <p:txBody>
          <a:bodyPr wrap="square">
            <a:spAutoFit/>
          </a:bodyPr>
          <a:lstStyle/>
          <a:p>
            <a:pPr algn="l"/>
            <a:r>
              <a:rPr sz="3150" b="0" i="0">
                <a:solidFill>
                  <a:srgbClr val="14281C"/>
                </a:solidFill>
                <a:latin typeface="Cormorant Garamond"/>
              </a:rPr>
              <a:t>Japan</a:t>
            </a:r>
          </a:p>
        </p:txBody>
      </p:sp>
      <p:sp>
        <p:nvSpPr>
          <p:cNvPr id="12" name="TextBox 11"/>
          <p:cNvSpPr txBox="1"/>
          <p:nvPr/>
        </p:nvSpPr>
        <p:spPr>
          <a:xfrm>
            <a:off x="944612" y="3199060"/>
            <a:ext cx="2041475" cy="248602"/>
          </a:xfrm>
          <a:prstGeom prst="rect">
            <a:avLst/>
          </a:prstGeom>
          <a:noFill/>
        </p:spPr>
        <p:txBody>
          <a:bodyPr wrap="square">
            <a:spAutoFit/>
          </a:bodyPr>
          <a:lstStyle/>
          <a:p>
            <a:pPr algn="l"/>
            <a:r>
              <a:rPr sz="2175" b="0" i="0">
                <a:solidFill>
                  <a:srgbClr val="46534A"/>
                </a:solidFill>
                <a:latin typeface="Rubik"/>
              </a:rPr>
              <a:t>Via Saraya group network</a:t>
            </a:r>
          </a:p>
        </p:txBody>
      </p:sp>
      <p:sp>
        <p:nvSpPr>
          <p:cNvPr id="13" name="TextBox 12"/>
          <p:cNvSpPr txBox="1"/>
          <p:nvPr/>
        </p:nvSpPr>
        <p:spPr>
          <a:xfrm>
            <a:off x="944612" y="3419995"/>
            <a:ext cx="2041475" cy="248602"/>
          </a:xfrm>
          <a:prstGeom prst="rect">
            <a:avLst/>
          </a:prstGeom>
          <a:noFill/>
        </p:spPr>
        <p:txBody>
          <a:bodyPr wrap="square">
            <a:spAutoFit/>
          </a:bodyPr>
          <a:lstStyle/>
          <a:p>
            <a:pPr algn="l"/>
            <a:r>
              <a:rPr sz="2175" b="0" i="0">
                <a:solidFill>
                  <a:srgbClr val="46534A"/>
                </a:solidFill>
                <a:latin typeface="Rubik"/>
              </a:rPr>
              <a:t>1 importer · dept. stores, EC</a:t>
            </a:r>
          </a:p>
        </p:txBody>
      </p:sp>
      <p:sp>
        <p:nvSpPr>
          <p:cNvPr id="14" name="TextBox 13"/>
          <p:cNvSpPr txBox="1"/>
          <p:nvPr/>
        </p:nvSpPr>
        <p:spPr>
          <a:xfrm>
            <a:off x="944612" y="3640931"/>
            <a:ext cx="2041475" cy="248602"/>
          </a:xfrm>
          <a:prstGeom prst="rect">
            <a:avLst/>
          </a:prstGeom>
          <a:noFill/>
        </p:spPr>
        <p:txBody>
          <a:bodyPr wrap="square">
            <a:spAutoFit/>
          </a:bodyPr>
          <a:lstStyle/>
          <a:p>
            <a:pPr algn="l"/>
            <a:r>
              <a:rPr sz="2175" b="0" i="0">
                <a:solidFill>
                  <a:srgbClr val="46534A"/>
                </a:solidFill>
                <a:latin typeface="Rubik"/>
              </a:rPr>
              <a:t>Hero: Organic (JAS) + gift box</a:t>
            </a:r>
          </a:p>
        </p:txBody>
      </p:sp>
      <p:sp>
        <p:nvSpPr>
          <p:cNvPr id="15" name="TextBox 14"/>
          <p:cNvSpPr txBox="1"/>
          <p:nvPr/>
        </p:nvSpPr>
        <p:spPr>
          <a:xfrm>
            <a:off x="3709987" y="1559123"/>
            <a:ext cx="1031825" cy="222885"/>
          </a:xfrm>
          <a:prstGeom prst="rect">
            <a:avLst/>
          </a:prstGeom>
          <a:noFill/>
        </p:spPr>
        <p:txBody>
          <a:bodyPr wrap="square">
            <a:spAutoFit/>
          </a:bodyPr>
          <a:lstStyle/>
          <a:p>
            <a:pPr algn="l"/>
            <a:r>
              <a:rPr sz="1950" b="0" i="0" spc="225">
                <a:solidFill>
                  <a:srgbClr val="F7F4EC"/>
                </a:solidFill>
                <a:latin typeface="Rubik"/>
              </a:rPr>
              <a:t>OPPORTUNITY</a:t>
            </a:r>
          </a:p>
        </p:txBody>
      </p:sp>
      <p:sp>
        <p:nvSpPr>
          <p:cNvPr id="16" name="TextBox 15"/>
          <p:cNvSpPr txBox="1"/>
          <p:nvPr/>
        </p:nvSpPr>
        <p:spPr>
          <a:xfrm>
            <a:off x="3471862" y="1941983"/>
            <a:ext cx="2200275" cy="360045"/>
          </a:xfrm>
          <a:prstGeom prst="rect">
            <a:avLst/>
          </a:prstGeom>
          <a:noFill/>
        </p:spPr>
        <p:txBody>
          <a:bodyPr wrap="square">
            <a:spAutoFit/>
          </a:bodyPr>
          <a:lstStyle/>
          <a:p>
            <a:pPr algn="l"/>
            <a:r>
              <a:rPr sz="3150" b="0" i="0">
                <a:solidFill>
                  <a:srgbClr val="14281C"/>
                </a:solidFill>
                <a:latin typeface="Cormorant Garamond"/>
              </a:rPr>
              <a:t>UAE / Saudi / Qatar</a:t>
            </a:r>
          </a:p>
        </p:txBody>
      </p:sp>
      <p:sp>
        <p:nvSpPr>
          <p:cNvPr id="17" name="TextBox 16"/>
          <p:cNvSpPr txBox="1"/>
          <p:nvPr/>
        </p:nvSpPr>
        <p:spPr>
          <a:xfrm>
            <a:off x="3630662" y="2220069"/>
            <a:ext cx="2041475" cy="248602"/>
          </a:xfrm>
          <a:prstGeom prst="rect">
            <a:avLst/>
          </a:prstGeom>
          <a:noFill/>
        </p:spPr>
        <p:txBody>
          <a:bodyPr wrap="square">
            <a:spAutoFit/>
          </a:bodyPr>
          <a:lstStyle/>
          <a:p>
            <a:pPr algn="l"/>
            <a:r>
              <a:rPr sz="2175" b="0" i="0">
                <a:solidFill>
                  <a:srgbClr val="46534A"/>
                </a:solidFill>
                <a:latin typeface="Rubik"/>
              </a:rPr>
              <a:t>Commission agent</a:t>
            </a:r>
          </a:p>
        </p:txBody>
      </p:sp>
      <p:sp>
        <p:nvSpPr>
          <p:cNvPr id="18" name="TextBox 17"/>
          <p:cNvSpPr txBox="1"/>
          <p:nvPr/>
        </p:nvSpPr>
        <p:spPr>
          <a:xfrm>
            <a:off x="3630662" y="2441004"/>
            <a:ext cx="2041475" cy="248602"/>
          </a:xfrm>
          <a:prstGeom prst="rect">
            <a:avLst/>
          </a:prstGeom>
          <a:noFill/>
        </p:spPr>
        <p:txBody>
          <a:bodyPr wrap="square">
            <a:spAutoFit/>
          </a:bodyPr>
          <a:lstStyle/>
          <a:p>
            <a:pPr algn="l"/>
            <a:r>
              <a:rPr sz="2175" b="0" i="0">
                <a:solidFill>
                  <a:srgbClr val="46534A"/>
                </a:solidFill>
                <a:latin typeface="Rubik"/>
              </a:rPr>
              <a:t>Corporate gifting, luxury hotels</a:t>
            </a:r>
          </a:p>
        </p:txBody>
      </p:sp>
      <p:sp>
        <p:nvSpPr>
          <p:cNvPr id="19" name="TextBox 18"/>
          <p:cNvSpPr txBox="1"/>
          <p:nvPr/>
        </p:nvSpPr>
        <p:spPr>
          <a:xfrm>
            <a:off x="3630662" y="2661939"/>
            <a:ext cx="2041475" cy="248602"/>
          </a:xfrm>
          <a:prstGeom prst="rect">
            <a:avLst/>
          </a:prstGeom>
          <a:noFill/>
        </p:spPr>
        <p:txBody>
          <a:bodyPr wrap="square">
            <a:spAutoFit/>
          </a:bodyPr>
          <a:lstStyle/>
          <a:p>
            <a:pPr algn="l"/>
            <a:r>
              <a:rPr sz="2175" b="0" i="0">
                <a:solidFill>
                  <a:srgbClr val="46534A"/>
                </a:solidFill>
                <a:latin typeface="Rubik"/>
              </a:rPr>
              <a:t>MOHRA + Premium gift sets</a:t>
            </a:r>
          </a:p>
        </p:txBody>
      </p:sp>
      <p:sp>
        <p:nvSpPr>
          <p:cNvPr id="20" name="TextBox 19"/>
          <p:cNvSpPr txBox="1"/>
          <p:nvPr/>
        </p:nvSpPr>
        <p:spPr>
          <a:xfrm>
            <a:off x="3471862" y="2920975"/>
            <a:ext cx="2200275" cy="360045"/>
          </a:xfrm>
          <a:prstGeom prst="rect">
            <a:avLst/>
          </a:prstGeom>
          <a:noFill/>
        </p:spPr>
        <p:txBody>
          <a:bodyPr wrap="square">
            <a:spAutoFit/>
          </a:bodyPr>
          <a:lstStyle/>
          <a:p>
            <a:pPr algn="l"/>
            <a:r>
              <a:rPr sz="3150" b="0" i="0">
                <a:solidFill>
                  <a:srgbClr val="14281C"/>
                </a:solidFill>
                <a:latin typeface="Cormorant Garamond"/>
              </a:rPr>
              <a:t>Travel retail</a:t>
            </a:r>
          </a:p>
        </p:txBody>
      </p:sp>
      <p:sp>
        <p:nvSpPr>
          <p:cNvPr id="21" name="TextBox 20"/>
          <p:cNvSpPr txBox="1"/>
          <p:nvPr/>
        </p:nvSpPr>
        <p:spPr>
          <a:xfrm>
            <a:off x="3630662" y="3199060"/>
            <a:ext cx="2041475" cy="441870"/>
          </a:xfrm>
          <a:prstGeom prst="rect">
            <a:avLst/>
          </a:prstGeom>
          <a:noFill/>
        </p:spPr>
        <p:txBody>
          <a:bodyPr wrap="square">
            <a:spAutoFit/>
          </a:bodyPr>
          <a:lstStyle/>
          <a:p>
            <a:pPr algn="l"/>
            <a:r>
              <a:rPr sz="2175" b="0" i="0">
                <a:solidFill>
                  <a:srgbClr val="46534A"/>
                </a:solidFill>
                <a:latin typeface="Rubik"/>
              </a:rPr>
              <a:t>Duty-free shops at foreign airports</a:t>
            </a:r>
          </a:p>
        </p:txBody>
      </p:sp>
      <p:sp>
        <p:nvSpPr>
          <p:cNvPr id="22" name="TextBox 21"/>
          <p:cNvSpPr txBox="1"/>
          <p:nvPr/>
        </p:nvSpPr>
        <p:spPr>
          <a:xfrm>
            <a:off x="3630662" y="3640931"/>
            <a:ext cx="2041475" cy="248602"/>
          </a:xfrm>
          <a:prstGeom prst="rect">
            <a:avLst/>
          </a:prstGeom>
          <a:noFill/>
        </p:spPr>
        <p:txBody>
          <a:bodyPr wrap="square">
            <a:spAutoFit/>
          </a:bodyPr>
          <a:lstStyle/>
          <a:p>
            <a:pPr algn="l"/>
            <a:r>
              <a:rPr sz="2175" b="0" i="0">
                <a:solidFill>
                  <a:srgbClr val="46534A"/>
                </a:solidFill>
                <a:latin typeface="Rubik"/>
              </a:rPr>
              <a:t>Travellers &amp; gifting</a:t>
            </a:r>
          </a:p>
        </p:txBody>
      </p:sp>
      <p:sp>
        <p:nvSpPr>
          <p:cNvPr id="23" name="TextBox 22"/>
          <p:cNvSpPr txBox="1"/>
          <p:nvPr/>
        </p:nvSpPr>
        <p:spPr>
          <a:xfrm>
            <a:off x="3630662" y="3861866"/>
            <a:ext cx="2041475" cy="248602"/>
          </a:xfrm>
          <a:prstGeom prst="rect">
            <a:avLst/>
          </a:prstGeom>
          <a:noFill/>
        </p:spPr>
        <p:txBody>
          <a:bodyPr wrap="square">
            <a:spAutoFit/>
          </a:bodyPr>
          <a:lstStyle/>
          <a:p>
            <a:pPr algn="l"/>
            <a:r>
              <a:rPr sz="2175" b="0" i="0">
                <a:solidFill>
                  <a:srgbClr val="46534A"/>
                </a:solidFill>
                <a:latin typeface="Rubik"/>
              </a:rPr>
              <a:t>MOHRA + Flavored gift box</a:t>
            </a:r>
          </a:p>
        </p:txBody>
      </p:sp>
      <p:sp>
        <p:nvSpPr>
          <p:cNvPr id="24" name="TextBox 23"/>
          <p:cNvSpPr txBox="1"/>
          <p:nvPr/>
        </p:nvSpPr>
        <p:spPr>
          <a:xfrm>
            <a:off x="6396037" y="1559123"/>
            <a:ext cx="1333202" cy="222885"/>
          </a:xfrm>
          <a:prstGeom prst="rect">
            <a:avLst/>
          </a:prstGeom>
          <a:noFill/>
        </p:spPr>
        <p:txBody>
          <a:bodyPr wrap="square">
            <a:spAutoFit/>
          </a:bodyPr>
          <a:lstStyle/>
          <a:p>
            <a:pPr algn="l"/>
            <a:r>
              <a:rPr sz="1950" b="0" i="0" spc="225">
                <a:solidFill>
                  <a:srgbClr val="14281C"/>
                </a:solidFill>
                <a:latin typeface="Rubik"/>
              </a:rPr>
              <a:t>2028+ · REACTIVE</a:t>
            </a:r>
          </a:p>
        </p:txBody>
      </p:sp>
      <p:sp>
        <p:nvSpPr>
          <p:cNvPr id="25" name="TextBox 24"/>
          <p:cNvSpPr txBox="1"/>
          <p:nvPr/>
        </p:nvSpPr>
        <p:spPr>
          <a:xfrm>
            <a:off x="6157912" y="1941983"/>
            <a:ext cx="2200275" cy="719956"/>
          </a:xfrm>
          <a:prstGeom prst="rect">
            <a:avLst/>
          </a:prstGeom>
          <a:noFill/>
        </p:spPr>
        <p:txBody>
          <a:bodyPr wrap="square">
            <a:spAutoFit/>
          </a:bodyPr>
          <a:lstStyle/>
          <a:p>
            <a:pPr algn="l"/>
            <a:r>
              <a:rPr sz="3150" b="0" i="0">
                <a:solidFill>
                  <a:srgbClr val="14281C"/>
                </a:solidFill>
                <a:latin typeface="Cormorant Garamond"/>
              </a:rPr>
              <a:t>North America</a:t>
            </a:r>
          </a:p>
          <a:p>
            <a:pPr algn="l"/>
            <a:r>
              <a:rPr sz="3150" b="0" i="0">
                <a:solidFill>
                  <a:srgbClr val="14281C"/>
                </a:solidFill>
                <a:latin typeface="Cormorant Garamond"/>
              </a:rPr>
              <a:t>Asia</a:t>
            </a:r>
          </a:p>
          <a:p>
            <a:pPr algn="l"/>
            <a:r>
              <a:rPr sz="3150" b="0" i="0">
                <a:solidFill>
                  <a:srgbClr val="14281C"/>
                </a:solidFill>
                <a:latin typeface="Cormorant Garamond"/>
              </a:rPr>
              <a:t>Other EU markets</a:t>
            </a:r>
          </a:p>
        </p:txBody>
      </p:sp>
      <p:sp>
        <p:nvSpPr>
          <p:cNvPr id="26" name="TextBox 25"/>
          <p:cNvSpPr txBox="1"/>
          <p:nvPr/>
        </p:nvSpPr>
        <p:spPr>
          <a:xfrm>
            <a:off x="6157912" y="2700039"/>
            <a:ext cx="2200275" cy="214312"/>
          </a:xfrm>
          <a:prstGeom prst="rect">
            <a:avLst/>
          </a:prstGeom>
          <a:noFill/>
        </p:spPr>
        <p:txBody>
          <a:bodyPr wrap="square">
            <a:spAutoFit/>
          </a:bodyPr>
          <a:lstStyle/>
          <a:p>
            <a:pPr algn="l"/>
            <a:r>
              <a:rPr sz="1875" b="0" i="1">
                <a:solidFill>
                  <a:srgbClr val="8A6A22"/>
                </a:solidFill>
                <a:latin typeface="Rubik"/>
              </a:rPr>
              <a:t>2027 approach:</a:t>
            </a:r>
          </a:p>
        </p:txBody>
      </p:sp>
      <p:sp>
        <p:nvSpPr>
          <p:cNvPr id="27" name="TextBox 26"/>
          <p:cNvSpPr txBox="1"/>
          <p:nvPr/>
        </p:nvSpPr>
        <p:spPr>
          <a:xfrm>
            <a:off x="6316712" y="2904827"/>
            <a:ext cx="2041475" cy="248602"/>
          </a:xfrm>
          <a:prstGeom prst="rect">
            <a:avLst/>
          </a:prstGeom>
          <a:noFill/>
        </p:spPr>
        <p:txBody>
          <a:bodyPr wrap="square">
            <a:spAutoFit/>
          </a:bodyPr>
          <a:lstStyle/>
          <a:p>
            <a:pPr algn="l"/>
            <a:r>
              <a:rPr sz="2175" b="0" i="0">
                <a:solidFill>
                  <a:srgbClr val="46534A"/>
                </a:solidFill>
                <a:latin typeface="Rubik"/>
              </a:rPr>
              <a:t>Answer inbound importers only</a:t>
            </a:r>
          </a:p>
        </p:txBody>
      </p:sp>
      <p:sp>
        <p:nvSpPr>
          <p:cNvPr id="28" name="TextBox 27"/>
          <p:cNvSpPr txBox="1"/>
          <p:nvPr/>
        </p:nvSpPr>
        <p:spPr>
          <a:xfrm>
            <a:off x="6316712" y="3125762"/>
            <a:ext cx="2041475" cy="441870"/>
          </a:xfrm>
          <a:prstGeom prst="rect">
            <a:avLst/>
          </a:prstGeom>
          <a:noFill/>
        </p:spPr>
        <p:txBody>
          <a:bodyPr wrap="square">
            <a:spAutoFit/>
          </a:bodyPr>
          <a:lstStyle/>
          <a:p>
            <a:pPr algn="l"/>
            <a:r>
              <a:rPr sz="2175" b="0" i="0">
                <a:solidFill>
                  <a:srgbClr val="46534A"/>
                </a:solidFill>
                <a:latin typeface="Rubik"/>
              </a:rPr>
              <a:t>USA: no surcharge on Tunisia vs 15% on EU — study in 2027</a:t>
            </a:r>
          </a:p>
        </p:txBody>
      </p:sp>
      <p:sp>
        <p:nvSpPr>
          <p:cNvPr id="29" name="TextBox 28"/>
          <p:cNvSpPr txBox="1"/>
          <p:nvPr/>
        </p:nvSpPr>
        <p:spPr>
          <a:xfrm>
            <a:off x="6316712" y="3567633"/>
            <a:ext cx="2041475" cy="441870"/>
          </a:xfrm>
          <a:prstGeom prst="rect">
            <a:avLst/>
          </a:prstGeom>
          <a:noFill/>
        </p:spPr>
        <p:txBody>
          <a:bodyPr wrap="square">
            <a:spAutoFit/>
          </a:bodyPr>
          <a:lstStyle/>
          <a:p>
            <a:pPr algn="l"/>
            <a:r>
              <a:rPr sz="2175" b="0" i="0">
                <a:solidFill>
                  <a:srgbClr val="46534A"/>
                </a:solidFill>
                <a:latin typeface="Rubik"/>
              </a:rPr>
              <a:t>Invest only with proven demand</a:t>
            </a:r>
          </a:p>
        </p:txBody>
      </p:sp>
      <p:sp>
        <p:nvSpPr>
          <p:cNvPr id="30" name="TextBox 29"/>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19 / 35</a:t>
            </a:r>
          </a:p>
        </p:txBody>
      </p:sp>
    </p:spTree>
  </p:cSld>
  <p:clrMapOvr>
    <a:masterClrMapping/>
  </p:clrMapOvr>
  <p:transition dur="500" advClick="1">
    <p:fade/>
  </p:transition>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1.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912715" cy="205740"/>
          </a:xfrm>
          <a:prstGeom prst="rect">
            <a:avLst/>
          </a:prstGeom>
          <a:noFill/>
        </p:spPr>
        <p:txBody>
          <a:bodyPr wrap="square">
            <a:spAutoFit/>
          </a:bodyPr>
          <a:lstStyle/>
          <a:p>
            <a:pPr algn="l"/>
            <a:r>
              <a:rPr sz="1800" b="0" i="0" spc="300">
                <a:solidFill>
                  <a:srgbClr val="8A6A22"/>
                </a:solidFill>
                <a:latin typeface="Rubik"/>
              </a:rPr>
              <a:t>CUSTOMERS · 2-3</a:t>
            </a:r>
          </a:p>
        </p:txBody>
      </p:sp>
      <p:sp>
        <p:nvSpPr>
          <p:cNvPr id="4" name="TextBox 3"/>
          <p:cNvSpPr txBox="1"/>
          <p:nvPr/>
        </p:nvSpPr>
        <p:spPr>
          <a:xfrm>
            <a:off x="609600" y="721965"/>
            <a:ext cx="2912715" cy="548640"/>
          </a:xfrm>
          <a:prstGeom prst="rect">
            <a:avLst/>
          </a:prstGeom>
          <a:noFill/>
        </p:spPr>
        <p:txBody>
          <a:bodyPr wrap="square">
            <a:spAutoFit/>
          </a:bodyPr>
          <a:lstStyle/>
          <a:p>
            <a:pPr algn="l"/>
            <a:r>
              <a:rPr sz="4800" b="0" i="0">
                <a:solidFill>
                  <a:srgbClr val="14281C"/>
                </a:solidFill>
                <a:latin typeface="Cormorant Garamond"/>
              </a:rPr>
              <a:t>B2B Commercial Engine</a:t>
            </a:r>
          </a:p>
        </p:txBody>
      </p:sp>
      <p:sp>
        <p:nvSpPr>
          <p:cNvPr id="5" name="TextBox 4"/>
          <p:cNvSpPr txBox="1"/>
          <p:nvPr/>
        </p:nvSpPr>
        <p:spPr>
          <a:xfrm>
            <a:off x="1281112" y="1460971"/>
            <a:ext cx="3076575" cy="240030"/>
          </a:xfrm>
          <a:prstGeom prst="rect">
            <a:avLst/>
          </a:prstGeom>
          <a:noFill/>
        </p:spPr>
        <p:txBody>
          <a:bodyPr wrap="square">
            <a:spAutoFit/>
          </a:bodyPr>
          <a:lstStyle/>
          <a:p>
            <a:pPr algn="l"/>
            <a:r>
              <a:rPr sz="2100" b="0" i="0">
                <a:solidFill>
                  <a:srgbClr val="14281C"/>
                </a:solidFill>
                <a:latin typeface="Rubik"/>
              </a:rPr>
              <a:t>01 Restaurants</a:t>
            </a:r>
          </a:p>
        </p:txBody>
      </p:sp>
      <p:sp>
        <p:nvSpPr>
          <p:cNvPr id="6" name="TextBox 5"/>
          <p:cNvSpPr txBox="1"/>
          <p:nvPr/>
        </p:nvSpPr>
        <p:spPr>
          <a:xfrm>
            <a:off x="1281112" y="1649536"/>
            <a:ext cx="3076575" cy="321468"/>
          </a:xfrm>
          <a:prstGeom prst="rect">
            <a:avLst/>
          </a:prstGeom>
          <a:noFill/>
        </p:spPr>
        <p:txBody>
          <a:bodyPr wrap="square">
            <a:spAutoFit/>
          </a:bodyPr>
          <a:lstStyle/>
          <a:p>
            <a:pPr algn="l"/>
            <a:r>
              <a:rPr sz="1875" b="0" i="0">
                <a:solidFill>
                  <a:srgbClr val="46534A"/>
                </a:solidFill>
                <a:latin typeface="Rubik"/>
              </a:rPr>
              <a:t>chef sampling → signature dish → menu listing → repeat purchase.</a:t>
            </a:r>
          </a:p>
        </p:txBody>
      </p:sp>
      <p:sp>
        <p:nvSpPr>
          <p:cNvPr id="7" name="TextBox 6"/>
          <p:cNvSpPr txBox="1"/>
          <p:nvPr/>
        </p:nvSpPr>
        <p:spPr>
          <a:xfrm>
            <a:off x="5300662" y="1460971"/>
            <a:ext cx="3076575" cy="240030"/>
          </a:xfrm>
          <a:prstGeom prst="rect">
            <a:avLst/>
          </a:prstGeom>
          <a:noFill/>
        </p:spPr>
        <p:txBody>
          <a:bodyPr wrap="square">
            <a:spAutoFit/>
          </a:bodyPr>
          <a:lstStyle/>
          <a:p>
            <a:pPr algn="l"/>
            <a:r>
              <a:rPr sz="2100" b="0" i="0">
                <a:solidFill>
                  <a:srgbClr val="14281C"/>
                </a:solidFill>
                <a:latin typeface="Rubik"/>
              </a:rPr>
              <a:t>02 Hotels</a:t>
            </a:r>
          </a:p>
        </p:txBody>
      </p:sp>
      <p:sp>
        <p:nvSpPr>
          <p:cNvPr id="8" name="TextBox 7"/>
          <p:cNvSpPr txBox="1"/>
          <p:nvPr/>
        </p:nvSpPr>
        <p:spPr>
          <a:xfrm>
            <a:off x="5300662" y="1649536"/>
            <a:ext cx="3076575" cy="321468"/>
          </a:xfrm>
          <a:prstGeom prst="rect">
            <a:avLst/>
          </a:prstGeom>
          <a:noFill/>
        </p:spPr>
        <p:txBody>
          <a:bodyPr wrap="square">
            <a:spAutoFit/>
          </a:bodyPr>
          <a:lstStyle/>
          <a:p>
            <a:pPr algn="l"/>
            <a:r>
              <a:rPr sz="1875" b="0" i="0">
                <a:solidFill>
                  <a:srgbClr val="46534A"/>
                </a:solidFill>
                <a:latin typeface="Rubik"/>
              </a:rPr>
              <a:t>breakfast / restaurant placement → guest experience → retail / room gift.</a:t>
            </a:r>
          </a:p>
        </p:txBody>
      </p:sp>
      <p:sp>
        <p:nvSpPr>
          <p:cNvPr id="9" name="TextBox 8"/>
          <p:cNvSpPr txBox="1"/>
          <p:nvPr/>
        </p:nvSpPr>
        <p:spPr>
          <a:xfrm>
            <a:off x="1281112" y="2550021"/>
            <a:ext cx="3076575" cy="240030"/>
          </a:xfrm>
          <a:prstGeom prst="rect">
            <a:avLst/>
          </a:prstGeom>
          <a:noFill/>
        </p:spPr>
        <p:txBody>
          <a:bodyPr wrap="square">
            <a:spAutoFit/>
          </a:bodyPr>
          <a:lstStyle/>
          <a:p>
            <a:pPr algn="l"/>
            <a:r>
              <a:rPr sz="2100" b="0" i="0">
                <a:solidFill>
                  <a:srgbClr val="14281C"/>
                </a:solidFill>
                <a:latin typeface="Rubik"/>
              </a:rPr>
              <a:t>03 Gourmet retail</a:t>
            </a:r>
          </a:p>
        </p:txBody>
      </p:sp>
      <p:sp>
        <p:nvSpPr>
          <p:cNvPr id="10" name="TextBox 9"/>
          <p:cNvSpPr txBox="1"/>
          <p:nvPr/>
        </p:nvSpPr>
        <p:spPr>
          <a:xfrm>
            <a:off x="1281112" y="2738586"/>
            <a:ext cx="3076575" cy="321468"/>
          </a:xfrm>
          <a:prstGeom prst="rect">
            <a:avLst/>
          </a:prstGeom>
          <a:noFill/>
        </p:spPr>
        <p:txBody>
          <a:bodyPr wrap="square">
            <a:spAutoFit/>
          </a:bodyPr>
          <a:lstStyle/>
          <a:p>
            <a:pPr algn="l"/>
            <a:r>
              <a:rPr sz="1875" b="0" i="0">
                <a:solidFill>
                  <a:srgbClr val="46534A"/>
                </a:solidFill>
                <a:latin typeface="Rubik"/>
              </a:rPr>
              <a:t>tasting → discovery set → shelf placement → seasonal promotion.</a:t>
            </a:r>
          </a:p>
        </p:txBody>
      </p:sp>
      <p:sp>
        <p:nvSpPr>
          <p:cNvPr id="11" name="TextBox 10"/>
          <p:cNvSpPr txBox="1"/>
          <p:nvPr/>
        </p:nvSpPr>
        <p:spPr>
          <a:xfrm>
            <a:off x="5300662" y="2550021"/>
            <a:ext cx="3076575" cy="240030"/>
          </a:xfrm>
          <a:prstGeom prst="rect">
            <a:avLst/>
          </a:prstGeom>
          <a:noFill/>
        </p:spPr>
        <p:txBody>
          <a:bodyPr wrap="square">
            <a:spAutoFit/>
          </a:bodyPr>
          <a:lstStyle/>
          <a:p>
            <a:pPr algn="l"/>
            <a:r>
              <a:rPr sz="2100" b="0" i="0">
                <a:solidFill>
                  <a:srgbClr val="14281C"/>
                </a:solidFill>
                <a:latin typeface="Rubik"/>
              </a:rPr>
              <a:t>04 Distributors</a:t>
            </a:r>
          </a:p>
        </p:txBody>
      </p:sp>
      <p:sp>
        <p:nvSpPr>
          <p:cNvPr id="12" name="TextBox 11"/>
          <p:cNvSpPr txBox="1"/>
          <p:nvPr/>
        </p:nvSpPr>
        <p:spPr>
          <a:xfrm>
            <a:off x="5300662" y="2738586"/>
            <a:ext cx="3076575" cy="321468"/>
          </a:xfrm>
          <a:prstGeom prst="rect">
            <a:avLst/>
          </a:prstGeom>
          <a:noFill/>
        </p:spPr>
        <p:txBody>
          <a:bodyPr wrap="square">
            <a:spAutoFit/>
          </a:bodyPr>
          <a:lstStyle/>
          <a:p>
            <a:pPr algn="l"/>
            <a:r>
              <a:rPr sz="1875" b="0" i="0">
                <a:solidFill>
                  <a:srgbClr val="46534A"/>
                </a:solidFill>
                <a:latin typeface="Rubik"/>
              </a:rPr>
              <a:t>country-by-country target list, minimum volume, margin and brand-control requirements.</a:t>
            </a:r>
          </a:p>
        </p:txBody>
      </p:sp>
      <p:sp>
        <p:nvSpPr>
          <p:cNvPr id="13" name="TextBox 12"/>
          <p:cNvSpPr txBox="1"/>
          <p:nvPr/>
        </p:nvSpPr>
        <p:spPr>
          <a:xfrm>
            <a:off x="1281112" y="3639070"/>
            <a:ext cx="3076575" cy="240030"/>
          </a:xfrm>
          <a:prstGeom prst="rect">
            <a:avLst/>
          </a:prstGeom>
          <a:noFill/>
        </p:spPr>
        <p:txBody>
          <a:bodyPr wrap="square">
            <a:spAutoFit/>
          </a:bodyPr>
          <a:lstStyle/>
          <a:p>
            <a:pPr algn="l"/>
            <a:r>
              <a:rPr sz="2100" b="0" i="0">
                <a:solidFill>
                  <a:srgbClr val="14281C"/>
                </a:solidFill>
                <a:latin typeface="Rubik"/>
              </a:rPr>
              <a:t>05 Corporate gifting</a:t>
            </a:r>
          </a:p>
        </p:txBody>
      </p:sp>
      <p:sp>
        <p:nvSpPr>
          <p:cNvPr id="14" name="TextBox 13"/>
          <p:cNvSpPr txBox="1"/>
          <p:nvPr/>
        </p:nvSpPr>
        <p:spPr>
          <a:xfrm>
            <a:off x="1281112" y="3827636"/>
            <a:ext cx="3076575" cy="321468"/>
          </a:xfrm>
          <a:prstGeom prst="rect">
            <a:avLst/>
          </a:prstGeom>
          <a:noFill/>
        </p:spPr>
        <p:txBody>
          <a:bodyPr wrap="square">
            <a:spAutoFit/>
          </a:bodyPr>
          <a:lstStyle/>
          <a:p>
            <a:pPr algn="l"/>
            <a:r>
              <a:rPr sz="1875" b="0" i="0">
                <a:solidFill>
                  <a:srgbClr val="46534A"/>
                </a:solidFill>
                <a:latin typeface="Rubik"/>
              </a:rPr>
              <a:t>MOHRA / Premium gift sets for year-end, events and hospitality.</a:t>
            </a:r>
          </a:p>
        </p:txBody>
      </p:sp>
      <p:sp>
        <p:nvSpPr>
          <p:cNvPr id="15" name="TextBox 14"/>
          <p:cNvSpPr txBox="1"/>
          <p:nvPr/>
        </p:nvSpPr>
        <p:spPr>
          <a:xfrm>
            <a:off x="5295900" y="3639070"/>
            <a:ext cx="3086100" cy="240030"/>
          </a:xfrm>
          <a:prstGeom prst="rect">
            <a:avLst/>
          </a:prstGeom>
          <a:noFill/>
        </p:spPr>
        <p:txBody>
          <a:bodyPr wrap="square">
            <a:spAutoFit/>
          </a:bodyPr>
          <a:lstStyle/>
          <a:p>
            <a:pPr algn="l"/>
            <a:r>
              <a:rPr sz="2100" b="0" i="0">
                <a:solidFill>
                  <a:srgbClr val="F7F4EC"/>
                </a:solidFill>
                <a:latin typeface="Rubik"/>
              </a:rPr>
              <a:t>06 Global CRM</a:t>
            </a:r>
          </a:p>
        </p:txBody>
      </p:sp>
      <p:sp>
        <p:nvSpPr>
          <p:cNvPr id="16" name="TextBox 15"/>
          <p:cNvSpPr txBox="1"/>
          <p:nvPr/>
        </p:nvSpPr>
        <p:spPr>
          <a:xfrm>
            <a:off x="5295900" y="3827636"/>
            <a:ext cx="3086100" cy="321468"/>
          </a:xfrm>
          <a:prstGeom prst="rect">
            <a:avLst/>
          </a:prstGeom>
          <a:noFill/>
        </p:spPr>
        <p:txBody>
          <a:bodyPr wrap="square">
            <a:spAutoFit/>
          </a:bodyPr>
          <a:lstStyle/>
          <a:p>
            <a:pPr algn="l"/>
            <a:r>
              <a:rPr sz="1875" b="0" i="0">
                <a:solidFill>
                  <a:srgbClr val="C9D6C4"/>
                </a:solidFill>
                <a:latin typeface="Rubik"/>
              </a:rPr>
              <a:t>Create a global CRM pipeline with the same stages and KPIs in every market.</a:t>
            </a:r>
          </a:p>
        </p:txBody>
      </p:sp>
      <p:sp>
        <p:nvSpPr>
          <p:cNvPr id="17" name="TextBox 16"/>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20 / 35</a:t>
            </a:r>
          </a:p>
        </p:txBody>
      </p:sp>
    </p:spTree>
  </p:cSld>
  <p:clrMapOvr>
    <a:masterClrMapping/>
  </p:clrMapOvr>
  <p:transition dur="500" advClick="1">
    <p:fade/>
  </p:transition>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2.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270423" cy="205740"/>
          </a:xfrm>
          <a:prstGeom prst="rect">
            <a:avLst/>
          </a:prstGeom>
          <a:noFill/>
        </p:spPr>
        <p:txBody>
          <a:bodyPr wrap="square">
            <a:spAutoFit/>
          </a:bodyPr>
          <a:lstStyle/>
          <a:p>
            <a:pPr algn="l"/>
            <a:r>
              <a:rPr sz="1800" b="0" i="0" spc="300">
                <a:solidFill>
                  <a:srgbClr val="8A6A22"/>
                </a:solidFill>
                <a:latin typeface="Rubik"/>
              </a:rPr>
              <a:t>CUSTOMERS · 2-4</a:t>
            </a:r>
          </a:p>
        </p:txBody>
      </p:sp>
      <p:sp>
        <p:nvSpPr>
          <p:cNvPr id="4" name="TextBox 3"/>
          <p:cNvSpPr txBox="1"/>
          <p:nvPr/>
        </p:nvSpPr>
        <p:spPr>
          <a:xfrm>
            <a:off x="609600" y="721965"/>
            <a:ext cx="3270423" cy="548640"/>
          </a:xfrm>
          <a:prstGeom prst="rect">
            <a:avLst/>
          </a:prstGeom>
          <a:noFill/>
        </p:spPr>
        <p:txBody>
          <a:bodyPr wrap="square">
            <a:spAutoFit/>
          </a:bodyPr>
          <a:lstStyle/>
          <a:p>
            <a:pPr algn="l"/>
            <a:r>
              <a:rPr sz="4800" b="0" i="0">
                <a:solidFill>
                  <a:srgbClr val="14281C"/>
                </a:solidFill>
                <a:latin typeface="Cormorant Garamond"/>
              </a:rPr>
              <a:t>SKU-Level Unit Economics</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Target economics to protect premium positioning</a:t>
            </a:r>
          </a:p>
        </p:txBody>
      </p:sp>
      <p:sp>
        <p:nvSpPr>
          <p:cNvPr id="6" name="TextBox 5"/>
          <p:cNvSpPr txBox="1"/>
          <p:nvPr/>
        </p:nvSpPr>
        <p:spPr>
          <a:xfrm>
            <a:off x="609600" y="1459110"/>
            <a:ext cx="7924800" cy="214312"/>
          </a:xfrm>
          <a:prstGeom prst="rect">
            <a:avLst/>
          </a:prstGeom>
          <a:noFill/>
        </p:spPr>
        <p:txBody>
          <a:bodyPr wrap="square">
            <a:spAutoFit/>
          </a:bodyPr>
          <a:lstStyle/>
          <a:p>
            <a:pPr algn="l"/>
            <a:r>
              <a:rPr sz="1875" b="0" i="0" spc="225">
                <a:solidFill>
                  <a:srgbClr val="8A6A22"/>
                </a:solidFill>
                <a:latin typeface="Rubik"/>
              </a:rPr>
              <a:t>PRICING WATERFALL</a:t>
            </a:r>
          </a:p>
        </p:txBody>
      </p:sp>
      <p:sp>
        <p:nvSpPr>
          <p:cNvPr id="7" name="TextBox 6"/>
          <p:cNvSpPr txBox="1"/>
          <p:nvPr/>
        </p:nvSpPr>
        <p:spPr>
          <a:xfrm>
            <a:off x="1055414" y="2087388"/>
            <a:ext cx="246608" cy="548640"/>
          </a:xfrm>
          <a:prstGeom prst="rect">
            <a:avLst/>
          </a:prstGeom>
          <a:noFill/>
        </p:spPr>
        <p:txBody>
          <a:bodyPr wrap="square">
            <a:spAutoFit/>
          </a:bodyPr>
          <a:lstStyle/>
          <a:p>
            <a:pPr algn="l"/>
            <a:r>
              <a:rPr sz="4800" b="0" i="0">
                <a:solidFill>
                  <a:srgbClr val="D9B45A"/>
                </a:solidFill>
                <a:latin typeface="Cormorant Garamond"/>
              </a:rPr>
              <a:t>01</a:t>
            </a:r>
          </a:p>
        </p:txBody>
      </p:sp>
      <p:sp>
        <p:nvSpPr>
          <p:cNvPr id="8" name="TextBox 7"/>
          <p:cNvSpPr txBox="1"/>
          <p:nvPr/>
        </p:nvSpPr>
        <p:spPr>
          <a:xfrm>
            <a:off x="685800" y="2439813"/>
            <a:ext cx="985837" cy="346620"/>
          </a:xfrm>
          <a:prstGeom prst="rect">
            <a:avLst/>
          </a:prstGeom>
          <a:noFill/>
        </p:spPr>
        <p:txBody>
          <a:bodyPr wrap="square">
            <a:spAutoFit/>
          </a:bodyPr>
          <a:lstStyle/>
          <a:p>
            <a:pPr algn="ctr"/>
            <a:r>
              <a:rPr sz="2100" b="0" i="0">
                <a:solidFill>
                  <a:srgbClr val="F7F4EC"/>
                </a:solidFill>
                <a:latin typeface="Rubik"/>
              </a:rPr>
              <a:t>Ex-factory price</a:t>
            </a:r>
          </a:p>
        </p:txBody>
      </p:sp>
      <p:sp>
        <p:nvSpPr>
          <p:cNvPr id="9" name="TextBox 8"/>
          <p:cNvSpPr txBox="1"/>
          <p:nvPr/>
        </p:nvSpPr>
        <p:spPr>
          <a:xfrm>
            <a:off x="2402011" y="2087388"/>
            <a:ext cx="267965" cy="548640"/>
          </a:xfrm>
          <a:prstGeom prst="rect">
            <a:avLst/>
          </a:prstGeom>
          <a:noFill/>
        </p:spPr>
        <p:txBody>
          <a:bodyPr wrap="square">
            <a:spAutoFit/>
          </a:bodyPr>
          <a:lstStyle/>
          <a:p>
            <a:pPr algn="l"/>
            <a:r>
              <a:rPr sz="4800" b="0" i="0">
                <a:solidFill>
                  <a:srgbClr val="D9B45A"/>
                </a:solidFill>
                <a:latin typeface="Cormorant Garamond"/>
              </a:rPr>
              <a:t>02</a:t>
            </a:r>
          </a:p>
        </p:txBody>
      </p:sp>
      <p:sp>
        <p:nvSpPr>
          <p:cNvPr id="10" name="TextBox 9"/>
          <p:cNvSpPr txBox="1"/>
          <p:nvPr/>
        </p:nvSpPr>
        <p:spPr>
          <a:xfrm>
            <a:off x="2043112" y="2439813"/>
            <a:ext cx="985837" cy="346620"/>
          </a:xfrm>
          <a:prstGeom prst="rect">
            <a:avLst/>
          </a:prstGeom>
          <a:noFill/>
        </p:spPr>
        <p:txBody>
          <a:bodyPr wrap="square">
            <a:spAutoFit/>
          </a:bodyPr>
          <a:lstStyle/>
          <a:p>
            <a:pPr algn="ctr"/>
            <a:r>
              <a:rPr sz="2100" b="0" i="0">
                <a:solidFill>
                  <a:srgbClr val="F7F4EC"/>
                </a:solidFill>
                <a:latin typeface="Rubik"/>
              </a:rPr>
              <a:t>Freight / insurance</a:t>
            </a:r>
          </a:p>
        </p:txBody>
      </p:sp>
      <p:sp>
        <p:nvSpPr>
          <p:cNvPr id="11" name="TextBox 10"/>
          <p:cNvSpPr txBox="1"/>
          <p:nvPr/>
        </p:nvSpPr>
        <p:spPr>
          <a:xfrm>
            <a:off x="3760886" y="2000770"/>
            <a:ext cx="264914" cy="548640"/>
          </a:xfrm>
          <a:prstGeom prst="rect">
            <a:avLst/>
          </a:prstGeom>
          <a:noFill/>
        </p:spPr>
        <p:txBody>
          <a:bodyPr wrap="square">
            <a:spAutoFit/>
          </a:bodyPr>
          <a:lstStyle/>
          <a:p>
            <a:pPr algn="l"/>
            <a:r>
              <a:rPr sz="4800" b="0" i="0">
                <a:solidFill>
                  <a:srgbClr val="D9B45A"/>
                </a:solidFill>
                <a:latin typeface="Cormorant Garamond"/>
              </a:rPr>
              <a:t>03</a:t>
            </a:r>
          </a:p>
        </p:txBody>
      </p:sp>
      <p:sp>
        <p:nvSpPr>
          <p:cNvPr id="12" name="TextBox 11"/>
          <p:cNvSpPr txBox="1"/>
          <p:nvPr/>
        </p:nvSpPr>
        <p:spPr>
          <a:xfrm>
            <a:off x="3400425" y="2353195"/>
            <a:ext cx="985837" cy="519931"/>
          </a:xfrm>
          <a:prstGeom prst="rect">
            <a:avLst/>
          </a:prstGeom>
          <a:noFill/>
        </p:spPr>
        <p:txBody>
          <a:bodyPr wrap="square">
            <a:spAutoFit/>
          </a:bodyPr>
          <a:lstStyle/>
          <a:p>
            <a:pPr algn="ctr"/>
            <a:r>
              <a:rPr sz="2100" b="0" i="0">
                <a:solidFill>
                  <a:srgbClr val="F7F4EC"/>
                </a:solidFill>
                <a:latin typeface="Rubik"/>
              </a:rPr>
              <a:t>Importer / distributor margin</a:t>
            </a:r>
          </a:p>
        </p:txBody>
      </p:sp>
      <p:sp>
        <p:nvSpPr>
          <p:cNvPr id="13" name="TextBox 12"/>
          <p:cNvSpPr txBox="1"/>
          <p:nvPr/>
        </p:nvSpPr>
        <p:spPr>
          <a:xfrm>
            <a:off x="5108748" y="2000770"/>
            <a:ext cx="283815" cy="548640"/>
          </a:xfrm>
          <a:prstGeom prst="rect">
            <a:avLst/>
          </a:prstGeom>
          <a:noFill/>
        </p:spPr>
        <p:txBody>
          <a:bodyPr wrap="square">
            <a:spAutoFit/>
          </a:bodyPr>
          <a:lstStyle/>
          <a:p>
            <a:pPr algn="l"/>
            <a:r>
              <a:rPr sz="4800" b="0" i="0">
                <a:solidFill>
                  <a:srgbClr val="D9B45A"/>
                </a:solidFill>
                <a:latin typeface="Cormorant Garamond"/>
              </a:rPr>
              <a:t>04</a:t>
            </a:r>
          </a:p>
        </p:txBody>
      </p:sp>
      <p:sp>
        <p:nvSpPr>
          <p:cNvPr id="14" name="TextBox 13"/>
          <p:cNvSpPr txBox="1"/>
          <p:nvPr/>
        </p:nvSpPr>
        <p:spPr>
          <a:xfrm>
            <a:off x="4757737" y="2353195"/>
            <a:ext cx="985837" cy="519931"/>
          </a:xfrm>
          <a:prstGeom prst="rect">
            <a:avLst/>
          </a:prstGeom>
          <a:noFill/>
        </p:spPr>
        <p:txBody>
          <a:bodyPr wrap="square">
            <a:spAutoFit/>
          </a:bodyPr>
          <a:lstStyle/>
          <a:p>
            <a:pPr algn="ctr"/>
            <a:r>
              <a:rPr sz="2100" b="0" i="0">
                <a:solidFill>
                  <a:srgbClr val="F7F4EC"/>
                </a:solidFill>
                <a:latin typeface="Rubik"/>
              </a:rPr>
              <a:t>Retailer / HORECA margin</a:t>
            </a:r>
          </a:p>
        </p:txBody>
      </p:sp>
      <p:sp>
        <p:nvSpPr>
          <p:cNvPr id="15" name="TextBox 14"/>
          <p:cNvSpPr txBox="1"/>
          <p:nvPr/>
        </p:nvSpPr>
        <p:spPr>
          <a:xfrm>
            <a:off x="6472907" y="2087388"/>
            <a:ext cx="270123" cy="548640"/>
          </a:xfrm>
          <a:prstGeom prst="rect">
            <a:avLst/>
          </a:prstGeom>
          <a:noFill/>
        </p:spPr>
        <p:txBody>
          <a:bodyPr wrap="square">
            <a:spAutoFit/>
          </a:bodyPr>
          <a:lstStyle/>
          <a:p>
            <a:pPr algn="l"/>
            <a:r>
              <a:rPr sz="4800" b="0" i="0">
                <a:solidFill>
                  <a:srgbClr val="D9B45A"/>
                </a:solidFill>
                <a:latin typeface="Cormorant Garamond"/>
              </a:rPr>
              <a:t>05</a:t>
            </a:r>
          </a:p>
        </p:txBody>
      </p:sp>
      <p:sp>
        <p:nvSpPr>
          <p:cNvPr id="16" name="TextBox 15"/>
          <p:cNvSpPr txBox="1"/>
          <p:nvPr/>
        </p:nvSpPr>
        <p:spPr>
          <a:xfrm>
            <a:off x="6115050" y="2439813"/>
            <a:ext cx="985837" cy="346620"/>
          </a:xfrm>
          <a:prstGeom prst="rect">
            <a:avLst/>
          </a:prstGeom>
          <a:noFill/>
        </p:spPr>
        <p:txBody>
          <a:bodyPr wrap="square">
            <a:spAutoFit/>
          </a:bodyPr>
          <a:lstStyle/>
          <a:p>
            <a:pPr algn="ctr"/>
            <a:r>
              <a:rPr sz="2100" b="0" i="0">
                <a:solidFill>
                  <a:srgbClr val="F7F4EC"/>
                </a:solidFill>
                <a:latin typeface="Rubik"/>
              </a:rPr>
              <a:t>Local VAT / duties</a:t>
            </a:r>
          </a:p>
        </p:txBody>
      </p:sp>
      <p:sp>
        <p:nvSpPr>
          <p:cNvPr id="17" name="TextBox 16"/>
          <p:cNvSpPr txBox="1"/>
          <p:nvPr/>
        </p:nvSpPr>
        <p:spPr>
          <a:xfrm>
            <a:off x="7821662" y="2000770"/>
            <a:ext cx="287163" cy="548640"/>
          </a:xfrm>
          <a:prstGeom prst="rect">
            <a:avLst/>
          </a:prstGeom>
          <a:noFill/>
        </p:spPr>
        <p:txBody>
          <a:bodyPr wrap="square">
            <a:spAutoFit/>
          </a:bodyPr>
          <a:lstStyle/>
          <a:p>
            <a:pPr algn="l"/>
            <a:r>
              <a:rPr sz="4800" b="0" i="0">
                <a:solidFill>
                  <a:srgbClr val="14281C"/>
                </a:solidFill>
                <a:latin typeface="Cormorant Garamond"/>
              </a:rPr>
              <a:t>06</a:t>
            </a:r>
          </a:p>
        </p:txBody>
      </p:sp>
      <p:sp>
        <p:nvSpPr>
          <p:cNvPr id="18" name="TextBox 17"/>
          <p:cNvSpPr txBox="1"/>
          <p:nvPr/>
        </p:nvSpPr>
        <p:spPr>
          <a:xfrm>
            <a:off x="7472362" y="2353195"/>
            <a:ext cx="985837" cy="519931"/>
          </a:xfrm>
          <a:prstGeom prst="rect">
            <a:avLst/>
          </a:prstGeom>
          <a:noFill/>
        </p:spPr>
        <p:txBody>
          <a:bodyPr wrap="square">
            <a:spAutoFit/>
          </a:bodyPr>
          <a:lstStyle/>
          <a:p>
            <a:pPr algn="ctr"/>
            <a:r>
              <a:rPr sz="2100" b="0" i="0">
                <a:solidFill>
                  <a:srgbClr val="14281C"/>
                </a:solidFill>
                <a:latin typeface="Rubik"/>
              </a:rPr>
              <a:t>Target consumer price</a:t>
            </a:r>
          </a:p>
        </p:txBody>
      </p:sp>
      <p:sp>
        <p:nvSpPr>
          <p:cNvPr id="19" name="TextBox 18"/>
          <p:cNvSpPr txBox="1"/>
          <p:nvPr/>
        </p:nvSpPr>
        <p:spPr>
          <a:xfrm>
            <a:off x="894159" y="3410024"/>
            <a:ext cx="3439715" cy="540022"/>
          </a:xfrm>
          <a:prstGeom prst="rect">
            <a:avLst/>
          </a:prstGeom>
          <a:noFill/>
        </p:spPr>
        <p:txBody>
          <a:bodyPr wrap="square">
            <a:spAutoFit/>
          </a:bodyPr>
          <a:lstStyle/>
          <a:p>
            <a:pPr algn="l"/>
            <a:r>
              <a:rPr sz="2025" b="0" i="0">
                <a:solidFill>
                  <a:srgbClr val="1F2B23"/>
                </a:solidFill>
                <a:latin typeface="Rubik"/>
              </a:rPr>
              <a:t>Distributor price should normally preserve SNPT gross margin while leaving room for importer/distributor and retailer margins.</a:t>
            </a:r>
          </a:p>
        </p:txBody>
      </p:sp>
      <p:sp>
        <p:nvSpPr>
          <p:cNvPr id="20" name="TextBox 19"/>
          <p:cNvSpPr txBox="1"/>
          <p:nvPr/>
        </p:nvSpPr>
        <p:spPr>
          <a:xfrm>
            <a:off x="4925466" y="3410024"/>
            <a:ext cx="3437483" cy="540022"/>
          </a:xfrm>
          <a:prstGeom prst="rect">
            <a:avLst/>
          </a:prstGeom>
          <a:noFill/>
        </p:spPr>
        <p:txBody>
          <a:bodyPr wrap="square">
            <a:spAutoFit/>
          </a:bodyPr>
          <a:lstStyle/>
          <a:p>
            <a:pPr algn="l"/>
            <a:r>
              <a:rPr sz="2025" b="0" i="0">
                <a:solidFill>
                  <a:srgbClr val="1F2B23"/>
                </a:solidFill>
                <a:latin typeface="Rubik"/>
              </a:rPr>
              <a:t>Rule: do not solve low volume by indiscriminate discounting. Use bundles, tasting and seasonal promotions.</a:t>
            </a:r>
          </a:p>
        </p:txBody>
      </p:sp>
      <p:sp>
        <p:nvSpPr>
          <p:cNvPr id="21" name="TextBox 20"/>
          <p:cNvSpPr txBox="1"/>
          <p:nvPr/>
        </p:nvSpPr>
        <p:spPr>
          <a:xfrm>
            <a:off x="609600" y="4221509"/>
            <a:ext cx="7924800" cy="205740"/>
          </a:xfrm>
          <a:prstGeom prst="rect">
            <a:avLst/>
          </a:prstGeom>
          <a:noFill/>
        </p:spPr>
        <p:txBody>
          <a:bodyPr wrap="square">
            <a:spAutoFit/>
          </a:bodyPr>
          <a:lstStyle/>
          <a:p>
            <a:pPr algn="l"/>
            <a:r>
              <a:rPr sz="1800" b="0" i="1">
                <a:solidFill>
                  <a:srgbClr val="6B776E"/>
                </a:solidFill>
                <a:latin typeface="Rubik"/>
              </a:rPr>
              <a:t>Target gross margin by SKU: see 1-9 Indicative SKU Pricing Architecture.</a:t>
            </a:r>
          </a:p>
        </p:txBody>
      </p:sp>
      <p:sp>
        <p:nvSpPr>
          <p:cNvPr id="22" name="TextBox 21"/>
          <p:cNvSpPr txBox="1"/>
          <p:nvPr/>
        </p:nvSpPr>
        <p:spPr>
          <a:xfrm>
            <a:off x="609600" y="4678709"/>
            <a:ext cx="666750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23" name="TextBox 22"/>
          <p:cNvSpPr txBox="1"/>
          <p:nvPr/>
        </p:nvSpPr>
        <p:spPr>
          <a:xfrm>
            <a:off x="7772400" y="4678709"/>
            <a:ext cx="762000" cy="205740"/>
          </a:xfrm>
          <a:prstGeom prst="rect">
            <a:avLst/>
          </a:prstGeom>
          <a:noFill/>
        </p:spPr>
        <p:txBody>
          <a:bodyPr wrap="square">
            <a:spAutoFit/>
          </a:bodyPr>
          <a:lstStyle/>
          <a:p>
            <a:pPr algn="r"/>
            <a:r>
              <a:rPr sz="1800" b="0" i="0" spc="150">
                <a:solidFill>
                  <a:srgbClr val="8A6A22"/>
                </a:solidFill>
                <a:latin typeface="Rubik"/>
              </a:rPr>
              <a:t>21 / 35</a:t>
            </a:r>
          </a:p>
        </p:txBody>
      </p:sp>
    </p:spTree>
  </p:cSld>
  <p:clrMapOvr>
    <a:masterClrMapping/>
  </p:clrMapOvr>
  <p:transition dur="500" advClick="1">
    <p:fade/>
  </p:transition>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3.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pic>
        <p:nvPicPr>
          <p:cNvPr id="4" name="Picture 3"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pic>
        <p:nvPicPr>
          <p:cNvPr id="5" name="Picture 4"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pic>
        <p:nvPicPr>
          <p:cNvPr id="6" name="Picture 5"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pic>
        <p:nvPicPr>
          <p:cNvPr id="7" name="Picture 6"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8" name="TextBox 7"/>
          <p:cNvSpPr txBox="1"/>
          <p:nvPr/>
        </p:nvSpPr>
        <p:spPr>
          <a:xfrm>
            <a:off x="714375" y="533400"/>
            <a:ext cx="754112" cy="205740"/>
          </a:xfrm>
          <a:prstGeom prst="rect">
            <a:avLst/>
          </a:prstGeom>
          <a:noFill/>
        </p:spPr>
        <p:txBody>
          <a:bodyPr wrap="square">
            <a:spAutoFit/>
          </a:bodyPr>
          <a:lstStyle/>
          <a:p>
            <a:pPr algn="l"/>
            <a:r>
              <a:rPr sz="1800" b="0" i="0" spc="300">
                <a:solidFill>
                  <a:srgbClr val="8A6A22"/>
                </a:solidFill>
                <a:latin typeface="Rubik"/>
              </a:rPr>
              <a:t>CONTENTS</a:t>
            </a:r>
          </a:p>
        </p:txBody>
      </p:sp>
      <p:sp>
        <p:nvSpPr>
          <p:cNvPr id="9" name="TextBox 8"/>
          <p:cNvSpPr txBox="1"/>
          <p:nvPr/>
        </p:nvSpPr>
        <p:spPr>
          <a:xfrm>
            <a:off x="714375" y="695325"/>
            <a:ext cx="1030113" cy="617220"/>
          </a:xfrm>
          <a:prstGeom prst="rect">
            <a:avLst/>
          </a:prstGeom>
          <a:noFill/>
        </p:spPr>
        <p:txBody>
          <a:bodyPr wrap="square">
            <a:spAutoFit/>
          </a:bodyPr>
          <a:lstStyle/>
          <a:p>
            <a:pPr algn="l"/>
            <a:r>
              <a:rPr sz="5400" b="0" i="0">
                <a:solidFill>
                  <a:srgbClr val="14281C"/>
                </a:solidFill>
                <a:latin typeface="Cormorant Garamond"/>
              </a:rPr>
              <a:t>Agenda</a:t>
            </a:r>
          </a:p>
        </p:txBody>
      </p:sp>
      <p:sp>
        <p:nvSpPr>
          <p:cNvPr id="10" name="TextBox 9"/>
          <p:cNvSpPr txBox="1"/>
          <p:nvPr/>
        </p:nvSpPr>
        <p:spPr>
          <a:xfrm>
            <a:off x="838200" y="1524000"/>
            <a:ext cx="323701" cy="720090"/>
          </a:xfrm>
          <a:prstGeom prst="rect">
            <a:avLst/>
          </a:prstGeom>
          <a:noFill/>
        </p:spPr>
        <p:txBody>
          <a:bodyPr wrap="square">
            <a:spAutoFit/>
          </a:bodyPr>
          <a:lstStyle/>
          <a:p>
            <a:pPr algn="l"/>
            <a:r>
              <a:rPr sz="6300" b="0" i="0">
                <a:solidFill>
                  <a:srgbClr val="D9B45A"/>
                </a:solidFill>
                <a:latin typeface="Cormorant Garamond"/>
              </a:rPr>
              <a:t>01</a:t>
            </a:r>
          </a:p>
        </p:txBody>
      </p:sp>
      <p:sp>
        <p:nvSpPr>
          <p:cNvPr id="11" name="TextBox 10"/>
          <p:cNvSpPr txBox="1"/>
          <p:nvPr/>
        </p:nvSpPr>
        <p:spPr>
          <a:xfrm>
            <a:off x="838200" y="3142803"/>
            <a:ext cx="1143000" cy="360045"/>
          </a:xfrm>
          <a:prstGeom prst="rect">
            <a:avLst/>
          </a:prstGeom>
          <a:noFill/>
        </p:spPr>
        <p:txBody>
          <a:bodyPr wrap="square">
            <a:spAutoFit/>
          </a:bodyPr>
          <a:lstStyle/>
          <a:p>
            <a:pPr algn="l"/>
            <a:r>
              <a:rPr sz="3150" b="0" i="0">
                <a:solidFill>
                  <a:srgbClr val="F7F4EC"/>
                </a:solidFill>
                <a:latin typeface="Cormorant Garamond"/>
              </a:rPr>
              <a:t>Product</a:t>
            </a:r>
          </a:p>
        </p:txBody>
      </p:sp>
      <p:sp>
        <p:nvSpPr>
          <p:cNvPr id="12" name="TextBox 11"/>
          <p:cNvSpPr txBox="1"/>
          <p:nvPr/>
        </p:nvSpPr>
        <p:spPr>
          <a:xfrm>
            <a:off x="714375" y="3619500"/>
            <a:ext cx="1390650" cy="308520"/>
          </a:xfrm>
          <a:prstGeom prst="rect">
            <a:avLst/>
          </a:prstGeom>
          <a:noFill/>
        </p:spPr>
        <p:txBody>
          <a:bodyPr wrap="square">
            <a:spAutoFit/>
          </a:bodyPr>
          <a:lstStyle/>
          <a:p>
            <a:pPr algn="ctr"/>
            <a:r>
              <a:rPr sz="1800" b="0" i="0">
                <a:solidFill>
                  <a:srgbClr val="6B776E"/>
                </a:solidFill>
                <a:latin typeface="Rubik"/>
              </a:rPr>
              <a:t>Range · Pricing · Flavored · MOHRA</a:t>
            </a:r>
          </a:p>
        </p:txBody>
      </p:sp>
      <p:sp>
        <p:nvSpPr>
          <p:cNvPr id="13" name="TextBox 12"/>
          <p:cNvSpPr txBox="1"/>
          <p:nvPr/>
        </p:nvSpPr>
        <p:spPr>
          <a:xfrm>
            <a:off x="2419350" y="1524000"/>
            <a:ext cx="351680" cy="720090"/>
          </a:xfrm>
          <a:prstGeom prst="rect">
            <a:avLst/>
          </a:prstGeom>
          <a:noFill/>
        </p:spPr>
        <p:txBody>
          <a:bodyPr wrap="square">
            <a:spAutoFit/>
          </a:bodyPr>
          <a:lstStyle/>
          <a:p>
            <a:pPr algn="l"/>
            <a:r>
              <a:rPr sz="6300" b="0" i="0">
                <a:solidFill>
                  <a:srgbClr val="D9B45A"/>
                </a:solidFill>
                <a:latin typeface="Cormorant Garamond"/>
              </a:rPr>
              <a:t>02</a:t>
            </a:r>
          </a:p>
        </p:txBody>
      </p:sp>
      <p:sp>
        <p:nvSpPr>
          <p:cNvPr id="14" name="TextBox 13"/>
          <p:cNvSpPr txBox="1"/>
          <p:nvPr/>
        </p:nvSpPr>
        <p:spPr>
          <a:xfrm>
            <a:off x="2419350" y="3142803"/>
            <a:ext cx="1143000" cy="360045"/>
          </a:xfrm>
          <a:prstGeom prst="rect">
            <a:avLst/>
          </a:prstGeom>
          <a:noFill/>
        </p:spPr>
        <p:txBody>
          <a:bodyPr wrap="square">
            <a:spAutoFit/>
          </a:bodyPr>
          <a:lstStyle/>
          <a:p>
            <a:pPr algn="l"/>
            <a:r>
              <a:rPr sz="3150" b="0" i="0">
                <a:solidFill>
                  <a:srgbClr val="F7F4EC"/>
                </a:solidFill>
                <a:latin typeface="Cormorant Garamond"/>
              </a:rPr>
              <a:t>Customers</a:t>
            </a:r>
          </a:p>
        </p:txBody>
      </p:sp>
      <p:sp>
        <p:nvSpPr>
          <p:cNvPr id="15" name="TextBox 14"/>
          <p:cNvSpPr txBox="1"/>
          <p:nvPr/>
        </p:nvSpPr>
        <p:spPr>
          <a:xfrm>
            <a:off x="2295525" y="3619500"/>
            <a:ext cx="1390650" cy="308520"/>
          </a:xfrm>
          <a:prstGeom prst="rect">
            <a:avLst/>
          </a:prstGeom>
          <a:noFill/>
        </p:spPr>
        <p:txBody>
          <a:bodyPr wrap="square">
            <a:spAutoFit/>
          </a:bodyPr>
          <a:lstStyle/>
          <a:p>
            <a:pPr algn="ctr"/>
            <a:r>
              <a:rPr sz="1800" b="0" i="0">
                <a:solidFill>
                  <a:srgbClr val="6B776E"/>
                </a:solidFill>
                <a:latin typeface="Rubik"/>
              </a:rPr>
              <a:t>Segments · Markets · B2B · Unit economics</a:t>
            </a:r>
          </a:p>
        </p:txBody>
      </p:sp>
      <p:sp>
        <p:nvSpPr>
          <p:cNvPr id="16" name="TextBox 15"/>
          <p:cNvSpPr txBox="1"/>
          <p:nvPr/>
        </p:nvSpPr>
        <p:spPr>
          <a:xfrm>
            <a:off x="4000500" y="1524000"/>
            <a:ext cx="347662" cy="720090"/>
          </a:xfrm>
          <a:prstGeom prst="rect">
            <a:avLst/>
          </a:prstGeom>
          <a:noFill/>
        </p:spPr>
        <p:txBody>
          <a:bodyPr wrap="square">
            <a:spAutoFit/>
          </a:bodyPr>
          <a:lstStyle/>
          <a:p>
            <a:pPr algn="l"/>
            <a:r>
              <a:rPr sz="6300" b="0" i="0">
                <a:solidFill>
                  <a:srgbClr val="D9B45A"/>
                </a:solidFill>
                <a:latin typeface="Cormorant Garamond"/>
              </a:rPr>
              <a:t>03</a:t>
            </a:r>
          </a:p>
        </p:txBody>
      </p:sp>
      <p:sp>
        <p:nvSpPr>
          <p:cNvPr id="17" name="TextBox 16"/>
          <p:cNvSpPr txBox="1"/>
          <p:nvPr/>
        </p:nvSpPr>
        <p:spPr>
          <a:xfrm>
            <a:off x="4000500" y="3142803"/>
            <a:ext cx="1143000" cy="360045"/>
          </a:xfrm>
          <a:prstGeom prst="rect">
            <a:avLst/>
          </a:prstGeom>
          <a:noFill/>
        </p:spPr>
        <p:txBody>
          <a:bodyPr wrap="square">
            <a:spAutoFit/>
          </a:bodyPr>
          <a:lstStyle/>
          <a:p>
            <a:pPr algn="l"/>
            <a:r>
              <a:rPr sz="3150" b="0" i="0">
                <a:solidFill>
                  <a:srgbClr val="F7F4EC"/>
                </a:solidFill>
                <a:latin typeface="Cormorant Garamond"/>
              </a:rPr>
              <a:t>Marketing</a:t>
            </a:r>
          </a:p>
        </p:txBody>
      </p:sp>
      <p:sp>
        <p:nvSpPr>
          <p:cNvPr id="18" name="TextBox 17"/>
          <p:cNvSpPr txBox="1"/>
          <p:nvPr/>
        </p:nvSpPr>
        <p:spPr>
          <a:xfrm>
            <a:off x="3876675" y="3619500"/>
            <a:ext cx="1390650" cy="462781"/>
          </a:xfrm>
          <a:prstGeom prst="rect">
            <a:avLst/>
          </a:prstGeom>
          <a:noFill/>
        </p:spPr>
        <p:txBody>
          <a:bodyPr wrap="square">
            <a:spAutoFit/>
          </a:bodyPr>
          <a:lstStyle/>
          <a:p>
            <a:pPr algn="ctr"/>
            <a:r>
              <a:rPr sz="1800" b="0" i="0">
                <a:solidFill>
                  <a:srgbClr val="14281C"/>
                </a:solidFill>
                <a:latin typeface="Rubik"/>
              </a:rPr>
              <a:t>Content · KPIs · Operating model · Budget · Distributors</a:t>
            </a:r>
          </a:p>
        </p:txBody>
      </p:sp>
      <p:sp>
        <p:nvSpPr>
          <p:cNvPr id="19" name="TextBox 18"/>
          <p:cNvSpPr txBox="1"/>
          <p:nvPr/>
        </p:nvSpPr>
        <p:spPr>
          <a:xfrm>
            <a:off x="5581650" y="1524000"/>
            <a:ext cx="372516" cy="720090"/>
          </a:xfrm>
          <a:prstGeom prst="rect">
            <a:avLst/>
          </a:prstGeom>
          <a:noFill/>
        </p:spPr>
        <p:txBody>
          <a:bodyPr wrap="square">
            <a:spAutoFit/>
          </a:bodyPr>
          <a:lstStyle/>
          <a:p>
            <a:pPr algn="l"/>
            <a:r>
              <a:rPr sz="6300" b="0" i="0">
                <a:solidFill>
                  <a:srgbClr val="D9B45A"/>
                </a:solidFill>
                <a:latin typeface="Cormorant Garamond"/>
              </a:rPr>
              <a:t>04</a:t>
            </a:r>
          </a:p>
        </p:txBody>
      </p:sp>
      <p:sp>
        <p:nvSpPr>
          <p:cNvPr id="20" name="TextBox 19"/>
          <p:cNvSpPr txBox="1"/>
          <p:nvPr/>
        </p:nvSpPr>
        <p:spPr>
          <a:xfrm>
            <a:off x="5581650" y="3142803"/>
            <a:ext cx="1143000" cy="360045"/>
          </a:xfrm>
          <a:prstGeom prst="rect">
            <a:avLst/>
          </a:prstGeom>
          <a:noFill/>
        </p:spPr>
        <p:txBody>
          <a:bodyPr wrap="square">
            <a:spAutoFit/>
          </a:bodyPr>
          <a:lstStyle/>
          <a:p>
            <a:pPr algn="l"/>
            <a:r>
              <a:rPr sz="3150" b="0" i="0">
                <a:solidFill>
                  <a:srgbClr val="F7F4EC"/>
                </a:solidFill>
                <a:latin typeface="Cormorant Garamond"/>
              </a:rPr>
              <a:t>Financial Plan</a:t>
            </a:r>
          </a:p>
        </p:txBody>
      </p:sp>
      <p:sp>
        <p:nvSpPr>
          <p:cNvPr id="21" name="TextBox 20"/>
          <p:cNvSpPr txBox="1"/>
          <p:nvPr/>
        </p:nvSpPr>
        <p:spPr>
          <a:xfrm>
            <a:off x="5457825" y="3619500"/>
            <a:ext cx="1390650" cy="308520"/>
          </a:xfrm>
          <a:prstGeom prst="rect">
            <a:avLst/>
          </a:prstGeom>
          <a:noFill/>
        </p:spPr>
        <p:txBody>
          <a:bodyPr wrap="square">
            <a:spAutoFit/>
          </a:bodyPr>
          <a:lstStyle/>
          <a:p>
            <a:pPr algn="ctr"/>
            <a:r>
              <a:rPr sz="1800" b="0" i="0">
                <a:solidFill>
                  <a:srgbClr val="6B776E"/>
                </a:solidFill>
                <a:latin typeface="Rubik"/>
              </a:rPr>
              <a:t>P&amp;L · Balance sheet · Investment &amp; ROI</a:t>
            </a:r>
          </a:p>
        </p:txBody>
      </p:sp>
      <p:sp>
        <p:nvSpPr>
          <p:cNvPr id="22" name="TextBox 21"/>
          <p:cNvSpPr txBox="1"/>
          <p:nvPr/>
        </p:nvSpPr>
        <p:spPr>
          <a:xfrm>
            <a:off x="7162800" y="1524000"/>
            <a:ext cx="354508" cy="720090"/>
          </a:xfrm>
          <a:prstGeom prst="rect">
            <a:avLst/>
          </a:prstGeom>
          <a:noFill/>
        </p:spPr>
        <p:txBody>
          <a:bodyPr wrap="squar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squar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squar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4.png"/>
          <p:cNvPicPr>
            <a:picLocks noChangeAspect="1"/>
          </p:cNvPicPr>
          <p:nvPr/>
        </p:nvPicPr>
        <p:blipFill>
          <a:blip r:embed="rId2"/>
          <a:stretch>
            <a:fillRect/>
          </a:stretch>
        </p:blipFill>
        <p:spPr>
          <a:xfrm>
            <a:off x="0" y="0"/>
            <a:ext cx="9144000" cy="5143500"/>
          </a:xfrm>
          <a:prstGeom prst="rect">
            <a:avLst/>
          </a:prstGeom>
        </p:spPr>
      </p:pic>
      <p:pic>
        <p:nvPicPr>
          <p:cNvPr id="3" name="Picture 2" descr="f3e81edb5306616e57a5fa3eca01ee32.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square">
            <a:spAutoFit/>
          </a:bodyPr>
          <a:lstStyle/>
          <a:p>
            <a:pPr algn="l"/>
            <a:r>
              <a:rPr sz="19500" b="0" i="0">
                <a:solidFill>
                  <a:srgbClr val="D9B45A"/>
                </a:solidFill>
                <a:latin typeface="Cormorant Garamond"/>
              </a:rPr>
              <a:t>03</a:t>
            </a:r>
          </a:p>
        </p:txBody>
      </p:sp>
      <p:sp>
        <p:nvSpPr>
          <p:cNvPr id="5" name="TextBox 4"/>
          <p:cNvSpPr txBox="1"/>
          <p:nvPr/>
        </p:nvSpPr>
        <p:spPr>
          <a:xfrm>
            <a:off x="609600" y="2286000"/>
            <a:ext cx="3619500" cy="1097280"/>
          </a:xfrm>
          <a:prstGeom prst="rect">
            <a:avLst/>
          </a:prstGeom>
          <a:noFill/>
        </p:spPr>
        <p:txBody>
          <a:bodyPr wrap="square">
            <a:spAutoFit/>
          </a:bodyPr>
          <a:lstStyle/>
          <a:p>
            <a:pPr algn="l"/>
            <a:r>
              <a:rPr sz="9600" b="0" i="0">
                <a:solidFill>
                  <a:srgbClr val="F7F4EC"/>
                </a:solidFill>
                <a:latin typeface="Cormorant Garamond"/>
              </a:rPr>
              <a:t>Marketing</a:t>
            </a:r>
          </a:p>
        </p:txBody>
      </p:sp>
      <p:sp>
        <p:nvSpPr>
          <p:cNvPr id="6" name="TextBox 5"/>
          <p:cNvSpPr txBox="1"/>
          <p:nvPr/>
        </p:nvSpPr>
        <p:spPr>
          <a:xfrm>
            <a:off x="609600" y="3048000"/>
            <a:ext cx="3619500" cy="257175"/>
          </a:xfrm>
          <a:prstGeom prst="rect">
            <a:avLst/>
          </a:prstGeom>
          <a:noFill/>
        </p:spPr>
        <p:txBody>
          <a:bodyPr wrap="squar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533400"/>
          </a:xfrm>
          <a:prstGeom prst="rect">
            <a:avLst/>
          </a:prstGeom>
          <a:noFill/>
        </p:spPr>
        <p:txBody>
          <a:bodyPr wrap="square">
            <a:spAutoFit/>
          </a:bodyPr>
          <a:lstStyle/>
          <a:p>
            <a:pPr algn="l"/>
            <a:r>
              <a:rPr sz="3000" b="0" i="1">
                <a:solidFill>
                  <a:srgbClr val="D9B45A"/>
                </a:solidFill>
                <a:latin typeface="Cormorant Garamond"/>
              </a:rPr>
              <a:t>Content · KPIs · Operating model · Budget · Distributors</a:t>
            </a:r>
          </a:p>
        </p:txBody>
      </p:sp>
    </p:spTree>
  </p:cSld>
  <p:clrMapOvr>
    <a:masterClrMapping/>
  </p:clrMapOvr>
  <p:transition dur="500" advClick="1">
    <p:fade/>
  </p:transition>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5.png"/>
          <p:cNvPicPr>
            <a:picLocks noChangeAspect="1"/>
          </p:cNvPicPr>
          <p:nvPr/>
        </p:nvPicPr>
        <p:blipFill>
          <a:blip r:embed="rId2"/>
          <a:stretch>
            <a:fillRect/>
          </a:stretch>
        </p:blipFill>
        <p:spPr>
          <a:xfrm>
            <a:off x="0" y="0"/>
            <a:ext cx="9144000" cy="5143500"/>
          </a:xfrm>
          <a:prstGeom prst="rect">
            <a:avLst/>
          </a:prstGeom>
        </p:spPr>
      </p:pic>
      <p:pic>
        <p:nvPicPr>
          <p:cNvPr id="3" name="Picture 2" descr="a84f4194d69f7fa58e735fc4ef02b35e.jpg"/>
          <p:cNvPicPr>
            <a:picLocks noChangeAspect="1"/>
          </p:cNvPicPr>
          <p:nvPr/>
        </p:nvPicPr>
        <p:blipFill>
          <a:blip r:embed="rId3"/>
          <a:stretch>
            <a:fillRect/>
          </a:stretch>
        </p:blipFill>
        <p:spPr>
          <a:xfrm>
            <a:off x="614362" y="1214363"/>
            <a:ext cx="1481137" cy="1238250"/>
          </a:xfrm>
          <a:prstGeom prst="rect">
            <a:avLst/>
          </a:prstGeom>
        </p:spPr>
      </p:pic>
      <p:pic>
        <p:nvPicPr>
          <p:cNvPr id="4" name="Picture 3" descr="4a5c1dbab007849226bc5485c926ab5b.jpg"/>
          <p:cNvPicPr>
            <a:picLocks noChangeAspect="1"/>
          </p:cNvPicPr>
          <p:nvPr/>
        </p:nvPicPr>
        <p:blipFill>
          <a:blip r:embed="rId4"/>
          <a:stretch>
            <a:fillRect/>
          </a:stretch>
        </p:blipFill>
        <p:spPr>
          <a:xfrm>
            <a:off x="2222152" y="1214363"/>
            <a:ext cx="1481137" cy="1238250"/>
          </a:xfrm>
          <a:prstGeom prst="rect">
            <a:avLst/>
          </a:prstGeom>
        </p:spPr>
      </p:pic>
      <p:pic>
        <p:nvPicPr>
          <p:cNvPr id="5" name="Picture 4" descr="f651125e341580dae41d9038a68acd9f.jpg"/>
          <p:cNvPicPr>
            <a:picLocks noChangeAspect="1"/>
          </p:cNvPicPr>
          <p:nvPr/>
        </p:nvPicPr>
        <p:blipFill>
          <a:blip r:embed="rId5"/>
          <a:stretch>
            <a:fillRect/>
          </a:stretch>
        </p:blipFill>
        <p:spPr>
          <a:xfrm>
            <a:off x="3829942" y="1214363"/>
            <a:ext cx="1481137" cy="1238250"/>
          </a:xfrm>
          <a:prstGeom prst="rect">
            <a:avLst/>
          </a:prstGeom>
        </p:spPr>
      </p:pic>
      <p:pic>
        <p:nvPicPr>
          <p:cNvPr id="6" name="Picture 5" descr="85b4518eff3b5dc287286e12374557b2.jpg"/>
          <p:cNvPicPr>
            <a:picLocks noChangeAspect="1"/>
          </p:cNvPicPr>
          <p:nvPr/>
        </p:nvPicPr>
        <p:blipFill>
          <a:blip r:embed="rId6"/>
          <a:stretch>
            <a:fillRect/>
          </a:stretch>
        </p:blipFill>
        <p:spPr>
          <a:xfrm>
            <a:off x="5437733" y="1214363"/>
            <a:ext cx="1481137" cy="1238250"/>
          </a:xfrm>
          <a:prstGeom prst="rect">
            <a:avLst/>
          </a:prstGeom>
        </p:spPr>
      </p:pic>
      <p:pic>
        <p:nvPicPr>
          <p:cNvPr id="7" name="Picture 6" descr="befe65d6e957847c26eb073034d52de7.jpg"/>
          <p:cNvPicPr>
            <a:picLocks noChangeAspect="1"/>
          </p:cNvPicPr>
          <p:nvPr/>
        </p:nvPicPr>
        <p:blipFill>
          <a:blip r:embed="rId7"/>
          <a:stretch>
            <a:fillRect/>
          </a:stretch>
        </p:blipFill>
        <p:spPr>
          <a:xfrm>
            <a:off x="7045523" y="1214363"/>
            <a:ext cx="1481137" cy="1238250"/>
          </a:xfrm>
          <a:prstGeom prst="rect">
            <a:avLst/>
          </a:prstGeom>
        </p:spPr>
      </p:pic>
      <p:sp>
        <p:nvSpPr>
          <p:cNvPr id="8" name="TextBox 7"/>
          <p:cNvSpPr txBox="1"/>
          <p:nvPr/>
        </p:nvSpPr>
        <p:spPr>
          <a:xfrm>
            <a:off x="609600" y="533400"/>
            <a:ext cx="3253382" cy="205740"/>
          </a:xfrm>
          <a:prstGeom prst="rect">
            <a:avLst/>
          </a:prstGeom>
          <a:noFill/>
        </p:spPr>
        <p:txBody>
          <a:bodyPr wrap="square">
            <a:spAutoFit/>
          </a:bodyPr>
          <a:lstStyle/>
          <a:p>
            <a:pPr algn="l"/>
            <a:r>
              <a:rPr sz="1800" b="0" i="0" spc="300">
                <a:solidFill>
                  <a:srgbClr val="8A6A22"/>
                </a:solidFill>
                <a:latin typeface="Rubik"/>
              </a:rPr>
              <a:t>MARKETING · 3-1</a:t>
            </a:r>
          </a:p>
        </p:txBody>
      </p:sp>
      <p:sp>
        <p:nvSpPr>
          <p:cNvPr id="9" name="TextBox 8"/>
          <p:cNvSpPr txBox="1"/>
          <p:nvPr/>
        </p:nvSpPr>
        <p:spPr>
          <a:xfrm>
            <a:off x="609600" y="721965"/>
            <a:ext cx="3253382" cy="548640"/>
          </a:xfrm>
          <a:prstGeom prst="rect">
            <a:avLst/>
          </a:prstGeom>
          <a:noFill/>
        </p:spPr>
        <p:txBody>
          <a:bodyPr wrap="square">
            <a:spAutoFit/>
          </a:bodyPr>
          <a:lstStyle/>
          <a:p>
            <a:pPr algn="l"/>
            <a:r>
              <a:rPr sz="4800" b="0" i="0">
                <a:solidFill>
                  <a:srgbClr val="14281C"/>
                </a:solidFill>
                <a:latin typeface="Cormorant Garamond"/>
              </a:rPr>
              <a:t>Digital &amp; Content Strategy</a:t>
            </a:r>
          </a:p>
        </p:txBody>
      </p:sp>
      <p:sp>
        <p:nvSpPr>
          <p:cNvPr id="10" name="TextBox 9"/>
          <p:cNvSpPr txBox="1"/>
          <p:nvPr/>
        </p:nvSpPr>
        <p:spPr>
          <a:xfrm>
            <a:off x="747712" y="2566913"/>
            <a:ext cx="1217265" cy="205740"/>
          </a:xfrm>
          <a:prstGeom prst="rect">
            <a:avLst/>
          </a:prstGeom>
          <a:noFill/>
        </p:spPr>
        <p:txBody>
          <a:bodyPr wrap="square">
            <a:spAutoFit/>
          </a:bodyPr>
          <a:lstStyle/>
          <a:p>
            <a:pPr algn="l"/>
            <a:r>
              <a:rPr sz="1800" b="0" i="0" spc="225">
                <a:solidFill>
                  <a:srgbClr val="8A6A22"/>
                </a:solidFill>
                <a:latin typeface="Rubik"/>
              </a:rPr>
              <a:t>PILLAR 1</a:t>
            </a:r>
          </a:p>
        </p:txBody>
      </p:sp>
      <p:sp>
        <p:nvSpPr>
          <p:cNvPr id="11" name="TextBox 10"/>
          <p:cNvSpPr txBox="1"/>
          <p:nvPr/>
        </p:nvSpPr>
        <p:spPr>
          <a:xfrm>
            <a:off x="747712" y="2774528"/>
            <a:ext cx="1217265" cy="360045"/>
          </a:xfrm>
          <a:prstGeom prst="rect">
            <a:avLst/>
          </a:prstGeom>
          <a:noFill/>
        </p:spPr>
        <p:txBody>
          <a:bodyPr wrap="square">
            <a:spAutoFit/>
          </a:bodyPr>
          <a:lstStyle/>
          <a:p>
            <a:pPr algn="l"/>
            <a:r>
              <a:rPr sz="3150" b="0" i="0">
                <a:solidFill>
                  <a:srgbClr val="14281C"/>
                </a:solidFill>
                <a:latin typeface="Cormorant Garamond"/>
              </a:rPr>
              <a:t>Heritage</a:t>
            </a:r>
          </a:p>
        </p:txBody>
      </p:sp>
      <p:sp>
        <p:nvSpPr>
          <p:cNvPr id="12" name="TextBox 11"/>
          <p:cNvSpPr txBox="1"/>
          <p:nvPr/>
        </p:nvSpPr>
        <p:spPr>
          <a:xfrm>
            <a:off x="747712" y="3022178"/>
            <a:ext cx="1217265" cy="833437"/>
          </a:xfrm>
          <a:prstGeom prst="rect">
            <a:avLst/>
          </a:prstGeom>
          <a:noFill/>
        </p:spPr>
        <p:txBody>
          <a:bodyPr wrap="square">
            <a:spAutoFit/>
          </a:bodyPr>
          <a:lstStyle/>
          <a:p>
            <a:pPr algn="l"/>
            <a:r>
              <a:rPr sz="1875" b="0" i="0">
                <a:solidFill>
                  <a:srgbClr val="46534A"/>
                </a:solidFill>
                <a:latin typeface="Rubik"/>
              </a:rPr>
              <a:t>Magon, Carthage, Tunisia, olive trees, farmers and Mediterranean culture.</a:t>
            </a:r>
          </a:p>
        </p:txBody>
      </p:sp>
      <p:sp>
        <p:nvSpPr>
          <p:cNvPr id="13" name="TextBox 12"/>
          <p:cNvSpPr txBox="1"/>
          <p:nvPr/>
        </p:nvSpPr>
        <p:spPr>
          <a:xfrm>
            <a:off x="2355502" y="2566913"/>
            <a:ext cx="1217265" cy="205740"/>
          </a:xfrm>
          <a:prstGeom prst="rect">
            <a:avLst/>
          </a:prstGeom>
          <a:noFill/>
        </p:spPr>
        <p:txBody>
          <a:bodyPr wrap="square">
            <a:spAutoFit/>
          </a:bodyPr>
          <a:lstStyle/>
          <a:p>
            <a:pPr algn="l"/>
            <a:r>
              <a:rPr sz="1800" b="0" i="0" spc="225">
                <a:solidFill>
                  <a:srgbClr val="8A6A22"/>
                </a:solidFill>
                <a:latin typeface="Rubik"/>
              </a:rPr>
              <a:t>PILLAR 2</a:t>
            </a:r>
          </a:p>
        </p:txBody>
      </p:sp>
      <p:sp>
        <p:nvSpPr>
          <p:cNvPr id="14" name="TextBox 13"/>
          <p:cNvSpPr txBox="1"/>
          <p:nvPr/>
        </p:nvSpPr>
        <p:spPr>
          <a:xfrm>
            <a:off x="2355502" y="2774528"/>
            <a:ext cx="1217265" cy="360045"/>
          </a:xfrm>
          <a:prstGeom prst="rect">
            <a:avLst/>
          </a:prstGeom>
          <a:noFill/>
        </p:spPr>
        <p:txBody>
          <a:bodyPr wrap="square">
            <a:spAutoFit/>
          </a:bodyPr>
          <a:lstStyle/>
          <a:p>
            <a:pPr algn="l"/>
            <a:r>
              <a:rPr sz="3150" b="0" i="0">
                <a:solidFill>
                  <a:srgbClr val="14281C"/>
                </a:solidFill>
                <a:latin typeface="Cormorant Garamond"/>
              </a:rPr>
              <a:t>Taste</a:t>
            </a:r>
          </a:p>
        </p:txBody>
      </p:sp>
      <p:sp>
        <p:nvSpPr>
          <p:cNvPr id="15" name="TextBox 14"/>
          <p:cNvSpPr txBox="1"/>
          <p:nvPr/>
        </p:nvSpPr>
        <p:spPr>
          <a:xfrm>
            <a:off x="2355502" y="3022178"/>
            <a:ext cx="1217265" cy="333375"/>
          </a:xfrm>
          <a:prstGeom prst="rect">
            <a:avLst/>
          </a:prstGeom>
          <a:noFill/>
        </p:spPr>
        <p:txBody>
          <a:bodyPr wrap="square">
            <a:spAutoFit/>
          </a:bodyPr>
          <a:lstStyle/>
          <a:p>
            <a:pPr algn="l"/>
            <a:r>
              <a:rPr sz="1875" b="0" i="0">
                <a:solidFill>
                  <a:srgbClr val="46534A"/>
                </a:solidFill>
                <a:latin typeface="Rubik"/>
              </a:rPr>
              <a:t>Recipes, pairings and chef demonstrations.</a:t>
            </a:r>
          </a:p>
        </p:txBody>
      </p:sp>
      <p:sp>
        <p:nvSpPr>
          <p:cNvPr id="16" name="TextBox 15"/>
          <p:cNvSpPr txBox="1"/>
          <p:nvPr/>
        </p:nvSpPr>
        <p:spPr>
          <a:xfrm>
            <a:off x="3963292" y="2566913"/>
            <a:ext cx="1217265" cy="205740"/>
          </a:xfrm>
          <a:prstGeom prst="rect">
            <a:avLst/>
          </a:prstGeom>
          <a:noFill/>
        </p:spPr>
        <p:txBody>
          <a:bodyPr wrap="square">
            <a:spAutoFit/>
          </a:bodyPr>
          <a:lstStyle/>
          <a:p>
            <a:pPr algn="l"/>
            <a:r>
              <a:rPr sz="1800" b="0" i="0" spc="225">
                <a:solidFill>
                  <a:srgbClr val="8A6A22"/>
                </a:solidFill>
                <a:latin typeface="Rubik"/>
              </a:rPr>
              <a:t>PILLAR 3</a:t>
            </a:r>
          </a:p>
        </p:txBody>
      </p:sp>
      <p:sp>
        <p:nvSpPr>
          <p:cNvPr id="17" name="TextBox 16"/>
          <p:cNvSpPr txBox="1"/>
          <p:nvPr/>
        </p:nvSpPr>
        <p:spPr>
          <a:xfrm>
            <a:off x="3963292" y="2774528"/>
            <a:ext cx="1217265" cy="360045"/>
          </a:xfrm>
          <a:prstGeom prst="rect">
            <a:avLst/>
          </a:prstGeom>
          <a:noFill/>
        </p:spPr>
        <p:txBody>
          <a:bodyPr wrap="square">
            <a:spAutoFit/>
          </a:bodyPr>
          <a:lstStyle/>
          <a:p>
            <a:pPr algn="l"/>
            <a:r>
              <a:rPr sz="3150" b="0" i="0">
                <a:solidFill>
                  <a:srgbClr val="14281C"/>
                </a:solidFill>
                <a:latin typeface="Cormorant Garamond"/>
              </a:rPr>
              <a:t>Product</a:t>
            </a:r>
          </a:p>
        </p:txBody>
      </p:sp>
      <p:sp>
        <p:nvSpPr>
          <p:cNvPr id="18" name="TextBox 17"/>
          <p:cNvSpPr txBox="1"/>
          <p:nvPr/>
        </p:nvSpPr>
        <p:spPr>
          <a:xfrm>
            <a:off x="3963292" y="3022178"/>
            <a:ext cx="1217265" cy="666750"/>
          </a:xfrm>
          <a:prstGeom prst="rect">
            <a:avLst/>
          </a:prstGeom>
          <a:noFill/>
        </p:spPr>
        <p:txBody>
          <a:bodyPr wrap="square">
            <a:spAutoFit/>
          </a:bodyPr>
          <a:lstStyle/>
          <a:p>
            <a:pPr algn="l"/>
            <a:r>
              <a:rPr sz="1875" b="0" i="0">
                <a:solidFill>
                  <a:srgbClr val="46534A"/>
                </a:solidFill>
                <a:latin typeface="Rubik"/>
              </a:rPr>
              <a:t>Classic, Organic, Premium and Flavored product education.</a:t>
            </a:r>
          </a:p>
        </p:txBody>
      </p:sp>
      <p:sp>
        <p:nvSpPr>
          <p:cNvPr id="19" name="TextBox 18"/>
          <p:cNvSpPr txBox="1"/>
          <p:nvPr/>
        </p:nvSpPr>
        <p:spPr>
          <a:xfrm>
            <a:off x="5571083" y="2566913"/>
            <a:ext cx="1217265" cy="205740"/>
          </a:xfrm>
          <a:prstGeom prst="rect">
            <a:avLst/>
          </a:prstGeom>
          <a:noFill/>
        </p:spPr>
        <p:txBody>
          <a:bodyPr wrap="square">
            <a:spAutoFit/>
          </a:bodyPr>
          <a:lstStyle/>
          <a:p>
            <a:pPr algn="l"/>
            <a:r>
              <a:rPr sz="1800" b="0" i="0" spc="225">
                <a:solidFill>
                  <a:srgbClr val="8A6A22"/>
                </a:solidFill>
                <a:latin typeface="Rubik"/>
              </a:rPr>
              <a:t>PILLAR 4</a:t>
            </a:r>
          </a:p>
        </p:txBody>
      </p:sp>
      <p:sp>
        <p:nvSpPr>
          <p:cNvPr id="20" name="TextBox 19"/>
          <p:cNvSpPr txBox="1"/>
          <p:nvPr/>
        </p:nvSpPr>
        <p:spPr>
          <a:xfrm>
            <a:off x="5571083" y="2774528"/>
            <a:ext cx="1217265" cy="360045"/>
          </a:xfrm>
          <a:prstGeom prst="rect">
            <a:avLst/>
          </a:prstGeom>
          <a:noFill/>
        </p:spPr>
        <p:txBody>
          <a:bodyPr wrap="square">
            <a:spAutoFit/>
          </a:bodyPr>
          <a:lstStyle/>
          <a:p>
            <a:pPr algn="l"/>
            <a:r>
              <a:rPr sz="3150" b="0" i="0">
                <a:solidFill>
                  <a:srgbClr val="14281C"/>
                </a:solidFill>
                <a:latin typeface="Cormorant Garamond"/>
              </a:rPr>
              <a:t>People</a:t>
            </a:r>
          </a:p>
        </p:txBody>
      </p:sp>
      <p:sp>
        <p:nvSpPr>
          <p:cNvPr id="21" name="TextBox 20"/>
          <p:cNvSpPr txBox="1"/>
          <p:nvPr/>
        </p:nvSpPr>
        <p:spPr>
          <a:xfrm>
            <a:off x="5571083" y="3022178"/>
            <a:ext cx="1217265" cy="500062"/>
          </a:xfrm>
          <a:prstGeom prst="rect">
            <a:avLst/>
          </a:prstGeom>
          <a:noFill/>
        </p:spPr>
        <p:txBody>
          <a:bodyPr wrap="square">
            <a:spAutoFit/>
          </a:bodyPr>
          <a:lstStyle/>
          <a:p>
            <a:pPr algn="l"/>
            <a:r>
              <a:rPr sz="1875" b="0" i="0">
                <a:solidFill>
                  <a:srgbClr val="46534A"/>
                </a:solidFill>
                <a:latin typeface="Rubik"/>
              </a:rPr>
              <a:t>Farmers, craftsmen, chefs and Saraya / SNPT stories.</a:t>
            </a:r>
          </a:p>
        </p:txBody>
      </p:sp>
      <p:sp>
        <p:nvSpPr>
          <p:cNvPr id="22" name="TextBox 21"/>
          <p:cNvSpPr txBox="1"/>
          <p:nvPr/>
        </p:nvSpPr>
        <p:spPr>
          <a:xfrm>
            <a:off x="7178873" y="2566913"/>
            <a:ext cx="1217265" cy="205740"/>
          </a:xfrm>
          <a:prstGeom prst="rect">
            <a:avLst/>
          </a:prstGeom>
          <a:noFill/>
        </p:spPr>
        <p:txBody>
          <a:bodyPr wrap="square">
            <a:spAutoFit/>
          </a:bodyPr>
          <a:lstStyle/>
          <a:p>
            <a:pPr algn="l"/>
            <a:r>
              <a:rPr sz="1800" b="0" i="0" spc="225">
                <a:solidFill>
                  <a:srgbClr val="8A6A22"/>
                </a:solidFill>
                <a:latin typeface="Rubik"/>
              </a:rPr>
              <a:t>PILLAR 5</a:t>
            </a:r>
          </a:p>
        </p:txBody>
      </p:sp>
      <p:sp>
        <p:nvSpPr>
          <p:cNvPr id="23" name="TextBox 22"/>
          <p:cNvSpPr txBox="1"/>
          <p:nvPr/>
        </p:nvSpPr>
        <p:spPr>
          <a:xfrm>
            <a:off x="7178873" y="2774528"/>
            <a:ext cx="1217265" cy="360045"/>
          </a:xfrm>
          <a:prstGeom prst="rect">
            <a:avLst/>
          </a:prstGeom>
          <a:noFill/>
        </p:spPr>
        <p:txBody>
          <a:bodyPr wrap="square">
            <a:spAutoFit/>
          </a:bodyPr>
          <a:lstStyle/>
          <a:p>
            <a:pPr algn="l"/>
            <a:r>
              <a:rPr sz="3150" b="0" i="0">
                <a:solidFill>
                  <a:srgbClr val="14281C"/>
                </a:solidFill>
                <a:latin typeface="Cormorant Garamond"/>
              </a:rPr>
              <a:t>Lifestyle</a:t>
            </a:r>
          </a:p>
        </p:txBody>
      </p:sp>
      <p:sp>
        <p:nvSpPr>
          <p:cNvPr id="24" name="TextBox 23"/>
          <p:cNvSpPr txBox="1"/>
          <p:nvPr/>
        </p:nvSpPr>
        <p:spPr>
          <a:xfrm>
            <a:off x="7178873" y="3022178"/>
            <a:ext cx="1217265" cy="500062"/>
          </a:xfrm>
          <a:prstGeom prst="rect">
            <a:avLst/>
          </a:prstGeom>
          <a:noFill/>
        </p:spPr>
        <p:txBody>
          <a:bodyPr wrap="square">
            <a:spAutoFit/>
          </a:bodyPr>
          <a:lstStyle/>
          <a:p>
            <a:pPr algn="l"/>
            <a:r>
              <a:rPr sz="1875" b="0" i="0">
                <a:solidFill>
                  <a:srgbClr val="46534A"/>
                </a:solidFill>
                <a:latin typeface="Rubik"/>
              </a:rPr>
              <a:t>Travel, Mediterranean wellness, table setting and gifting.</a:t>
            </a:r>
          </a:p>
        </p:txBody>
      </p:sp>
      <p:sp>
        <p:nvSpPr>
          <p:cNvPr id="25" name="TextBox 24"/>
          <p:cNvSpPr txBox="1"/>
          <p:nvPr/>
        </p:nvSpPr>
        <p:spPr>
          <a:xfrm>
            <a:off x="1238250" y="4313262"/>
            <a:ext cx="7105650" cy="240030"/>
          </a:xfrm>
          <a:prstGeom prst="rect">
            <a:avLst/>
          </a:prstGeom>
          <a:noFill/>
        </p:spPr>
        <p:txBody>
          <a:bodyPr wrap="square">
            <a:spAutoFit/>
          </a:bodyPr>
          <a:lstStyle/>
          <a:p>
            <a:pPr algn="l"/>
            <a:r>
              <a:rPr sz="2100" b="0" i="0">
                <a:solidFill>
                  <a:srgbClr val="F7F4EC"/>
                </a:solidFill>
                <a:latin typeface="Rubik"/>
              </a:rPr>
              <a:t>Cadence: target 4–6 social posts/videos per week per priority market, localized from one global content bank.</a:t>
            </a:r>
          </a:p>
        </p:txBody>
      </p:sp>
      <p:sp>
        <p:nvSpPr>
          <p:cNvPr id="26" name="TextBox 25"/>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23 / 35</a:t>
            </a:r>
          </a:p>
        </p:txBody>
      </p:sp>
    </p:spTree>
  </p:cSld>
  <p:clrMapOvr>
    <a:masterClrMapping/>
  </p:clrMapOvr>
  <p:transition dur="500" advClick="1">
    <p:fade/>
  </p:transition>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6.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4029149" cy="205740"/>
          </a:xfrm>
          <a:prstGeom prst="rect">
            <a:avLst/>
          </a:prstGeom>
          <a:noFill/>
        </p:spPr>
        <p:txBody>
          <a:bodyPr wrap="square">
            <a:spAutoFit/>
          </a:bodyPr>
          <a:lstStyle/>
          <a:p>
            <a:pPr algn="l"/>
            <a:r>
              <a:rPr sz="1800" b="0" i="0" spc="300">
                <a:solidFill>
                  <a:srgbClr val="8A6A22"/>
                </a:solidFill>
                <a:latin typeface="Rubik"/>
              </a:rPr>
              <a:t>MARKETING · 3-2</a:t>
            </a:r>
          </a:p>
        </p:txBody>
      </p:sp>
      <p:sp>
        <p:nvSpPr>
          <p:cNvPr id="4" name="TextBox 3"/>
          <p:cNvSpPr txBox="1"/>
          <p:nvPr/>
        </p:nvSpPr>
        <p:spPr>
          <a:xfrm>
            <a:off x="609600" y="721965"/>
            <a:ext cx="4029149" cy="548640"/>
          </a:xfrm>
          <a:prstGeom prst="rect">
            <a:avLst/>
          </a:prstGeom>
          <a:noFill/>
        </p:spPr>
        <p:txBody>
          <a:bodyPr wrap="square">
            <a:spAutoFit/>
          </a:bodyPr>
          <a:lstStyle/>
          <a:p>
            <a:pPr algn="l"/>
            <a:r>
              <a:rPr sz="4800" b="0" i="0">
                <a:solidFill>
                  <a:srgbClr val="14281C"/>
                </a:solidFill>
                <a:latin typeface="Cormorant Garamond"/>
              </a:rPr>
              <a:t>Global Marketing KPI Dashboard</a:t>
            </a:r>
          </a:p>
        </p:txBody>
      </p:sp>
      <p:sp>
        <p:nvSpPr>
          <p:cNvPr id="5" name="TextBox 4"/>
          <p:cNvSpPr txBox="1"/>
          <p:nvPr/>
        </p:nvSpPr>
        <p:spPr>
          <a:xfrm>
            <a:off x="1081087" y="1394370"/>
            <a:ext cx="692869" cy="231457"/>
          </a:xfrm>
          <a:prstGeom prst="rect">
            <a:avLst/>
          </a:prstGeom>
          <a:noFill/>
        </p:spPr>
        <p:txBody>
          <a:bodyPr wrap="square">
            <a:spAutoFit/>
          </a:bodyPr>
          <a:lstStyle/>
          <a:p>
            <a:pPr algn="l"/>
            <a:r>
              <a:rPr sz="2025" b="0" i="0">
                <a:solidFill>
                  <a:srgbClr val="14281C"/>
                </a:solidFill>
                <a:latin typeface="Rubik"/>
              </a:rPr>
              <a:t>Awareness</a:t>
            </a:r>
          </a:p>
        </p:txBody>
      </p:sp>
      <p:sp>
        <p:nvSpPr>
          <p:cNvPr id="6" name="TextBox 5"/>
          <p:cNvSpPr txBox="1"/>
          <p:nvPr/>
        </p:nvSpPr>
        <p:spPr>
          <a:xfrm>
            <a:off x="766762" y="1975023"/>
            <a:ext cx="1581150" cy="514350"/>
          </a:xfrm>
          <a:prstGeom prst="rect">
            <a:avLst/>
          </a:prstGeom>
          <a:noFill/>
        </p:spPr>
        <p:txBody>
          <a:bodyPr wrap="square">
            <a:spAutoFit/>
          </a:bodyPr>
          <a:lstStyle/>
          <a:p>
            <a:pPr algn="l"/>
            <a:r>
              <a:rPr sz="4500" b="0" i="0">
                <a:solidFill>
                  <a:srgbClr val="8A6A22"/>
                </a:solidFill>
                <a:latin typeface="Cormorant Garamond"/>
              </a:rPr>
              <a:t>Growth</a:t>
            </a:r>
          </a:p>
        </p:txBody>
      </p:sp>
      <p:sp>
        <p:nvSpPr>
          <p:cNvPr id="7" name="TextBox 6"/>
          <p:cNvSpPr txBox="1"/>
          <p:nvPr/>
        </p:nvSpPr>
        <p:spPr>
          <a:xfrm>
            <a:off x="766762" y="2313161"/>
            <a:ext cx="1581150" cy="308520"/>
          </a:xfrm>
          <a:prstGeom prst="rect">
            <a:avLst/>
          </a:prstGeom>
          <a:noFill/>
        </p:spPr>
        <p:txBody>
          <a:bodyPr wrap="square">
            <a:spAutoFit/>
          </a:bodyPr>
          <a:lstStyle/>
          <a:p>
            <a:pPr algn="l"/>
            <a:r>
              <a:rPr sz="1800" b="0" i="0">
                <a:solidFill>
                  <a:srgbClr val="46534A"/>
                </a:solidFill>
                <a:latin typeface="Rubik"/>
              </a:rPr>
              <a:t>Website traffic / reach / followers</a:t>
            </a:r>
          </a:p>
        </p:txBody>
      </p:sp>
      <p:sp>
        <p:nvSpPr>
          <p:cNvPr id="8" name="TextBox 7"/>
          <p:cNvSpPr txBox="1"/>
          <p:nvPr/>
        </p:nvSpPr>
        <p:spPr>
          <a:xfrm>
            <a:off x="3090862" y="1394370"/>
            <a:ext cx="803299" cy="231457"/>
          </a:xfrm>
          <a:prstGeom prst="rect">
            <a:avLst/>
          </a:prstGeom>
          <a:noFill/>
        </p:spPr>
        <p:txBody>
          <a:bodyPr wrap="square">
            <a:spAutoFit/>
          </a:bodyPr>
          <a:lstStyle/>
          <a:p>
            <a:pPr algn="l"/>
            <a:r>
              <a:rPr sz="2025" b="0" i="0">
                <a:solidFill>
                  <a:srgbClr val="14281C"/>
                </a:solidFill>
                <a:latin typeface="Rubik"/>
              </a:rPr>
              <a:t>Engagement</a:t>
            </a:r>
          </a:p>
        </p:txBody>
      </p:sp>
      <p:sp>
        <p:nvSpPr>
          <p:cNvPr id="9" name="TextBox 8"/>
          <p:cNvSpPr txBox="1"/>
          <p:nvPr/>
        </p:nvSpPr>
        <p:spPr>
          <a:xfrm>
            <a:off x="2776537" y="1932161"/>
            <a:ext cx="1581150" cy="617220"/>
          </a:xfrm>
          <a:prstGeom prst="rect">
            <a:avLst/>
          </a:prstGeom>
          <a:noFill/>
        </p:spPr>
        <p:txBody>
          <a:bodyPr wrap="square">
            <a:spAutoFit/>
          </a:bodyPr>
          <a:lstStyle/>
          <a:p>
            <a:pPr algn="l"/>
            <a:r>
              <a:rPr sz="5400" b="0" i="0">
                <a:solidFill>
                  <a:srgbClr val="8A6A22"/>
                </a:solidFill>
                <a:latin typeface="Cormorant Garamond"/>
              </a:rPr>
              <a:t>&gt;5%</a:t>
            </a:r>
          </a:p>
        </p:txBody>
      </p:sp>
      <p:sp>
        <p:nvSpPr>
          <p:cNvPr id="10" name="TextBox 9"/>
          <p:cNvSpPr txBox="1"/>
          <p:nvPr/>
        </p:nvSpPr>
        <p:spPr>
          <a:xfrm>
            <a:off x="2776537" y="2313161"/>
            <a:ext cx="1581150" cy="308520"/>
          </a:xfrm>
          <a:prstGeom prst="rect">
            <a:avLst/>
          </a:prstGeom>
          <a:noFill/>
        </p:spPr>
        <p:txBody>
          <a:bodyPr wrap="square">
            <a:spAutoFit/>
          </a:bodyPr>
          <a:lstStyle/>
          <a:p>
            <a:pPr algn="l"/>
            <a:r>
              <a:rPr sz="1800" b="0" i="0">
                <a:solidFill>
                  <a:srgbClr val="46534A"/>
                </a:solidFill>
                <a:latin typeface="Rubik"/>
              </a:rPr>
              <a:t>Video views / engagement rate</a:t>
            </a:r>
          </a:p>
        </p:txBody>
      </p:sp>
      <p:sp>
        <p:nvSpPr>
          <p:cNvPr id="11" name="TextBox 10"/>
          <p:cNvSpPr txBox="1"/>
          <p:nvPr/>
        </p:nvSpPr>
        <p:spPr>
          <a:xfrm>
            <a:off x="5100637" y="1394370"/>
            <a:ext cx="272801" cy="231457"/>
          </a:xfrm>
          <a:prstGeom prst="rect">
            <a:avLst/>
          </a:prstGeom>
          <a:noFill/>
        </p:spPr>
        <p:txBody>
          <a:bodyPr wrap="square">
            <a:spAutoFit/>
          </a:bodyPr>
          <a:lstStyle/>
          <a:p>
            <a:pPr algn="l"/>
            <a:r>
              <a:rPr sz="2025" b="0" i="0">
                <a:solidFill>
                  <a:srgbClr val="14281C"/>
                </a:solidFill>
                <a:latin typeface="Rubik"/>
              </a:rPr>
              <a:t>Trial</a:t>
            </a:r>
          </a:p>
        </p:txBody>
      </p:sp>
      <p:sp>
        <p:nvSpPr>
          <p:cNvPr id="12" name="TextBox 11"/>
          <p:cNvSpPr txBox="1"/>
          <p:nvPr/>
        </p:nvSpPr>
        <p:spPr>
          <a:xfrm>
            <a:off x="4786312" y="1975023"/>
            <a:ext cx="1581150" cy="514350"/>
          </a:xfrm>
          <a:prstGeom prst="rect">
            <a:avLst/>
          </a:prstGeom>
          <a:noFill/>
        </p:spPr>
        <p:txBody>
          <a:bodyPr wrap="square">
            <a:spAutoFit/>
          </a:bodyPr>
          <a:lstStyle/>
          <a:p>
            <a:pPr algn="l"/>
            <a:r>
              <a:rPr sz="4500" b="0" i="0">
                <a:solidFill>
                  <a:srgbClr val="8A6A22"/>
                </a:solidFill>
                <a:latin typeface="Cormorant Garamond"/>
              </a:rPr>
              <a:t>Monthly</a:t>
            </a:r>
          </a:p>
        </p:txBody>
      </p:sp>
      <p:sp>
        <p:nvSpPr>
          <p:cNvPr id="13" name="TextBox 12"/>
          <p:cNvSpPr txBox="1"/>
          <p:nvPr/>
        </p:nvSpPr>
        <p:spPr>
          <a:xfrm>
            <a:off x="4786312" y="2313161"/>
            <a:ext cx="1581150" cy="308520"/>
          </a:xfrm>
          <a:prstGeom prst="rect">
            <a:avLst/>
          </a:prstGeom>
          <a:noFill/>
        </p:spPr>
        <p:txBody>
          <a:bodyPr wrap="square">
            <a:spAutoFit/>
          </a:bodyPr>
          <a:lstStyle/>
          <a:p>
            <a:pPr algn="l"/>
            <a:r>
              <a:rPr sz="1800" b="0" i="0">
                <a:solidFill>
                  <a:srgbClr val="46534A"/>
                </a:solidFill>
                <a:latin typeface="Rubik"/>
              </a:rPr>
              <a:t>Samples distributed · monthly target</a:t>
            </a:r>
          </a:p>
        </p:txBody>
      </p:sp>
      <p:sp>
        <p:nvSpPr>
          <p:cNvPr id="14" name="TextBox 13"/>
          <p:cNvSpPr txBox="1"/>
          <p:nvPr/>
        </p:nvSpPr>
        <p:spPr>
          <a:xfrm>
            <a:off x="7105650" y="1389608"/>
            <a:ext cx="713109" cy="231457"/>
          </a:xfrm>
          <a:prstGeom prst="rect">
            <a:avLst/>
          </a:prstGeom>
          <a:noFill/>
        </p:spPr>
        <p:txBody>
          <a:bodyPr wrap="square">
            <a:spAutoFit/>
          </a:bodyPr>
          <a:lstStyle/>
          <a:p>
            <a:pPr algn="l"/>
            <a:r>
              <a:rPr sz="2025" b="0" i="0">
                <a:solidFill>
                  <a:srgbClr val="F7F4EC"/>
                </a:solidFill>
                <a:latin typeface="Rubik"/>
              </a:rPr>
              <a:t>Conversion</a:t>
            </a:r>
          </a:p>
        </p:txBody>
      </p:sp>
      <p:sp>
        <p:nvSpPr>
          <p:cNvPr id="15" name="TextBox 14"/>
          <p:cNvSpPr txBox="1"/>
          <p:nvPr/>
        </p:nvSpPr>
        <p:spPr>
          <a:xfrm>
            <a:off x="6791325" y="2091183"/>
            <a:ext cx="1590675" cy="617220"/>
          </a:xfrm>
          <a:prstGeom prst="rect">
            <a:avLst/>
          </a:prstGeom>
          <a:noFill/>
        </p:spPr>
        <p:txBody>
          <a:bodyPr wrap="square">
            <a:spAutoFit/>
          </a:bodyPr>
          <a:lstStyle/>
          <a:p>
            <a:pPr algn="l"/>
            <a:r>
              <a:rPr sz="5400" b="0" i="0">
                <a:solidFill>
                  <a:srgbClr val="D9B45A"/>
                </a:solidFill>
                <a:latin typeface="Cormorant Garamond"/>
              </a:rPr>
              <a:t>&gt;20%</a:t>
            </a:r>
          </a:p>
        </p:txBody>
      </p:sp>
      <p:sp>
        <p:nvSpPr>
          <p:cNvPr id="16" name="TextBox 15"/>
          <p:cNvSpPr txBox="1"/>
          <p:nvPr/>
        </p:nvSpPr>
        <p:spPr>
          <a:xfrm>
            <a:off x="6791325" y="2472183"/>
            <a:ext cx="1590675" cy="205740"/>
          </a:xfrm>
          <a:prstGeom prst="rect">
            <a:avLst/>
          </a:prstGeom>
          <a:noFill/>
        </p:spPr>
        <p:txBody>
          <a:bodyPr wrap="square">
            <a:spAutoFit/>
          </a:bodyPr>
          <a:lstStyle/>
          <a:p>
            <a:pPr algn="l"/>
            <a:r>
              <a:rPr sz="1800" b="0" i="0">
                <a:solidFill>
                  <a:srgbClr val="C9D6C4"/>
                </a:solidFill>
                <a:latin typeface="Rubik"/>
              </a:rPr>
              <a:t>Sample → first order</a:t>
            </a:r>
          </a:p>
        </p:txBody>
      </p:sp>
      <p:sp>
        <p:nvSpPr>
          <p:cNvPr id="17" name="TextBox 16"/>
          <p:cNvSpPr txBox="1"/>
          <p:nvPr/>
        </p:nvSpPr>
        <p:spPr>
          <a:xfrm>
            <a:off x="1076325" y="3054101"/>
            <a:ext cx="626864" cy="231457"/>
          </a:xfrm>
          <a:prstGeom prst="rect">
            <a:avLst/>
          </a:prstGeom>
          <a:noFill/>
        </p:spPr>
        <p:txBody>
          <a:bodyPr wrap="square">
            <a:spAutoFit/>
          </a:bodyPr>
          <a:lstStyle/>
          <a:p>
            <a:pPr algn="l"/>
            <a:r>
              <a:rPr sz="2025" b="0" i="0">
                <a:solidFill>
                  <a:srgbClr val="F7F4EC"/>
                </a:solidFill>
                <a:latin typeface="Rubik"/>
              </a:rPr>
              <a:t>Retention</a:t>
            </a:r>
          </a:p>
        </p:txBody>
      </p:sp>
      <p:sp>
        <p:nvSpPr>
          <p:cNvPr id="18" name="TextBox 17"/>
          <p:cNvSpPr txBox="1"/>
          <p:nvPr/>
        </p:nvSpPr>
        <p:spPr>
          <a:xfrm>
            <a:off x="762000" y="3712889"/>
            <a:ext cx="1590675" cy="617220"/>
          </a:xfrm>
          <a:prstGeom prst="rect">
            <a:avLst/>
          </a:prstGeom>
          <a:noFill/>
        </p:spPr>
        <p:txBody>
          <a:bodyPr wrap="square">
            <a:spAutoFit/>
          </a:bodyPr>
          <a:lstStyle/>
          <a:p>
            <a:pPr algn="l"/>
            <a:r>
              <a:rPr sz="5400" b="0" i="0">
                <a:solidFill>
                  <a:srgbClr val="D9B45A"/>
                </a:solidFill>
                <a:latin typeface="Cormorant Garamond"/>
              </a:rPr>
              <a:t>&gt;30%</a:t>
            </a:r>
          </a:p>
        </p:txBody>
      </p:sp>
      <p:sp>
        <p:nvSpPr>
          <p:cNvPr id="19" name="TextBox 18"/>
          <p:cNvSpPr txBox="1"/>
          <p:nvPr/>
        </p:nvSpPr>
        <p:spPr>
          <a:xfrm>
            <a:off x="762000" y="4093889"/>
            <a:ext cx="1590675" cy="205740"/>
          </a:xfrm>
          <a:prstGeom prst="rect">
            <a:avLst/>
          </a:prstGeom>
          <a:noFill/>
        </p:spPr>
        <p:txBody>
          <a:bodyPr wrap="square">
            <a:spAutoFit/>
          </a:bodyPr>
          <a:lstStyle/>
          <a:p>
            <a:pPr algn="l"/>
            <a:r>
              <a:rPr sz="1800" b="0" i="0">
                <a:solidFill>
                  <a:srgbClr val="C9D6C4"/>
                </a:solidFill>
                <a:latin typeface="Rubik"/>
              </a:rPr>
              <a:t>Repeat purchase rate</a:t>
            </a:r>
          </a:p>
        </p:txBody>
      </p:sp>
      <p:sp>
        <p:nvSpPr>
          <p:cNvPr id="20" name="TextBox 19"/>
          <p:cNvSpPr txBox="1"/>
          <p:nvPr/>
        </p:nvSpPr>
        <p:spPr>
          <a:xfrm>
            <a:off x="3090862" y="3058864"/>
            <a:ext cx="260300" cy="231457"/>
          </a:xfrm>
          <a:prstGeom prst="rect">
            <a:avLst/>
          </a:prstGeom>
          <a:noFill/>
        </p:spPr>
        <p:txBody>
          <a:bodyPr wrap="square">
            <a:spAutoFit/>
          </a:bodyPr>
          <a:lstStyle/>
          <a:p>
            <a:pPr algn="l"/>
            <a:r>
              <a:rPr sz="2025" b="0" i="0">
                <a:solidFill>
                  <a:srgbClr val="14281C"/>
                </a:solidFill>
                <a:latin typeface="Rubik"/>
              </a:rPr>
              <a:t>B2B</a:t>
            </a:r>
          </a:p>
        </p:txBody>
      </p:sp>
      <p:sp>
        <p:nvSpPr>
          <p:cNvPr id="21" name="TextBox 20"/>
          <p:cNvSpPr txBox="1"/>
          <p:nvPr/>
        </p:nvSpPr>
        <p:spPr>
          <a:xfrm>
            <a:off x="2776537" y="3596729"/>
            <a:ext cx="1581150" cy="514350"/>
          </a:xfrm>
          <a:prstGeom prst="rect">
            <a:avLst/>
          </a:prstGeom>
          <a:noFill/>
        </p:spPr>
        <p:txBody>
          <a:bodyPr wrap="square">
            <a:spAutoFit/>
          </a:bodyPr>
          <a:lstStyle/>
          <a:p>
            <a:pPr algn="l"/>
            <a:r>
              <a:rPr sz="4500" b="0" i="0">
                <a:solidFill>
                  <a:srgbClr val="8A6A22"/>
                </a:solidFill>
                <a:latin typeface="Cormorant Garamond"/>
              </a:rPr>
              <a:t>Monthly</a:t>
            </a:r>
          </a:p>
        </p:txBody>
      </p:sp>
      <p:sp>
        <p:nvSpPr>
          <p:cNvPr id="22" name="TextBox 21"/>
          <p:cNvSpPr txBox="1"/>
          <p:nvPr/>
        </p:nvSpPr>
        <p:spPr>
          <a:xfrm>
            <a:off x="2776537" y="3934866"/>
            <a:ext cx="1581150" cy="308520"/>
          </a:xfrm>
          <a:prstGeom prst="rect">
            <a:avLst/>
          </a:prstGeom>
          <a:noFill/>
        </p:spPr>
        <p:txBody>
          <a:bodyPr wrap="square">
            <a:spAutoFit/>
          </a:bodyPr>
          <a:lstStyle/>
          <a:p>
            <a:pPr algn="l"/>
            <a:r>
              <a:rPr sz="1800" b="0" i="0">
                <a:solidFill>
                  <a:srgbClr val="46534A"/>
                </a:solidFill>
                <a:latin typeface="Rubik"/>
              </a:rPr>
              <a:t>New active accounts · monthly target</a:t>
            </a:r>
          </a:p>
        </p:txBody>
      </p:sp>
      <p:sp>
        <p:nvSpPr>
          <p:cNvPr id="23" name="TextBox 22"/>
          <p:cNvSpPr txBox="1"/>
          <p:nvPr/>
        </p:nvSpPr>
        <p:spPr>
          <a:xfrm>
            <a:off x="5100637" y="3058864"/>
            <a:ext cx="264169" cy="231457"/>
          </a:xfrm>
          <a:prstGeom prst="rect">
            <a:avLst/>
          </a:prstGeom>
          <a:noFill/>
        </p:spPr>
        <p:txBody>
          <a:bodyPr wrap="square">
            <a:spAutoFit/>
          </a:bodyPr>
          <a:lstStyle/>
          <a:p>
            <a:pPr algn="l"/>
            <a:r>
              <a:rPr sz="2025" b="0" i="0">
                <a:solidFill>
                  <a:srgbClr val="14281C"/>
                </a:solidFill>
                <a:latin typeface="Rubik"/>
              </a:rPr>
              <a:t>AOV</a:t>
            </a:r>
          </a:p>
        </p:txBody>
      </p:sp>
      <p:sp>
        <p:nvSpPr>
          <p:cNvPr id="24" name="TextBox 23"/>
          <p:cNvSpPr txBox="1"/>
          <p:nvPr/>
        </p:nvSpPr>
        <p:spPr>
          <a:xfrm>
            <a:off x="4786312" y="3708127"/>
            <a:ext cx="1581150" cy="617220"/>
          </a:xfrm>
          <a:prstGeom prst="rect">
            <a:avLst/>
          </a:prstGeom>
          <a:noFill/>
        </p:spPr>
        <p:txBody>
          <a:bodyPr wrap="square">
            <a:spAutoFit/>
          </a:bodyPr>
          <a:lstStyle/>
          <a:p>
            <a:pPr algn="l"/>
            <a:r>
              <a:rPr sz="5400" b="0" i="0">
                <a:solidFill>
                  <a:srgbClr val="8A6A22"/>
                </a:solidFill>
                <a:latin typeface="Cormorant Garamond"/>
              </a:rPr>
              <a:t>+15%</a:t>
            </a:r>
          </a:p>
        </p:txBody>
      </p:sp>
      <p:sp>
        <p:nvSpPr>
          <p:cNvPr id="25" name="TextBox 24"/>
          <p:cNvSpPr txBox="1"/>
          <p:nvPr/>
        </p:nvSpPr>
        <p:spPr>
          <a:xfrm>
            <a:off x="4786312" y="4089127"/>
            <a:ext cx="1581150" cy="205740"/>
          </a:xfrm>
          <a:prstGeom prst="rect">
            <a:avLst/>
          </a:prstGeom>
          <a:noFill/>
        </p:spPr>
        <p:txBody>
          <a:bodyPr wrap="square">
            <a:spAutoFit/>
          </a:bodyPr>
          <a:lstStyle/>
          <a:p>
            <a:pPr algn="l"/>
            <a:r>
              <a:rPr sz="1800" b="0" i="0">
                <a:solidFill>
                  <a:srgbClr val="46534A"/>
                </a:solidFill>
                <a:latin typeface="Rubik"/>
              </a:rPr>
              <a:t>Average order value</a:t>
            </a:r>
          </a:p>
        </p:txBody>
      </p:sp>
      <p:sp>
        <p:nvSpPr>
          <p:cNvPr id="26" name="TextBox 25"/>
          <p:cNvSpPr txBox="1"/>
          <p:nvPr/>
        </p:nvSpPr>
        <p:spPr>
          <a:xfrm>
            <a:off x="7110412" y="3058864"/>
            <a:ext cx="432048" cy="231457"/>
          </a:xfrm>
          <a:prstGeom prst="rect">
            <a:avLst/>
          </a:prstGeom>
          <a:noFill/>
        </p:spPr>
        <p:txBody>
          <a:bodyPr wrap="square">
            <a:spAutoFit/>
          </a:bodyPr>
          <a:lstStyle/>
          <a:p>
            <a:pPr algn="l"/>
            <a:r>
              <a:rPr sz="2025" b="0" i="0">
                <a:solidFill>
                  <a:srgbClr val="14281C"/>
                </a:solidFill>
                <a:latin typeface="Rubik"/>
              </a:rPr>
              <a:t>Margin</a:t>
            </a:r>
          </a:p>
        </p:txBody>
      </p:sp>
      <p:sp>
        <p:nvSpPr>
          <p:cNvPr id="27" name="TextBox 26"/>
          <p:cNvSpPr txBox="1"/>
          <p:nvPr/>
        </p:nvSpPr>
        <p:spPr>
          <a:xfrm>
            <a:off x="6796087" y="3831059"/>
            <a:ext cx="1581150" cy="377190"/>
          </a:xfrm>
          <a:prstGeom prst="rect">
            <a:avLst/>
          </a:prstGeom>
          <a:noFill/>
        </p:spPr>
        <p:txBody>
          <a:bodyPr wrap="square">
            <a:spAutoFit/>
          </a:bodyPr>
          <a:lstStyle/>
          <a:p>
            <a:pPr algn="l"/>
            <a:r>
              <a:rPr sz="3300" b="0" i="0">
                <a:solidFill>
                  <a:srgbClr val="8A6A22"/>
                </a:solidFill>
                <a:latin typeface="Cormorant Garamond"/>
              </a:rPr>
              <a:t>Market-specific</a:t>
            </a:r>
          </a:p>
        </p:txBody>
      </p:sp>
      <p:sp>
        <p:nvSpPr>
          <p:cNvPr id="28" name="TextBox 27"/>
          <p:cNvSpPr txBox="1"/>
          <p:nvPr/>
        </p:nvSpPr>
        <p:spPr>
          <a:xfrm>
            <a:off x="6796087" y="4089127"/>
            <a:ext cx="1581150" cy="205740"/>
          </a:xfrm>
          <a:prstGeom prst="rect">
            <a:avLst/>
          </a:prstGeom>
          <a:noFill/>
        </p:spPr>
        <p:txBody>
          <a:bodyPr wrap="square">
            <a:spAutoFit/>
          </a:bodyPr>
          <a:lstStyle/>
          <a:p>
            <a:pPr algn="l"/>
            <a:r>
              <a:rPr sz="1800" b="0" i="0">
                <a:solidFill>
                  <a:srgbClr val="46534A"/>
                </a:solidFill>
                <a:latin typeface="Rubik"/>
              </a:rPr>
              <a:t>Gross margin target</a:t>
            </a:r>
          </a:p>
        </p:txBody>
      </p:sp>
      <p:sp>
        <p:nvSpPr>
          <p:cNvPr id="29" name="TextBox 28"/>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24 / 35</a:t>
            </a:r>
          </a:p>
        </p:txBody>
      </p:sp>
    </p:spTree>
  </p:cSld>
  <p:clrMapOvr>
    <a:masterClrMapping/>
  </p:clrMapOvr>
  <p:transition dur="500" advClick="1">
    <p:fade/>
  </p:transition>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7.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747120" cy="205740"/>
          </a:xfrm>
          <a:prstGeom prst="rect">
            <a:avLst/>
          </a:prstGeom>
          <a:noFill/>
        </p:spPr>
        <p:txBody>
          <a:bodyPr wrap="square">
            <a:spAutoFit/>
          </a:bodyPr>
          <a:lstStyle/>
          <a:p>
            <a:pPr algn="l"/>
            <a:r>
              <a:rPr sz="1800" b="0" i="0" spc="300">
                <a:solidFill>
                  <a:srgbClr val="8A6A22"/>
                </a:solidFill>
                <a:latin typeface="Rubik"/>
              </a:rPr>
              <a:t>MARKETING · 3-3</a:t>
            </a:r>
          </a:p>
        </p:txBody>
      </p:sp>
      <p:sp>
        <p:nvSpPr>
          <p:cNvPr id="4" name="TextBox 3"/>
          <p:cNvSpPr txBox="1"/>
          <p:nvPr/>
        </p:nvSpPr>
        <p:spPr>
          <a:xfrm>
            <a:off x="609600" y="721965"/>
            <a:ext cx="3747120" cy="548640"/>
          </a:xfrm>
          <a:prstGeom prst="rect">
            <a:avLst/>
          </a:prstGeom>
          <a:noFill/>
        </p:spPr>
        <p:txBody>
          <a:bodyPr wrap="square">
            <a:spAutoFit/>
          </a:bodyPr>
          <a:lstStyle/>
          <a:p>
            <a:pPr algn="l"/>
            <a:r>
              <a:rPr sz="4800" b="0" i="0">
                <a:solidFill>
                  <a:srgbClr val="14281C"/>
                </a:solidFill>
                <a:latin typeface="Cormorant Garamond"/>
              </a:rPr>
              <a:t>Global–Local Operating Model</a:t>
            </a:r>
          </a:p>
        </p:txBody>
      </p:sp>
      <p:sp>
        <p:nvSpPr>
          <p:cNvPr id="5" name="TextBox 4"/>
          <p:cNvSpPr txBox="1"/>
          <p:nvPr/>
        </p:nvSpPr>
        <p:spPr>
          <a:xfrm>
            <a:off x="1238250" y="1400100"/>
            <a:ext cx="2833687" cy="214312"/>
          </a:xfrm>
          <a:prstGeom prst="rect">
            <a:avLst/>
          </a:prstGeom>
          <a:noFill/>
        </p:spPr>
        <p:txBody>
          <a:bodyPr wrap="square">
            <a:spAutoFit/>
          </a:bodyPr>
          <a:lstStyle/>
          <a:p>
            <a:pPr algn="l"/>
            <a:r>
              <a:rPr sz="1875" b="0" i="0" spc="150">
                <a:solidFill>
                  <a:srgbClr val="D9B45A"/>
                </a:solidFill>
                <a:latin typeface="Rubik"/>
              </a:rPr>
              <a:t>GLOBAL BRAND HUB — SNPT / SARAYA</a:t>
            </a:r>
          </a:p>
        </p:txBody>
      </p:sp>
      <p:sp>
        <p:nvSpPr>
          <p:cNvPr id="6" name="TextBox 5"/>
          <p:cNvSpPr txBox="1"/>
          <p:nvPr/>
        </p:nvSpPr>
        <p:spPr>
          <a:xfrm>
            <a:off x="1238250" y="1552500"/>
            <a:ext cx="2833687" cy="360045"/>
          </a:xfrm>
          <a:prstGeom prst="rect">
            <a:avLst/>
          </a:prstGeom>
          <a:noFill/>
        </p:spPr>
        <p:txBody>
          <a:bodyPr wrap="square">
            <a:spAutoFit/>
          </a:bodyPr>
          <a:lstStyle/>
          <a:p>
            <a:pPr algn="l"/>
            <a:r>
              <a:rPr sz="3150" b="0" i="1">
                <a:solidFill>
                  <a:srgbClr val="F7F4EC"/>
                </a:solidFill>
                <a:latin typeface="Cormorant Garamond"/>
              </a:rPr>
              <a:t>Own the brand platform</a:t>
            </a:r>
          </a:p>
        </p:txBody>
      </p:sp>
      <p:sp>
        <p:nvSpPr>
          <p:cNvPr id="7" name="TextBox 6"/>
          <p:cNvSpPr txBox="1"/>
          <p:nvPr/>
        </p:nvSpPr>
        <p:spPr>
          <a:xfrm>
            <a:off x="1002506" y="1889670"/>
            <a:ext cx="3069431" cy="257175"/>
          </a:xfrm>
          <a:prstGeom prst="rect">
            <a:avLst/>
          </a:prstGeom>
          <a:noFill/>
        </p:spPr>
        <p:txBody>
          <a:bodyPr wrap="square">
            <a:spAutoFit/>
          </a:bodyPr>
          <a:lstStyle/>
          <a:p>
            <a:pPr algn="l"/>
            <a:r>
              <a:rPr sz="2250" b="0" i="0">
                <a:solidFill>
                  <a:srgbClr val="E4EBE1"/>
                </a:solidFill>
                <a:latin typeface="Rubik"/>
              </a:rPr>
              <a:t>Positioning &amp; visual identity</a:t>
            </a:r>
          </a:p>
        </p:txBody>
      </p:sp>
      <p:sp>
        <p:nvSpPr>
          <p:cNvPr id="8" name="TextBox 7"/>
          <p:cNvSpPr txBox="1"/>
          <p:nvPr/>
        </p:nvSpPr>
        <p:spPr>
          <a:xfrm>
            <a:off x="1002506" y="2139701"/>
            <a:ext cx="3069431" cy="257175"/>
          </a:xfrm>
          <a:prstGeom prst="rect">
            <a:avLst/>
          </a:prstGeom>
          <a:noFill/>
        </p:spPr>
        <p:txBody>
          <a:bodyPr wrap="square">
            <a:spAutoFit/>
          </a:bodyPr>
          <a:lstStyle/>
          <a:p>
            <a:pPr algn="l"/>
            <a:r>
              <a:rPr sz="2250" b="0" i="0">
                <a:solidFill>
                  <a:srgbClr val="E4EBE1"/>
                </a:solidFill>
                <a:latin typeface="Rubik"/>
              </a:rPr>
              <a:t>Master content / photo / video bank</a:t>
            </a:r>
          </a:p>
        </p:txBody>
      </p:sp>
      <p:sp>
        <p:nvSpPr>
          <p:cNvPr id="9" name="TextBox 8"/>
          <p:cNvSpPr txBox="1"/>
          <p:nvPr/>
        </p:nvSpPr>
        <p:spPr>
          <a:xfrm>
            <a:off x="1002506" y="2389733"/>
            <a:ext cx="3069431" cy="257175"/>
          </a:xfrm>
          <a:prstGeom prst="rect">
            <a:avLst/>
          </a:prstGeom>
          <a:noFill/>
        </p:spPr>
        <p:txBody>
          <a:bodyPr wrap="square">
            <a:spAutoFit/>
          </a:bodyPr>
          <a:lstStyle/>
          <a:p>
            <a:pPr algn="l"/>
            <a:r>
              <a:rPr sz="2250" b="0" i="0">
                <a:solidFill>
                  <a:srgbClr val="E4EBE1"/>
                </a:solidFill>
                <a:latin typeface="Rubik"/>
              </a:rPr>
              <a:t>Product architecture</a:t>
            </a:r>
          </a:p>
        </p:txBody>
      </p:sp>
      <p:sp>
        <p:nvSpPr>
          <p:cNvPr id="10" name="TextBox 9"/>
          <p:cNvSpPr txBox="1"/>
          <p:nvPr/>
        </p:nvSpPr>
        <p:spPr>
          <a:xfrm>
            <a:off x="1002506" y="2639764"/>
            <a:ext cx="3069431" cy="257175"/>
          </a:xfrm>
          <a:prstGeom prst="rect">
            <a:avLst/>
          </a:prstGeom>
          <a:noFill/>
        </p:spPr>
        <p:txBody>
          <a:bodyPr wrap="square">
            <a:spAutoFit/>
          </a:bodyPr>
          <a:lstStyle/>
          <a:p>
            <a:pPr algn="l"/>
            <a:r>
              <a:rPr sz="2250" b="0" i="0">
                <a:solidFill>
                  <a:srgbClr val="E4EBE1"/>
                </a:solidFill>
                <a:latin typeface="Rubik"/>
              </a:rPr>
              <a:t>Packaging principles</a:t>
            </a:r>
          </a:p>
        </p:txBody>
      </p:sp>
      <p:sp>
        <p:nvSpPr>
          <p:cNvPr id="11" name="TextBox 10"/>
          <p:cNvSpPr txBox="1"/>
          <p:nvPr/>
        </p:nvSpPr>
        <p:spPr>
          <a:xfrm>
            <a:off x="1002506" y="2889795"/>
            <a:ext cx="3069431" cy="257175"/>
          </a:xfrm>
          <a:prstGeom prst="rect">
            <a:avLst/>
          </a:prstGeom>
          <a:noFill/>
        </p:spPr>
        <p:txBody>
          <a:bodyPr wrap="square">
            <a:spAutoFit/>
          </a:bodyPr>
          <a:lstStyle/>
          <a:p>
            <a:pPr algn="l"/>
            <a:r>
              <a:rPr sz="2250" b="0" i="0">
                <a:solidFill>
                  <a:srgbClr val="E4EBE1"/>
                </a:solidFill>
                <a:latin typeface="Rubik"/>
              </a:rPr>
              <a:t>Global digital assets</a:t>
            </a:r>
          </a:p>
        </p:txBody>
      </p:sp>
      <p:sp>
        <p:nvSpPr>
          <p:cNvPr id="12" name="TextBox 11"/>
          <p:cNvSpPr txBox="1"/>
          <p:nvPr/>
        </p:nvSpPr>
        <p:spPr>
          <a:xfrm>
            <a:off x="1002506" y="3139826"/>
            <a:ext cx="3069431" cy="257175"/>
          </a:xfrm>
          <a:prstGeom prst="rect">
            <a:avLst/>
          </a:prstGeom>
          <a:noFill/>
        </p:spPr>
        <p:txBody>
          <a:bodyPr wrap="square">
            <a:spAutoFit/>
          </a:bodyPr>
          <a:lstStyle/>
          <a:p>
            <a:pPr algn="l"/>
            <a:r>
              <a:rPr sz="2250" b="0" i="0">
                <a:solidFill>
                  <a:srgbClr val="E4EBE1"/>
                </a:solidFill>
                <a:latin typeface="Rubik"/>
              </a:rPr>
              <a:t>KPI definitions</a:t>
            </a:r>
          </a:p>
        </p:txBody>
      </p:sp>
      <p:sp>
        <p:nvSpPr>
          <p:cNvPr id="13" name="TextBox 12"/>
          <p:cNvSpPr txBox="1"/>
          <p:nvPr/>
        </p:nvSpPr>
        <p:spPr>
          <a:xfrm>
            <a:off x="1002506" y="3389858"/>
            <a:ext cx="3069431" cy="257175"/>
          </a:xfrm>
          <a:prstGeom prst="rect">
            <a:avLst/>
          </a:prstGeom>
          <a:noFill/>
        </p:spPr>
        <p:txBody>
          <a:bodyPr wrap="square">
            <a:spAutoFit/>
          </a:bodyPr>
          <a:lstStyle/>
          <a:p>
            <a:pPr algn="l"/>
            <a:r>
              <a:rPr sz="2250" b="0" i="0">
                <a:solidFill>
                  <a:srgbClr val="E4EBE1"/>
                </a:solidFill>
                <a:latin typeface="Rubik"/>
              </a:rPr>
              <a:t>Brand guidelines</a:t>
            </a:r>
          </a:p>
        </p:txBody>
      </p:sp>
      <p:sp>
        <p:nvSpPr>
          <p:cNvPr id="14" name="TextBox 13"/>
          <p:cNvSpPr txBox="1"/>
          <p:nvPr/>
        </p:nvSpPr>
        <p:spPr>
          <a:xfrm>
            <a:off x="5467350" y="1404863"/>
            <a:ext cx="2833687" cy="222885"/>
          </a:xfrm>
          <a:prstGeom prst="rect">
            <a:avLst/>
          </a:prstGeom>
          <a:noFill/>
        </p:spPr>
        <p:txBody>
          <a:bodyPr wrap="square">
            <a:spAutoFit/>
          </a:bodyPr>
          <a:lstStyle/>
          <a:p>
            <a:pPr algn="l"/>
            <a:r>
              <a:rPr sz="1950" b="0" i="0" spc="150">
                <a:solidFill>
                  <a:srgbClr val="14281C"/>
                </a:solidFill>
                <a:latin typeface="Rubik"/>
              </a:rPr>
              <a:t>LOCAL MARKET TEAMS / PARTNERS</a:t>
            </a:r>
          </a:p>
        </p:txBody>
      </p:sp>
      <p:sp>
        <p:nvSpPr>
          <p:cNvPr id="15" name="TextBox 14"/>
          <p:cNvSpPr txBox="1"/>
          <p:nvPr/>
        </p:nvSpPr>
        <p:spPr>
          <a:xfrm>
            <a:off x="5467350" y="1562918"/>
            <a:ext cx="2833687" cy="360045"/>
          </a:xfrm>
          <a:prstGeom prst="rect">
            <a:avLst/>
          </a:prstGeom>
          <a:noFill/>
        </p:spPr>
        <p:txBody>
          <a:bodyPr wrap="square">
            <a:spAutoFit/>
          </a:bodyPr>
          <a:lstStyle/>
          <a:p>
            <a:pPr algn="l"/>
            <a:r>
              <a:rPr sz="3150" b="0" i="1">
                <a:solidFill>
                  <a:srgbClr val="8A6A22"/>
                </a:solidFill>
                <a:latin typeface="Cormorant Garamond"/>
              </a:rPr>
              <a:t>Adapt and execute</a:t>
            </a:r>
          </a:p>
        </p:txBody>
      </p:sp>
      <p:sp>
        <p:nvSpPr>
          <p:cNvPr id="16" name="TextBox 15"/>
          <p:cNvSpPr txBox="1"/>
          <p:nvPr/>
        </p:nvSpPr>
        <p:spPr>
          <a:xfrm>
            <a:off x="5231606" y="1900088"/>
            <a:ext cx="3069431" cy="257175"/>
          </a:xfrm>
          <a:prstGeom prst="rect">
            <a:avLst/>
          </a:prstGeom>
          <a:noFill/>
        </p:spPr>
        <p:txBody>
          <a:bodyPr wrap="square">
            <a:spAutoFit/>
          </a:bodyPr>
          <a:lstStyle/>
          <a:p>
            <a:pPr algn="l"/>
            <a:r>
              <a:rPr sz="2250" b="0" i="0">
                <a:solidFill>
                  <a:srgbClr val="46534A"/>
                </a:solidFill>
                <a:latin typeface="Rubik"/>
              </a:rPr>
              <a:t>Language / cultural adaptation</a:t>
            </a:r>
          </a:p>
        </p:txBody>
      </p:sp>
      <p:sp>
        <p:nvSpPr>
          <p:cNvPr id="17" name="TextBox 16"/>
          <p:cNvSpPr txBox="1"/>
          <p:nvPr/>
        </p:nvSpPr>
        <p:spPr>
          <a:xfrm>
            <a:off x="5231606" y="2150119"/>
            <a:ext cx="3069431" cy="257175"/>
          </a:xfrm>
          <a:prstGeom prst="rect">
            <a:avLst/>
          </a:prstGeom>
          <a:noFill/>
        </p:spPr>
        <p:txBody>
          <a:bodyPr wrap="square">
            <a:spAutoFit/>
          </a:bodyPr>
          <a:lstStyle/>
          <a:p>
            <a:pPr algn="l"/>
            <a:r>
              <a:rPr sz="2250" b="0" i="0">
                <a:solidFill>
                  <a:srgbClr val="46534A"/>
                </a:solidFill>
                <a:latin typeface="Rubik"/>
              </a:rPr>
              <a:t>Local chef / influencer selection</a:t>
            </a:r>
          </a:p>
        </p:txBody>
      </p:sp>
      <p:sp>
        <p:nvSpPr>
          <p:cNvPr id="18" name="TextBox 17"/>
          <p:cNvSpPr txBox="1"/>
          <p:nvPr/>
        </p:nvSpPr>
        <p:spPr>
          <a:xfrm>
            <a:off x="5231606" y="2400151"/>
            <a:ext cx="3069431" cy="257175"/>
          </a:xfrm>
          <a:prstGeom prst="rect">
            <a:avLst/>
          </a:prstGeom>
          <a:noFill/>
        </p:spPr>
        <p:txBody>
          <a:bodyPr wrap="square">
            <a:spAutoFit/>
          </a:bodyPr>
          <a:lstStyle/>
          <a:p>
            <a:pPr algn="l"/>
            <a:r>
              <a:rPr sz="2250" b="0" i="0">
                <a:solidFill>
                  <a:srgbClr val="46534A"/>
                </a:solidFill>
                <a:latin typeface="Rubik"/>
              </a:rPr>
              <a:t>Distributor management</a:t>
            </a:r>
          </a:p>
        </p:txBody>
      </p:sp>
      <p:sp>
        <p:nvSpPr>
          <p:cNvPr id="19" name="TextBox 18"/>
          <p:cNvSpPr txBox="1"/>
          <p:nvPr/>
        </p:nvSpPr>
        <p:spPr>
          <a:xfrm>
            <a:off x="5231606" y="2650182"/>
            <a:ext cx="3069431" cy="257175"/>
          </a:xfrm>
          <a:prstGeom prst="rect">
            <a:avLst/>
          </a:prstGeom>
          <a:noFill/>
        </p:spPr>
        <p:txBody>
          <a:bodyPr wrap="square">
            <a:spAutoFit/>
          </a:bodyPr>
          <a:lstStyle/>
          <a:p>
            <a:pPr algn="l"/>
            <a:r>
              <a:rPr sz="2250" b="0" i="0">
                <a:solidFill>
                  <a:srgbClr val="46534A"/>
                </a:solidFill>
                <a:latin typeface="Rubik"/>
              </a:rPr>
              <a:t>Retail activation</a:t>
            </a:r>
          </a:p>
        </p:txBody>
      </p:sp>
      <p:sp>
        <p:nvSpPr>
          <p:cNvPr id="20" name="TextBox 19"/>
          <p:cNvSpPr txBox="1"/>
          <p:nvPr/>
        </p:nvSpPr>
        <p:spPr>
          <a:xfrm>
            <a:off x="5231606" y="2900213"/>
            <a:ext cx="3069431" cy="257175"/>
          </a:xfrm>
          <a:prstGeom prst="rect">
            <a:avLst/>
          </a:prstGeom>
          <a:noFill/>
        </p:spPr>
        <p:txBody>
          <a:bodyPr wrap="square">
            <a:spAutoFit/>
          </a:bodyPr>
          <a:lstStyle/>
          <a:p>
            <a:pPr algn="l"/>
            <a:r>
              <a:rPr sz="2250" b="0" i="0">
                <a:solidFill>
                  <a:srgbClr val="46534A"/>
                </a:solidFill>
                <a:latin typeface="Rubik"/>
              </a:rPr>
              <a:t>Local pricing / promotion</a:t>
            </a:r>
          </a:p>
        </p:txBody>
      </p:sp>
      <p:sp>
        <p:nvSpPr>
          <p:cNvPr id="21" name="TextBox 20"/>
          <p:cNvSpPr txBox="1"/>
          <p:nvPr/>
        </p:nvSpPr>
        <p:spPr>
          <a:xfrm>
            <a:off x="5231606" y="3150244"/>
            <a:ext cx="3069431" cy="257175"/>
          </a:xfrm>
          <a:prstGeom prst="rect">
            <a:avLst/>
          </a:prstGeom>
          <a:noFill/>
        </p:spPr>
        <p:txBody>
          <a:bodyPr wrap="square">
            <a:spAutoFit/>
          </a:bodyPr>
          <a:lstStyle/>
          <a:p>
            <a:pPr algn="l"/>
            <a:r>
              <a:rPr sz="2250" b="0" i="0">
                <a:solidFill>
                  <a:srgbClr val="46534A"/>
                </a:solidFill>
                <a:latin typeface="Rubik"/>
              </a:rPr>
              <a:t>Regulatory requirements</a:t>
            </a:r>
          </a:p>
        </p:txBody>
      </p:sp>
      <p:sp>
        <p:nvSpPr>
          <p:cNvPr id="22" name="TextBox 21"/>
          <p:cNvSpPr txBox="1"/>
          <p:nvPr/>
        </p:nvSpPr>
        <p:spPr>
          <a:xfrm>
            <a:off x="5231606" y="3400276"/>
            <a:ext cx="3069431" cy="257175"/>
          </a:xfrm>
          <a:prstGeom prst="rect">
            <a:avLst/>
          </a:prstGeom>
          <a:noFill/>
        </p:spPr>
        <p:txBody>
          <a:bodyPr wrap="square">
            <a:spAutoFit/>
          </a:bodyPr>
          <a:lstStyle/>
          <a:p>
            <a:pPr algn="l"/>
            <a:r>
              <a:rPr sz="2250" b="0" i="0">
                <a:solidFill>
                  <a:srgbClr val="46534A"/>
                </a:solidFill>
                <a:latin typeface="Rubik"/>
              </a:rPr>
              <a:t>Monthly performance reporting</a:t>
            </a:r>
          </a:p>
        </p:txBody>
      </p:sp>
      <p:sp>
        <p:nvSpPr>
          <p:cNvPr id="23" name="TextBox 22"/>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25 / 35</a:t>
            </a:r>
          </a:p>
        </p:txBody>
      </p:sp>
    </p:spTree>
  </p:cSld>
  <p:clrMapOvr>
    <a:masterClrMapping/>
  </p:clrMapOvr>
  <p:transition dur="500" advClick="1">
    <p:fade/>
  </p:transition>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8.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160165" cy="205740"/>
          </a:xfrm>
          <a:prstGeom prst="rect">
            <a:avLst/>
          </a:prstGeom>
          <a:noFill/>
        </p:spPr>
        <p:txBody>
          <a:bodyPr wrap="square">
            <a:spAutoFit/>
          </a:bodyPr>
          <a:lstStyle/>
          <a:p>
            <a:pPr algn="l"/>
            <a:r>
              <a:rPr sz="1800" b="0" i="0" spc="300">
                <a:solidFill>
                  <a:srgbClr val="8A6A22"/>
                </a:solidFill>
                <a:latin typeface="Rubik"/>
              </a:rPr>
              <a:t>MARKETING · 3-4</a:t>
            </a:r>
          </a:p>
        </p:txBody>
      </p:sp>
      <p:sp>
        <p:nvSpPr>
          <p:cNvPr id="4" name="TextBox 3"/>
          <p:cNvSpPr txBox="1"/>
          <p:nvPr/>
        </p:nvSpPr>
        <p:spPr>
          <a:xfrm>
            <a:off x="609600" y="721965"/>
            <a:ext cx="2160165" cy="548640"/>
          </a:xfrm>
          <a:prstGeom prst="rect">
            <a:avLst/>
          </a:prstGeom>
          <a:noFill/>
        </p:spPr>
        <p:txBody>
          <a:bodyPr wrap="square">
            <a:spAutoFit/>
          </a:bodyPr>
          <a:lstStyle/>
          <a:p>
            <a:pPr algn="l"/>
            <a:r>
              <a:rPr sz="4800" b="0" i="0">
                <a:solidFill>
                  <a:srgbClr val="14281C"/>
                </a:solidFill>
                <a:latin typeface="Cormorant Garamond"/>
              </a:rPr>
              <a:t>Marketing Budget</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€150k (≈ 506 K-TND), separate from the P&amp;L · ≈ 6.5% of 2027 target sales · 2 tranches of €75k</a:t>
            </a:r>
          </a:p>
        </p:txBody>
      </p:sp>
      <p:sp>
        <p:nvSpPr>
          <p:cNvPr id="6" name="TextBox 5"/>
          <p:cNvSpPr txBox="1"/>
          <p:nvPr/>
        </p:nvSpPr>
        <p:spPr>
          <a:xfrm>
            <a:off x="1423987" y="2473523"/>
            <a:ext cx="952500" cy="617220"/>
          </a:xfrm>
          <a:prstGeom prst="rect">
            <a:avLst/>
          </a:prstGeom>
          <a:noFill/>
        </p:spPr>
        <p:txBody>
          <a:bodyPr wrap="square">
            <a:spAutoFit/>
          </a:bodyPr>
          <a:lstStyle/>
          <a:p>
            <a:pPr algn="ctr"/>
            <a:r>
              <a:rPr sz="5400" b="0" i="0">
                <a:solidFill>
                  <a:srgbClr val="14281C"/>
                </a:solidFill>
                <a:latin typeface="Cormorant Garamond"/>
              </a:rPr>
              <a:t>€150k</a:t>
            </a:r>
          </a:p>
        </p:txBody>
      </p:sp>
      <p:sp>
        <p:nvSpPr>
          <p:cNvPr id="7" name="TextBox 6"/>
          <p:cNvSpPr txBox="1"/>
          <p:nvPr/>
        </p:nvSpPr>
        <p:spPr>
          <a:xfrm>
            <a:off x="1423987" y="2864048"/>
            <a:ext cx="952500" cy="205740"/>
          </a:xfrm>
          <a:prstGeom prst="rect">
            <a:avLst/>
          </a:prstGeom>
          <a:noFill/>
        </p:spPr>
        <p:txBody>
          <a:bodyPr wrap="square">
            <a:spAutoFit/>
          </a:bodyPr>
          <a:lstStyle/>
          <a:p>
            <a:pPr algn="ctr"/>
            <a:r>
              <a:rPr sz="1800" b="0" i="0" spc="225">
                <a:solidFill>
                  <a:srgbClr val="8A6A22"/>
                </a:solidFill>
                <a:latin typeface="Rubik"/>
              </a:rPr>
              <a:t>YEAR 1</a:t>
            </a:r>
          </a:p>
        </p:txBody>
      </p:sp>
      <p:sp>
        <p:nvSpPr>
          <p:cNvPr id="8" name="TextBox 7"/>
          <p:cNvSpPr txBox="1"/>
          <p:nvPr/>
        </p:nvSpPr>
        <p:spPr>
          <a:xfrm>
            <a:off x="3657600" y="1510828"/>
            <a:ext cx="3899668" cy="222885"/>
          </a:xfrm>
          <a:prstGeom prst="rect">
            <a:avLst/>
          </a:prstGeom>
          <a:noFill/>
        </p:spPr>
        <p:txBody>
          <a:bodyPr wrap="square">
            <a:spAutoFit/>
          </a:bodyPr>
          <a:lstStyle/>
          <a:p>
            <a:pPr algn="l"/>
            <a:r>
              <a:rPr sz="1950" b="0" i="0">
                <a:solidFill>
                  <a:srgbClr val="14281C"/>
                </a:solidFill>
                <a:latin typeface="Rubik"/>
              </a:rPr>
              <a:t>Sampling / Chefs / HORECA</a:t>
            </a:r>
          </a:p>
        </p:txBody>
      </p:sp>
      <p:sp>
        <p:nvSpPr>
          <p:cNvPr id="9" name="TextBox 8"/>
          <p:cNvSpPr txBox="1"/>
          <p:nvPr/>
        </p:nvSpPr>
        <p:spPr>
          <a:xfrm>
            <a:off x="3657600" y="1684139"/>
            <a:ext cx="3899668" cy="205740"/>
          </a:xfrm>
          <a:prstGeom prst="rect">
            <a:avLst/>
          </a:prstGeom>
          <a:noFill/>
        </p:spPr>
        <p:txBody>
          <a:bodyPr wrap="square">
            <a:spAutoFit/>
          </a:bodyPr>
          <a:lstStyle/>
          <a:p>
            <a:pPr algn="l"/>
            <a:r>
              <a:rPr sz="1800" b="0" i="0">
                <a:solidFill>
                  <a:srgbClr val="5E6B62"/>
                </a:solidFill>
                <a:latin typeface="Rubik"/>
              </a:rPr>
              <a:t>Samples, tastings, chef kits</a:t>
            </a:r>
          </a:p>
        </p:txBody>
      </p:sp>
      <p:sp>
        <p:nvSpPr>
          <p:cNvPr id="10" name="TextBox 9"/>
          <p:cNvSpPr txBox="1"/>
          <p:nvPr/>
        </p:nvSpPr>
        <p:spPr>
          <a:xfrm>
            <a:off x="7652518" y="1544091"/>
            <a:ext cx="358006" cy="342900"/>
          </a:xfrm>
          <a:prstGeom prst="rect">
            <a:avLst/>
          </a:prstGeom>
          <a:noFill/>
        </p:spPr>
        <p:txBody>
          <a:bodyPr wrap="square">
            <a:spAutoFit/>
          </a:bodyPr>
          <a:lstStyle/>
          <a:p>
            <a:pPr algn="l"/>
            <a:r>
              <a:rPr sz="3000" b="0" i="0">
                <a:solidFill>
                  <a:srgbClr val="8A6A22"/>
                </a:solidFill>
                <a:latin typeface="Cormorant Garamond"/>
              </a:rPr>
              <a:t>€35k</a:t>
            </a:r>
          </a:p>
        </p:txBody>
      </p:sp>
      <p:sp>
        <p:nvSpPr>
          <p:cNvPr id="11" name="TextBox 10"/>
          <p:cNvSpPr txBox="1"/>
          <p:nvPr/>
        </p:nvSpPr>
        <p:spPr>
          <a:xfrm>
            <a:off x="8105775" y="1590823"/>
            <a:ext cx="428625" cy="222885"/>
          </a:xfrm>
          <a:prstGeom prst="rect">
            <a:avLst/>
          </a:prstGeom>
          <a:noFill/>
        </p:spPr>
        <p:txBody>
          <a:bodyPr wrap="square">
            <a:spAutoFit/>
          </a:bodyPr>
          <a:lstStyle/>
          <a:p>
            <a:pPr algn="r"/>
            <a:r>
              <a:rPr sz="1950" b="0" i="0">
                <a:solidFill>
                  <a:srgbClr val="1F2B23"/>
                </a:solidFill>
                <a:latin typeface="Rubik"/>
              </a:rPr>
              <a:t>23%</a:t>
            </a:r>
          </a:p>
        </p:txBody>
      </p:sp>
      <p:sp>
        <p:nvSpPr>
          <p:cNvPr id="12" name="TextBox 11"/>
          <p:cNvSpPr txBox="1"/>
          <p:nvPr/>
        </p:nvSpPr>
        <p:spPr>
          <a:xfrm>
            <a:off x="3657600" y="1925091"/>
            <a:ext cx="3886720" cy="222885"/>
          </a:xfrm>
          <a:prstGeom prst="rect">
            <a:avLst/>
          </a:prstGeom>
          <a:noFill/>
        </p:spPr>
        <p:txBody>
          <a:bodyPr wrap="square">
            <a:spAutoFit/>
          </a:bodyPr>
          <a:lstStyle/>
          <a:p>
            <a:pPr algn="l"/>
            <a:r>
              <a:rPr sz="1950" b="0" i="0">
                <a:solidFill>
                  <a:srgbClr val="14281C"/>
                </a:solidFill>
                <a:latin typeface="Rubik"/>
              </a:rPr>
              <a:t>Content &amp; Sales Tools</a:t>
            </a:r>
          </a:p>
        </p:txBody>
      </p:sp>
      <p:sp>
        <p:nvSpPr>
          <p:cNvPr id="13" name="TextBox 12"/>
          <p:cNvSpPr txBox="1"/>
          <p:nvPr/>
        </p:nvSpPr>
        <p:spPr>
          <a:xfrm>
            <a:off x="3657600" y="2098402"/>
            <a:ext cx="3886720" cy="205740"/>
          </a:xfrm>
          <a:prstGeom prst="rect">
            <a:avLst/>
          </a:prstGeom>
          <a:noFill/>
        </p:spPr>
        <p:txBody>
          <a:bodyPr wrap="square">
            <a:spAutoFit/>
          </a:bodyPr>
          <a:lstStyle/>
          <a:p>
            <a:pPr algn="l"/>
            <a:r>
              <a:rPr sz="1800" b="0" i="0">
                <a:solidFill>
                  <a:srgbClr val="5E6B62"/>
                </a:solidFill>
                <a:latin typeface="Rubik"/>
              </a:rPr>
              <a:t>Harvest shoot, HD photos, EN / FR / JP sales kit</a:t>
            </a:r>
          </a:p>
        </p:txBody>
      </p:sp>
      <p:sp>
        <p:nvSpPr>
          <p:cNvPr id="14" name="TextBox 13"/>
          <p:cNvSpPr txBox="1"/>
          <p:nvPr/>
        </p:nvSpPr>
        <p:spPr>
          <a:xfrm>
            <a:off x="7639570" y="1958354"/>
            <a:ext cx="370954" cy="342900"/>
          </a:xfrm>
          <a:prstGeom prst="rect">
            <a:avLst/>
          </a:prstGeom>
          <a:noFill/>
        </p:spPr>
        <p:txBody>
          <a:bodyPr wrap="square">
            <a:spAutoFit/>
          </a:bodyPr>
          <a:lstStyle/>
          <a:p>
            <a:pPr algn="l"/>
            <a:r>
              <a:rPr sz="3000" b="0" i="0">
                <a:solidFill>
                  <a:srgbClr val="8A6A22"/>
                </a:solidFill>
                <a:latin typeface="Cormorant Garamond"/>
              </a:rPr>
              <a:t>€30k</a:t>
            </a:r>
          </a:p>
        </p:txBody>
      </p:sp>
      <p:sp>
        <p:nvSpPr>
          <p:cNvPr id="15" name="TextBox 14"/>
          <p:cNvSpPr txBox="1"/>
          <p:nvPr/>
        </p:nvSpPr>
        <p:spPr>
          <a:xfrm>
            <a:off x="8105775" y="2005086"/>
            <a:ext cx="428625" cy="222885"/>
          </a:xfrm>
          <a:prstGeom prst="rect">
            <a:avLst/>
          </a:prstGeom>
          <a:noFill/>
        </p:spPr>
        <p:txBody>
          <a:bodyPr wrap="square">
            <a:spAutoFit/>
          </a:bodyPr>
          <a:lstStyle/>
          <a:p>
            <a:pPr algn="r"/>
            <a:r>
              <a:rPr sz="1950" b="0" i="0">
                <a:solidFill>
                  <a:srgbClr val="1F2B23"/>
                </a:solidFill>
                <a:latin typeface="Rubik"/>
              </a:rPr>
              <a:t>20%</a:t>
            </a:r>
          </a:p>
        </p:txBody>
      </p:sp>
      <p:sp>
        <p:nvSpPr>
          <p:cNvPr id="16" name="TextBox 15"/>
          <p:cNvSpPr txBox="1"/>
          <p:nvPr/>
        </p:nvSpPr>
        <p:spPr>
          <a:xfrm>
            <a:off x="3657600" y="2339354"/>
            <a:ext cx="3897808" cy="222885"/>
          </a:xfrm>
          <a:prstGeom prst="rect">
            <a:avLst/>
          </a:prstGeom>
          <a:noFill/>
        </p:spPr>
        <p:txBody>
          <a:bodyPr wrap="square">
            <a:spAutoFit/>
          </a:bodyPr>
          <a:lstStyle/>
          <a:p>
            <a:pPr algn="l"/>
            <a:r>
              <a:rPr sz="1950" b="0" i="0">
                <a:solidFill>
                  <a:srgbClr val="14281C"/>
                </a:solidFill>
                <a:latin typeface="Rubik"/>
              </a:rPr>
              <a:t>Trade Shows</a:t>
            </a:r>
          </a:p>
        </p:txBody>
      </p:sp>
      <p:sp>
        <p:nvSpPr>
          <p:cNvPr id="17" name="TextBox 16"/>
          <p:cNvSpPr txBox="1"/>
          <p:nvPr/>
        </p:nvSpPr>
        <p:spPr>
          <a:xfrm>
            <a:off x="3657600" y="2512665"/>
            <a:ext cx="3897808" cy="205740"/>
          </a:xfrm>
          <a:prstGeom prst="rect">
            <a:avLst/>
          </a:prstGeom>
          <a:noFill/>
        </p:spPr>
        <p:txBody>
          <a:bodyPr wrap="square">
            <a:spAutoFit/>
          </a:bodyPr>
          <a:lstStyle/>
          <a:p>
            <a:pPr algn="l"/>
            <a:r>
              <a:rPr sz="1800" b="0" i="0">
                <a:solidFill>
                  <a:srgbClr val="5E6B62"/>
                </a:solidFill>
                <a:latin typeface="Rubik"/>
              </a:rPr>
              <a:t>1 fair in Japan + 1 fair in Europe</a:t>
            </a:r>
          </a:p>
        </p:txBody>
      </p:sp>
      <p:sp>
        <p:nvSpPr>
          <p:cNvPr id="18" name="TextBox 17"/>
          <p:cNvSpPr txBox="1"/>
          <p:nvPr/>
        </p:nvSpPr>
        <p:spPr>
          <a:xfrm>
            <a:off x="7650658" y="2372617"/>
            <a:ext cx="359866" cy="342900"/>
          </a:xfrm>
          <a:prstGeom prst="rect">
            <a:avLst/>
          </a:prstGeom>
          <a:noFill/>
        </p:spPr>
        <p:txBody>
          <a:bodyPr wrap="square">
            <a:spAutoFit/>
          </a:bodyPr>
          <a:lstStyle/>
          <a:p>
            <a:pPr algn="l"/>
            <a:r>
              <a:rPr sz="3000" b="0" i="0">
                <a:solidFill>
                  <a:srgbClr val="8A6A22"/>
                </a:solidFill>
                <a:latin typeface="Cormorant Garamond"/>
              </a:rPr>
              <a:t>€25k</a:t>
            </a:r>
          </a:p>
        </p:txBody>
      </p:sp>
      <p:sp>
        <p:nvSpPr>
          <p:cNvPr id="19" name="TextBox 18"/>
          <p:cNvSpPr txBox="1"/>
          <p:nvPr/>
        </p:nvSpPr>
        <p:spPr>
          <a:xfrm>
            <a:off x="8105775" y="2419350"/>
            <a:ext cx="428625" cy="222885"/>
          </a:xfrm>
          <a:prstGeom prst="rect">
            <a:avLst/>
          </a:prstGeom>
          <a:noFill/>
        </p:spPr>
        <p:txBody>
          <a:bodyPr wrap="square">
            <a:spAutoFit/>
          </a:bodyPr>
          <a:lstStyle/>
          <a:p>
            <a:pPr algn="r"/>
            <a:r>
              <a:rPr sz="1950" b="0" i="0">
                <a:solidFill>
                  <a:srgbClr val="1F2B23"/>
                </a:solidFill>
                <a:latin typeface="Rubik"/>
              </a:rPr>
              <a:t>17%</a:t>
            </a:r>
          </a:p>
        </p:txBody>
      </p:sp>
      <p:sp>
        <p:nvSpPr>
          <p:cNvPr id="20" name="TextBox 19"/>
          <p:cNvSpPr txBox="1"/>
          <p:nvPr/>
        </p:nvSpPr>
        <p:spPr>
          <a:xfrm>
            <a:off x="3657600" y="2753617"/>
            <a:ext cx="3897808" cy="222885"/>
          </a:xfrm>
          <a:prstGeom prst="rect">
            <a:avLst/>
          </a:prstGeom>
          <a:noFill/>
        </p:spPr>
        <p:txBody>
          <a:bodyPr wrap="square">
            <a:spAutoFit/>
          </a:bodyPr>
          <a:lstStyle/>
          <a:p>
            <a:pPr algn="l"/>
            <a:r>
              <a:rPr sz="1950" b="0" i="0">
                <a:solidFill>
                  <a:srgbClr val="14281C"/>
                </a:solidFill>
                <a:latin typeface="Rubik"/>
              </a:rPr>
              <a:t>Digital</a:t>
            </a:r>
          </a:p>
        </p:txBody>
      </p:sp>
      <p:sp>
        <p:nvSpPr>
          <p:cNvPr id="21" name="TextBox 20"/>
          <p:cNvSpPr txBox="1"/>
          <p:nvPr/>
        </p:nvSpPr>
        <p:spPr>
          <a:xfrm>
            <a:off x="3657600" y="2926928"/>
            <a:ext cx="3897808" cy="205740"/>
          </a:xfrm>
          <a:prstGeom prst="rect">
            <a:avLst/>
          </a:prstGeom>
          <a:noFill/>
        </p:spPr>
        <p:txBody>
          <a:bodyPr wrap="square">
            <a:spAutoFit/>
          </a:bodyPr>
          <a:lstStyle/>
          <a:p>
            <a:pPr algn="l"/>
            <a:r>
              <a:rPr sz="1800" b="0" i="0">
                <a:solidFill>
                  <a:srgbClr val="5E6B62"/>
                </a:solidFill>
                <a:latin typeface="Rubik"/>
              </a:rPr>
              <a:t>Multilingual website, social, gift-box campaigns</a:t>
            </a:r>
          </a:p>
        </p:txBody>
      </p:sp>
      <p:sp>
        <p:nvSpPr>
          <p:cNvPr id="22" name="TextBox 21"/>
          <p:cNvSpPr txBox="1"/>
          <p:nvPr/>
        </p:nvSpPr>
        <p:spPr>
          <a:xfrm>
            <a:off x="7650658" y="2786881"/>
            <a:ext cx="359866" cy="342900"/>
          </a:xfrm>
          <a:prstGeom prst="rect">
            <a:avLst/>
          </a:prstGeom>
          <a:noFill/>
        </p:spPr>
        <p:txBody>
          <a:bodyPr wrap="square">
            <a:spAutoFit/>
          </a:bodyPr>
          <a:lstStyle/>
          <a:p>
            <a:pPr algn="l"/>
            <a:r>
              <a:rPr sz="3000" b="0" i="0">
                <a:solidFill>
                  <a:srgbClr val="8A6A22"/>
                </a:solidFill>
                <a:latin typeface="Cormorant Garamond"/>
              </a:rPr>
              <a:t>€25k</a:t>
            </a:r>
          </a:p>
        </p:txBody>
      </p:sp>
      <p:sp>
        <p:nvSpPr>
          <p:cNvPr id="23" name="TextBox 22"/>
          <p:cNvSpPr txBox="1"/>
          <p:nvPr/>
        </p:nvSpPr>
        <p:spPr>
          <a:xfrm>
            <a:off x="8105775" y="2833613"/>
            <a:ext cx="428625" cy="222885"/>
          </a:xfrm>
          <a:prstGeom prst="rect">
            <a:avLst/>
          </a:prstGeom>
          <a:noFill/>
        </p:spPr>
        <p:txBody>
          <a:bodyPr wrap="square">
            <a:spAutoFit/>
          </a:bodyPr>
          <a:lstStyle/>
          <a:p>
            <a:pPr algn="r"/>
            <a:r>
              <a:rPr sz="1950" b="0" i="0">
                <a:solidFill>
                  <a:srgbClr val="1F2B23"/>
                </a:solidFill>
                <a:latin typeface="Rubik"/>
              </a:rPr>
              <a:t>17%</a:t>
            </a:r>
          </a:p>
        </p:txBody>
      </p:sp>
      <p:sp>
        <p:nvSpPr>
          <p:cNvPr id="24" name="TextBox 23"/>
          <p:cNvSpPr txBox="1"/>
          <p:nvPr/>
        </p:nvSpPr>
        <p:spPr>
          <a:xfrm>
            <a:off x="3657600" y="3167881"/>
            <a:ext cx="3911128" cy="222885"/>
          </a:xfrm>
          <a:prstGeom prst="rect">
            <a:avLst/>
          </a:prstGeom>
          <a:noFill/>
        </p:spPr>
        <p:txBody>
          <a:bodyPr wrap="square">
            <a:spAutoFit/>
          </a:bodyPr>
          <a:lstStyle/>
          <a:p>
            <a:pPr algn="l"/>
            <a:r>
              <a:rPr sz="1950" b="0" i="0">
                <a:solidFill>
                  <a:srgbClr val="14281C"/>
                </a:solidFill>
                <a:latin typeface="Rubik"/>
              </a:rPr>
              <a:t>Chef Ambassadors / PR</a:t>
            </a:r>
          </a:p>
        </p:txBody>
      </p:sp>
      <p:sp>
        <p:nvSpPr>
          <p:cNvPr id="25" name="TextBox 24"/>
          <p:cNvSpPr txBox="1"/>
          <p:nvPr/>
        </p:nvSpPr>
        <p:spPr>
          <a:xfrm>
            <a:off x="3657600" y="3341191"/>
            <a:ext cx="3911128" cy="205740"/>
          </a:xfrm>
          <a:prstGeom prst="rect">
            <a:avLst/>
          </a:prstGeom>
          <a:noFill/>
        </p:spPr>
        <p:txBody>
          <a:bodyPr wrap="square">
            <a:spAutoFit/>
          </a:bodyPr>
          <a:lstStyle/>
          <a:p>
            <a:pPr algn="l"/>
            <a:r>
              <a:rPr sz="1800" b="0" i="0">
                <a:solidFill>
                  <a:srgbClr val="5E6B62"/>
                </a:solidFill>
                <a:latin typeface="Rubik"/>
              </a:rPr>
              <a:t>4–6 chefs, trade press</a:t>
            </a:r>
          </a:p>
        </p:txBody>
      </p:sp>
      <p:sp>
        <p:nvSpPr>
          <p:cNvPr id="26" name="TextBox 25"/>
          <p:cNvSpPr txBox="1"/>
          <p:nvPr/>
        </p:nvSpPr>
        <p:spPr>
          <a:xfrm>
            <a:off x="7663978" y="3201144"/>
            <a:ext cx="346546" cy="342900"/>
          </a:xfrm>
          <a:prstGeom prst="rect">
            <a:avLst/>
          </a:prstGeom>
          <a:noFill/>
        </p:spPr>
        <p:txBody>
          <a:bodyPr wrap="square">
            <a:spAutoFit/>
          </a:bodyPr>
          <a:lstStyle/>
          <a:p>
            <a:pPr algn="l"/>
            <a:r>
              <a:rPr sz="3000" b="0" i="0">
                <a:solidFill>
                  <a:srgbClr val="8A6A22"/>
                </a:solidFill>
                <a:latin typeface="Cormorant Garamond"/>
              </a:rPr>
              <a:t>€15k</a:t>
            </a:r>
          </a:p>
        </p:txBody>
      </p:sp>
      <p:sp>
        <p:nvSpPr>
          <p:cNvPr id="27" name="TextBox 26"/>
          <p:cNvSpPr txBox="1"/>
          <p:nvPr/>
        </p:nvSpPr>
        <p:spPr>
          <a:xfrm>
            <a:off x="8105775" y="3247876"/>
            <a:ext cx="428625" cy="222885"/>
          </a:xfrm>
          <a:prstGeom prst="rect">
            <a:avLst/>
          </a:prstGeom>
          <a:noFill/>
        </p:spPr>
        <p:txBody>
          <a:bodyPr wrap="square">
            <a:spAutoFit/>
          </a:bodyPr>
          <a:lstStyle/>
          <a:p>
            <a:pPr algn="r"/>
            <a:r>
              <a:rPr sz="1950" b="0" i="0">
                <a:solidFill>
                  <a:srgbClr val="1F2B23"/>
                </a:solidFill>
                <a:latin typeface="Rubik"/>
              </a:rPr>
              <a:t>10%</a:t>
            </a:r>
          </a:p>
        </p:txBody>
      </p:sp>
      <p:sp>
        <p:nvSpPr>
          <p:cNvPr id="28" name="TextBox 27"/>
          <p:cNvSpPr txBox="1"/>
          <p:nvPr/>
        </p:nvSpPr>
        <p:spPr>
          <a:xfrm>
            <a:off x="3657600" y="3582144"/>
            <a:ext cx="3898180" cy="222885"/>
          </a:xfrm>
          <a:prstGeom prst="rect">
            <a:avLst/>
          </a:prstGeom>
          <a:noFill/>
        </p:spPr>
        <p:txBody>
          <a:bodyPr wrap="square">
            <a:spAutoFit/>
          </a:bodyPr>
          <a:lstStyle/>
          <a:p>
            <a:pPr algn="l"/>
            <a:r>
              <a:rPr sz="1950" b="0" i="0">
                <a:solidFill>
                  <a:srgbClr val="14281C"/>
                </a:solidFill>
                <a:latin typeface="Rubik"/>
              </a:rPr>
              <a:t>Quality Competitions &amp; Contingency</a:t>
            </a:r>
          </a:p>
        </p:txBody>
      </p:sp>
      <p:sp>
        <p:nvSpPr>
          <p:cNvPr id="29" name="TextBox 28"/>
          <p:cNvSpPr txBox="1"/>
          <p:nvPr/>
        </p:nvSpPr>
        <p:spPr>
          <a:xfrm>
            <a:off x="3657600" y="3755454"/>
            <a:ext cx="3898180" cy="205740"/>
          </a:xfrm>
          <a:prstGeom prst="rect">
            <a:avLst/>
          </a:prstGeom>
          <a:noFill/>
        </p:spPr>
        <p:txBody>
          <a:bodyPr wrap="square">
            <a:spAutoFit/>
          </a:bodyPr>
          <a:lstStyle/>
          <a:p>
            <a:pPr algn="l"/>
            <a:r>
              <a:rPr sz="1800" b="0" i="0">
                <a:solidFill>
                  <a:srgbClr val="5E6B62"/>
                </a:solidFill>
                <a:latin typeface="Rubik"/>
              </a:rPr>
              <a:t>1–2 international olive oil contests, tests</a:t>
            </a:r>
          </a:p>
        </p:txBody>
      </p:sp>
      <p:sp>
        <p:nvSpPr>
          <p:cNvPr id="30" name="TextBox 29"/>
          <p:cNvSpPr txBox="1"/>
          <p:nvPr/>
        </p:nvSpPr>
        <p:spPr>
          <a:xfrm>
            <a:off x="7651030" y="3615407"/>
            <a:ext cx="359494" cy="342900"/>
          </a:xfrm>
          <a:prstGeom prst="rect">
            <a:avLst/>
          </a:prstGeom>
          <a:noFill/>
        </p:spPr>
        <p:txBody>
          <a:bodyPr wrap="square">
            <a:spAutoFit/>
          </a:bodyPr>
          <a:lstStyle/>
          <a:p>
            <a:pPr algn="l"/>
            <a:r>
              <a:rPr sz="3000" b="0" i="0">
                <a:solidFill>
                  <a:srgbClr val="8A6A22"/>
                </a:solidFill>
                <a:latin typeface="Cormorant Garamond"/>
              </a:rPr>
              <a:t>€10k</a:t>
            </a:r>
          </a:p>
        </p:txBody>
      </p:sp>
      <p:sp>
        <p:nvSpPr>
          <p:cNvPr id="31" name="TextBox 30"/>
          <p:cNvSpPr txBox="1"/>
          <p:nvPr/>
        </p:nvSpPr>
        <p:spPr>
          <a:xfrm>
            <a:off x="8105775" y="3662139"/>
            <a:ext cx="428625" cy="222885"/>
          </a:xfrm>
          <a:prstGeom prst="rect">
            <a:avLst/>
          </a:prstGeom>
          <a:noFill/>
        </p:spPr>
        <p:txBody>
          <a:bodyPr wrap="square">
            <a:spAutoFit/>
          </a:bodyPr>
          <a:lstStyle/>
          <a:p>
            <a:pPr algn="r"/>
            <a:r>
              <a:rPr sz="1950" b="0" i="0">
                <a:solidFill>
                  <a:srgbClr val="1F2B23"/>
                </a:solidFill>
                <a:latin typeface="Rubik"/>
              </a:rPr>
              <a:t>7%</a:t>
            </a:r>
          </a:p>
        </p:txBody>
      </p:sp>
      <p:sp>
        <p:nvSpPr>
          <p:cNvPr id="32" name="TextBox 31"/>
          <p:cNvSpPr txBox="1"/>
          <p:nvPr/>
        </p:nvSpPr>
        <p:spPr>
          <a:xfrm>
            <a:off x="3657600" y="3996407"/>
            <a:ext cx="3898180" cy="222885"/>
          </a:xfrm>
          <a:prstGeom prst="rect">
            <a:avLst/>
          </a:prstGeom>
          <a:noFill/>
        </p:spPr>
        <p:txBody>
          <a:bodyPr wrap="square">
            <a:spAutoFit/>
          </a:bodyPr>
          <a:lstStyle/>
          <a:p>
            <a:pPr algn="l"/>
            <a:r>
              <a:rPr sz="1950" b="0" i="0">
                <a:solidFill>
                  <a:srgbClr val="14281C"/>
                </a:solidFill>
                <a:latin typeface="Rubik"/>
              </a:rPr>
              <a:t>CRM &amp; Tracking</a:t>
            </a:r>
          </a:p>
        </p:txBody>
      </p:sp>
      <p:sp>
        <p:nvSpPr>
          <p:cNvPr id="33" name="TextBox 32"/>
          <p:cNvSpPr txBox="1"/>
          <p:nvPr/>
        </p:nvSpPr>
        <p:spPr>
          <a:xfrm>
            <a:off x="3657600" y="4169717"/>
            <a:ext cx="3898180" cy="205740"/>
          </a:xfrm>
          <a:prstGeom prst="rect">
            <a:avLst/>
          </a:prstGeom>
          <a:noFill/>
        </p:spPr>
        <p:txBody>
          <a:bodyPr wrap="square">
            <a:spAutoFit/>
          </a:bodyPr>
          <a:lstStyle/>
          <a:p>
            <a:pPr algn="l"/>
            <a:r>
              <a:rPr sz="1800" b="0" i="0">
                <a:solidFill>
                  <a:srgbClr val="5E6B62"/>
                </a:solidFill>
                <a:latin typeface="Rubik"/>
              </a:rPr>
              <a:t>Simple CRM, monthly KPI dashboard</a:t>
            </a:r>
          </a:p>
        </p:txBody>
      </p:sp>
      <p:sp>
        <p:nvSpPr>
          <p:cNvPr id="34" name="TextBox 33"/>
          <p:cNvSpPr txBox="1"/>
          <p:nvPr/>
        </p:nvSpPr>
        <p:spPr>
          <a:xfrm>
            <a:off x="7651030" y="4029670"/>
            <a:ext cx="359494" cy="342900"/>
          </a:xfrm>
          <a:prstGeom prst="rect">
            <a:avLst/>
          </a:prstGeom>
          <a:noFill/>
        </p:spPr>
        <p:txBody>
          <a:bodyPr wrap="square">
            <a:spAutoFit/>
          </a:bodyPr>
          <a:lstStyle/>
          <a:p>
            <a:pPr algn="l"/>
            <a:r>
              <a:rPr sz="3000" b="0" i="0">
                <a:solidFill>
                  <a:srgbClr val="8A6A22"/>
                </a:solidFill>
                <a:latin typeface="Cormorant Garamond"/>
              </a:rPr>
              <a:t>€10k</a:t>
            </a:r>
          </a:p>
        </p:txBody>
      </p:sp>
      <p:sp>
        <p:nvSpPr>
          <p:cNvPr id="35" name="TextBox 34"/>
          <p:cNvSpPr txBox="1"/>
          <p:nvPr/>
        </p:nvSpPr>
        <p:spPr>
          <a:xfrm>
            <a:off x="8105775" y="4076402"/>
            <a:ext cx="428625" cy="222885"/>
          </a:xfrm>
          <a:prstGeom prst="rect">
            <a:avLst/>
          </a:prstGeom>
          <a:noFill/>
        </p:spPr>
        <p:txBody>
          <a:bodyPr wrap="square">
            <a:spAutoFit/>
          </a:bodyPr>
          <a:lstStyle/>
          <a:p>
            <a:pPr algn="r"/>
            <a:r>
              <a:rPr sz="1950" b="0" i="0">
                <a:solidFill>
                  <a:srgbClr val="1F2B23"/>
                </a:solidFill>
                <a:latin typeface="Rubik"/>
              </a:rPr>
              <a:t>7%</a:t>
            </a:r>
          </a:p>
        </p:txBody>
      </p:sp>
      <p:sp>
        <p:nvSpPr>
          <p:cNvPr id="36" name="TextBox 35"/>
          <p:cNvSpPr txBox="1"/>
          <p:nvPr/>
        </p:nvSpPr>
        <p:spPr>
          <a:xfrm>
            <a:off x="609600" y="4678709"/>
            <a:ext cx="666750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37" name="TextBox 36"/>
          <p:cNvSpPr txBox="1"/>
          <p:nvPr/>
        </p:nvSpPr>
        <p:spPr>
          <a:xfrm>
            <a:off x="7772400" y="4678709"/>
            <a:ext cx="762000" cy="205740"/>
          </a:xfrm>
          <a:prstGeom prst="rect">
            <a:avLst/>
          </a:prstGeom>
          <a:noFill/>
        </p:spPr>
        <p:txBody>
          <a:bodyPr wrap="square">
            <a:spAutoFit/>
          </a:bodyPr>
          <a:lstStyle/>
          <a:p>
            <a:pPr algn="r"/>
            <a:r>
              <a:rPr sz="1800" b="0" i="0" spc="150">
                <a:solidFill>
                  <a:srgbClr val="8A6A22"/>
                </a:solidFill>
                <a:latin typeface="Rubik"/>
              </a:rPr>
              <a:t>26 / 35</a:t>
            </a:r>
          </a:p>
        </p:txBody>
      </p:sp>
    </p:spTree>
  </p:cSld>
  <p:clrMapOvr>
    <a:masterClrMapping/>
  </p:clrMapOvr>
  <p:transition dur="500" advClick="1">
    <p:fade/>
  </p:transition>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29.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2434381" cy="205740"/>
          </a:xfrm>
          <a:prstGeom prst="rect">
            <a:avLst/>
          </a:prstGeom>
          <a:noFill/>
        </p:spPr>
        <p:txBody>
          <a:bodyPr wrap="square">
            <a:spAutoFit/>
          </a:bodyPr>
          <a:lstStyle/>
          <a:p>
            <a:pPr algn="l"/>
            <a:r>
              <a:rPr sz="1800" b="0" i="0" spc="300">
                <a:solidFill>
                  <a:srgbClr val="8A6A22"/>
                </a:solidFill>
                <a:latin typeface="Rubik"/>
              </a:rPr>
              <a:t>MARKETING · 3-5</a:t>
            </a:r>
          </a:p>
        </p:txBody>
      </p:sp>
      <p:sp>
        <p:nvSpPr>
          <p:cNvPr id="4" name="TextBox 3"/>
          <p:cNvSpPr txBox="1"/>
          <p:nvPr/>
        </p:nvSpPr>
        <p:spPr>
          <a:xfrm>
            <a:off x="609600" y="721965"/>
            <a:ext cx="2434381" cy="548640"/>
          </a:xfrm>
          <a:prstGeom prst="rect">
            <a:avLst/>
          </a:prstGeom>
          <a:noFill/>
        </p:spPr>
        <p:txBody>
          <a:bodyPr wrap="square">
            <a:spAutoFit/>
          </a:bodyPr>
          <a:lstStyle/>
          <a:p>
            <a:pPr algn="l"/>
            <a:r>
              <a:rPr sz="4800" b="0" i="0">
                <a:solidFill>
                  <a:srgbClr val="14281C"/>
                </a:solidFill>
                <a:latin typeface="Cormorant Garamond"/>
              </a:rPr>
              <a:t>Distributor Strategy</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Selective distribution with clear performance gates</a:t>
            </a:r>
          </a:p>
        </p:txBody>
      </p:sp>
      <p:sp>
        <p:nvSpPr>
          <p:cNvPr id="6" name="TextBox 5"/>
          <p:cNvSpPr txBox="1"/>
          <p:nvPr/>
        </p:nvSpPr>
        <p:spPr>
          <a:xfrm>
            <a:off x="785812" y="1616273"/>
            <a:ext cx="113853" cy="617220"/>
          </a:xfrm>
          <a:prstGeom prst="rect">
            <a:avLst/>
          </a:prstGeom>
          <a:noFill/>
        </p:spPr>
        <p:txBody>
          <a:bodyPr wrap="square">
            <a:spAutoFit/>
          </a:bodyPr>
          <a:lstStyle/>
          <a:p>
            <a:pPr algn="l"/>
            <a:r>
              <a:rPr sz="5400" b="0" i="0">
                <a:solidFill>
                  <a:srgbClr val="D9B45A"/>
                </a:solidFill>
                <a:latin typeface="Cormorant Garamond"/>
              </a:rPr>
              <a:t>1</a:t>
            </a:r>
          </a:p>
        </p:txBody>
      </p:sp>
      <p:sp>
        <p:nvSpPr>
          <p:cNvPr id="7" name="TextBox 6"/>
          <p:cNvSpPr txBox="1"/>
          <p:nvPr/>
        </p:nvSpPr>
        <p:spPr>
          <a:xfrm>
            <a:off x="994916" y="1701998"/>
            <a:ext cx="629245" cy="257175"/>
          </a:xfrm>
          <a:prstGeom prst="rect">
            <a:avLst/>
          </a:prstGeom>
          <a:noFill/>
        </p:spPr>
        <p:txBody>
          <a:bodyPr wrap="square">
            <a:spAutoFit/>
          </a:bodyPr>
          <a:lstStyle/>
          <a:p>
            <a:pPr algn="l"/>
            <a:r>
              <a:rPr sz="2250" b="0" i="0" spc="225">
                <a:solidFill>
                  <a:srgbClr val="14281C"/>
                </a:solidFill>
                <a:latin typeface="Rubik"/>
              </a:rPr>
              <a:t>SELECT</a:t>
            </a:r>
          </a:p>
        </p:txBody>
      </p:sp>
      <p:sp>
        <p:nvSpPr>
          <p:cNvPr id="8" name="TextBox 7"/>
          <p:cNvSpPr txBox="1"/>
          <p:nvPr/>
        </p:nvSpPr>
        <p:spPr>
          <a:xfrm>
            <a:off x="785812" y="2016323"/>
            <a:ext cx="2012974" cy="231457"/>
          </a:xfrm>
          <a:prstGeom prst="rect">
            <a:avLst/>
          </a:prstGeom>
          <a:noFill/>
        </p:spPr>
        <p:txBody>
          <a:bodyPr wrap="square">
            <a:spAutoFit/>
          </a:bodyPr>
          <a:lstStyle/>
          <a:p>
            <a:pPr algn="l"/>
            <a:r>
              <a:rPr sz="2025" b="0" i="0">
                <a:solidFill>
                  <a:srgbClr val="1F2B23"/>
                </a:solidFill>
                <a:latin typeface="Rubik"/>
              </a:rPr>
              <a:t>Partner profile:</a:t>
            </a:r>
          </a:p>
        </p:txBody>
      </p:sp>
      <p:sp>
        <p:nvSpPr>
          <p:cNvPr id="9" name="TextBox 8"/>
          <p:cNvSpPr txBox="1"/>
          <p:nvPr/>
        </p:nvSpPr>
        <p:spPr>
          <a:xfrm>
            <a:off x="933673" y="2253481"/>
            <a:ext cx="1865114" cy="231457"/>
          </a:xfrm>
          <a:prstGeom prst="rect">
            <a:avLst/>
          </a:prstGeom>
          <a:noFill/>
        </p:spPr>
        <p:txBody>
          <a:bodyPr wrap="square">
            <a:spAutoFit/>
          </a:bodyPr>
          <a:lstStyle/>
          <a:p>
            <a:pPr algn="l"/>
            <a:r>
              <a:rPr sz="2025" b="0" i="0">
                <a:solidFill>
                  <a:srgbClr val="1F2B23"/>
                </a:solidFill>
                <a:latin typeface="Rubik"/>
              </a:rPr>
              <a:t>Premium food portfolio</a:t>
            </a:r>
          </a:p>
        </p:txBody>
      </p:sp>
      <p:sp>
        <p:nvSpPr>
          <p:cNvPr id="10" name="TextBox 9"/>
          <p:cNvSpPr txBox="1"/>
          <p:nvPr/>
        </p:nvSpPr>
        <p:spPr>
          <a:xfrm>
            <a:off x="933673" y="2446362"/>
            <a:ext cx="1865114" cy="231457"/>
          </a:xfrm>
          <a:prstGeom prst="rect">
            <a:avLst/>
          </a:prstGeom>
          <a:noFill/>
        </p:spPr>
        <p:txBody>
          <a:bodyPr wrap="square">
            <a:spAutoFit/>
          </a:bodyPr>
          <a:lstStyle/>
          <a:p>
            <a:pPr algn="l"/>
            <a:r>
              <a:rPr sz="2025" b="0" i="0">
                <a:solidFill>
                  <a:srgbClr val="1F2B23"/>
                </a:solidFill>
                <a:latin typeface="Rubik"/>
              </a:rPr>
              <a:t>Gourmet / HORECA access</a:t>
            </a:r>
          </a:p>
        </p:txBody>
      </p:sp>
      <p:sp>
        <p:nvSpPr>
          <p:cNvPr id="11" name="TextBox 10"/>
          <p:cNvSpPr txBox="1"/>
          <p:nvPr/>
        </p:nvSpPr>
        <p:spPr>
          <a:xfrm>
            <a:off x="933673" y="2639243"/>
            <a:ext cx="1865114" cy="231457"/>
          </a:xfrm>
          <a:prstGeom prst="rect">
            <a:avLst/>
          </a:prstGeom>
          <a:noFill/>
        </p:spPr>
        <p:txBody>
          <a:bodyPr wrap="square">
            <a:spAutoFit/>
          </a:bodyPr>
          <a:lstStyle/>
          <a:p>
            <a:pPr algn="l"/>
            <a:r>
              <a:rPr sz="2025" b="0" i="0">
                <a:solidFill>
                  <a:srgbClr val="1F2B23"/>
                </a:solidFill>
                <a:latin typeface="Rubik"/>
              </a:rPr>
              <a:t>Strong digital capability</a:t>
            </a:r>
          </a:p>
        </p:txBody>
      </p:sp>
      <p:sp>
        <p:nvSpPr>
          <p:cNvPr id="12" name="TextBox 11"/>
          <p:cNvSpPr txBox="1"/>
          <p:nvPr/>
        </p:nvSpPr>
        <p:spPr>
          <a:xfrm>
            <a:off x="933673" y="2832124"/>
            <a:ext cx="1865114" cy="231457"/>
          </a:xfrm>
          <a:prstGeom prst="rect">
            <a:avLst/>
          </a:prstGeom>
          <a:noFill/>
        </p:spPr>
        <p:txBody>
          <a:bodyPr wrap="square">
            <a:spAutoFit/>
          </a:bodyPr>
          <a:lstStyle/>
          <a:p>
            <a:pPr algn="l"/>
            <a:r>
              <a:rPr sz="2025" b="0" i="0">
                <a:solidFill>
                  <a:srgbClr val="1F2B23"/>
                </a:solidFill>
                <a:latin typeface="Rubik"/>
              </a:rPr>
              <a:t>Financial capacity</a:t>
            </a:r>
          </a:p>
        </p:txBody>
      </p:sp>
      <p:sp>
        <p:nvSpPr>
          <p:cNvPr id="13" name="TextBox 12"/>
          <p:cNvSpPr txBox="1"/>
          <p:nvPr/>
        </p:nvSpPr>
        <p:spPr>
          <a:xfrm>
            <a:off x="933673" y="3025006"/>
            <a:ext cx="1865114" cy="231457"/>
          </a:xfrm>
          <a:prstGeom prst="rect">
            <a:avLst/>
          </a:prstGeom>
          <a:noFill/>
        </p:spPr>
        <p:txBody>
          <a:bodyPr wrap="square">
            <a:spAutoFit/>
          </a:bodyPr>
          <a:lstStyle/>
          <a:p>
            <a:pPr algn="l"/>
            <a:r>
              <a:rPr sz="2025" b="0" i="0">
                <a:solidFill>
                  <a:srgbClr val="1F2B23"/>
                </a:solidFill>
                <a:latin typeface="Rubik"/>
              </a:rPr>
              <a:t>Brand-building mindset</a:t>
            </a:r>
          </a:p>
        </p:txBody>
      </p:sp>
      <p:sp>
        <p:nvSpPr>
          <p:cNvPr id="14" name="TextBox 13"/>
          <p:cNvSpPr txBox="1"/>
          <p:nvPr/>
        </p:nvSpPr>
        <p:spPr>
          <a:xfrm>
            <a:off x="785812" y="3930997"/>
            <a:ext cx="2012974" cy="293340"/>
          </a:xfrm>
          <a:prstGeom prst="rect">
            <a:avLst/>
          </a:prstGeom>
          <a:noFill/>
        </p:spPr>
        <p:txBody>
          <a:bodyPr wrap="square">
            <a:spAutoFit/>
          </a:bodyPr>
          <a:lstStyle/>
          <a:p>
            <a:pPr algn="l"/>
            <a:r>
              <a:rPr sz="1800" b="0" i="1">
                <a:solidFill>
                  <a:srgbClr val="3E6B4C"/>
                </a:solidFill>
                <a:latin typeface="Rubik"/>
              </a:rPr>
              <a:t>Avoid pure commodity traders.</a:t>
            </a:r>
          </a:p>
        </p:txBody>
      </p:sp>
      <p:sp>
        <p:nvSpPr>
          <p:cNvPr id="15" name="TextBox 14"/>
          <p:cNvSpPr txBox="1"/>
          <p:nvPr/>
        </p:nvSpPr>
        <p:spPr>
          <a:xfrm>
            <a:off x="3570312" y="1616273"/>
            <a:ext cx="137889" cy="617220"/>
          </a:xfrm>
          <a:prstGeom prst="rect">
            <a:avLst/>
          </a:prstGeom>
          <a:noFill/>
        </p:spPr>
        <p:txBody>
          <a:bodyPr wrap="square">
            <a:spAutoFit/>
          </a:bodyPr>
          <a:lstStyle/>
          <a:p>
            <a:pPr algn="l"/>
            <a:r>
              <a:rPr sz="5400" b="0" i="0">
                <a:solidFill>
                  <a:srgbClr val="D9B45A"/>
                </a:solidFill>
                <a:latin typeface="Cormorant Garamond"/>
              </a:rPr>
              <a:t>2</a:t>
            </a:r>
          </a:p>
        </p:txBody>
      </p:sp>
      <p:sp>
        <p:nvSpPr>
          <p:cNvPr id="16" name="TextBox 15"/>
          <p:cNvSpPr txBox="1"/>
          <p:nvPr/>
        </p:nvSpPr>
        <p:spPr>
          <a:xfrm>
            <a:off x="3803451" y="1701998"/>
            <a:ext cx="886941" cy="257175"/>
          </a:xfrm>
          <a:prstGeom prst="rect">
            <a:avLst/>
          </a:prstGeom>
          <a:noFill/>
        </p:spPr>
        <p:txBody>
          <a:bodyPr wrap="square">
            <a:spAutoFit/>
          </a:bodyPr>
          <a:lstStyle/>
          <a:p>
            <a:pPr algn="l"/>
            <a:r>
              <a:rPr sz="2250" b="0" i="0" spc="225">
                <a:solidFill>
                  <a:srgbClr val="14281C"/>
                </a:solidFill>
                <a:latin typeface="Rubik"/>
              </a:rPr>
              <a:t>CONTRACT</a:t>
            </a:r>
          </a:p>
        </p:txBody>
      </p:sp>
      <p:sp>
        <p:nvSpPr>
          <p:cNvPr id="17" name="TextBox 16"/>
          <p:cNvSpPr txBox="1"/>
          <p:nvPr/>
        </p:nvSpPr>
        <p:spPr>
          <a:xfrm>
            <a:off x="3570312" y="2016323"/>
            <a:ext cx="2012974" cy="231457"/>
          </a:xfrm>
          <a:prstGeom prst="rect">
            <a:avLst/>
          </a:prstGeom>
          <a:noFill/>
        </p:spPr>
        <p:txBody>
          <a:bodyPr wrap="square">
            <a:spAutoFit/>
          </a:bodyPr>
          <a:lstStyle/>
          <a:p>
            <a:pPr algn="l"/>
            <a:r>
              <a:rPr sz="2025" b="0" i="0">
                <a:solidFill>
                  <a:srgbClr val="1F2B23"/>
                </a:solidFill>
                <a:latin typeface="Rubik"/>
              </a:rPr>
              <a:t>Define:</a:t>
            </a:r>
          </a:p>
        </p:txBody>
      </p:sp>
      <p:sp>
        <p:nvSpPr>
          <p:cNvPr id="18" name="TextBox 17"/>
          <p:cNvSpPr txBox="1"/>
          <p:nvPr/>
        </p:nvSpPr>
        <p:spPr>
          <a:xfrm>
            <a:off x="3718173" y="2253481"/>
            <a:ext cx="1865114" cy="231457"/>
          </a:xfrm>
          <a:prstGeom prst="rect">
            <a:avLst/>
          </a:prstGeom>
          <a:noFill/>
        </p:spPr>
        <p:txBody>
          <a:bodyPr wrap="square">
            <a:spAutoFit/>
          </a:bodyPr>
          <a:lstStyle/>
          <a:p>
            <a:pPr algn="l"/>
            <a:r>
              <a:rPr sz="2025" b="0" i="0">
                <a:solidFill>
                  <a:srgbClr val="1F2B23"/>
                </a:solidFill>
                <a:latin typeface="Rubik"/>
              </a:rPr>
              <a:t>Territory</a:t>
            </a:r>
          </a:p>
        </p:txBody>
      </p:sp>
      <p:sp>
        <p:nvSpPr>
          <p:cNvPr id="19" name="TextBox 18"/>
          <p:cNvSpPr txBox="1"/>
          <p:nvPr/>
        </p:nvSpPr>
        <p:spPr>
          <a:xfrm>
            <a:off x="3718173" y="2446362"/>
            <a:ext cx="1865114" cy="231457"/>
          </a:xfrm>
          <a:prstGeom prst="rect">
            <a:avLst/>
          </a:prstGeom>
          <a:noFill/>
        </p:spPr>
        <p:txBody>
          <a:bodyPr wrap="square">
            <a:spAutoFit/>
          </a:bodyPr>
          <a:lstStyle/>
          <a:p>
            <a:pPr algn="l"/>
            <a:r>
              <a:rPr sz="2025" b="0" i="0">
                <a:solidFill>
                  <a:srgbClr val="1F2B23"/>
                </a:solidFill>
                <a:latin typeface="Rubik"/>
              </a:rPr>
              <a:t>Target SKU mix</a:t>
            </a:r>
          </a:p>
        </p:txBody>
      </p:sp>
      <p:sp>
        <p:nvSpPr>
          <p:cNvPr id="20" name="TextBox 19"/>
          <p:cNvSpPr txBox="1"/>
          <p:nvPr/>
        </p:nvSpPr>
        <p:spPr>
          <a:xfrm>
            <a:off x="3718173" y="2639243"/>
            <a:ext cx="1865114" cy="231457"/>
          </a:xfrm>
          <a:prstGeom prst="rect">
            <a:avLst/>
          </a:prstGeom>
          <a:noFill/>
        </p:spPr>
        <p:txBody>
          <a:bodyPr wrap="square">
            <a:spAutoFit/>
          </a:bodyPr>
          <a:lstStyle/>
          <a:p>
            <a:pPr algn="l"/>
            <a:r>
              <a:rPr sz="2025" b="0" i="0">
                <a:solidFill>
                  <a:srgbClr val="1F2B23"/>
                </a:solidFill>
                <a:latin typeface="Rubik"/>
              </a:rPr>
              <a:t>Marketing contribution</a:t>
            </a:r>
          </a:p>
        </p:txBody>
      </p:sp>
      <p:sp>
        <p:nvSpPr>
          <p:cNvPr id="21" name="TextBox 20"/>
          <p:cNvSpPr txBox="1"/>
          <p:nvPr/>
        </p:nvSpPr>
        <p:spPr>
          <a:xfrm>
            <a:off x="3718173" y="2832124"/>
            <a:ext cx="1865114" cy="231457"/>
          </a:xfrm>
          <a:prstGeom prst="rect">
            <a:avLst/>
          </a:prstGeom>
          <a:noFill/>
        </p:spPr>
        <p:txBody>
          <a:bodyPr wrap="square">
            <a:spAutoFit/>
          </a:bodyPr>
          <a:lstStyle/>
          <a:p>
            <a:pPr algn="l"/>
            <a:r>
              <a:rPr sz="2025" b="0" i="0">
                <a:solidFill>
                  <a:srgbClr val="1F2B23"/>
                </a:solidFill>
                <a:latin typeface="Rubik"/>
              </a:rPr>
              <a:t>Brand guidelines</a:t>
            </a:r>
          </a:p>
        </p:txBody>
      </p:sp>
      <p:sp>
        <p:nvSpPr>
          <p:cNvPr id="22" name="TextBox 21"/>
          <p:cNvSpPr txBox="1"/>
          <p:nvPr/>
        </p:nvSpPr>
        <p:spPr>
          <a:xfrm>
            <a:off x="3718173" y="3025006"/>
            <a:ext cx="1865114" cy="231457"/>
          </a:xfrm>
          <a:prstGeom prst="rect">
            <a:avLst/>
          </a:prstGeom>
          <a:noFill/>
        </p:spPr>
        <p:txBody>
          <a:bodyPr wrap="square">
            <a:spAutoFit/>
          </a:bodyPr>
          <a:lstStyle/>
          <a:p>
            <a:pPr algn="l"/>
            <a:r>
              <a:rPr sz="2025" b="0" i="0">
                <a:solidFill>
                  <a:srgbClr val="1F2B23"/>
                </a:solidFill>
                <a:latin typeface="Rubik"/>
              </a:rPr>
              <a:t>Payment terms</a:t>
            </a:r>
          </a:p>
        </p:txBody>
      </p:sp>
      <p:sp>
        <p:nvSpPr>
          <p:cNvPr id="23" name="TextBox 22"/>
          <p:cNvSpPr txBox="1"/>
          <p:nvPr/>
        </p:nvSpPr>
        <p:spPr>
          <a:xfrm>
            <a:off x="6350049" y="1611510"/>
            <a:ext cx="134094" cy="617220"/>
          </a:xfrm>
          <a:prstGeom prst="rect">
            <a:avLst/>
          </a:prstGeom>
          <a:noFill/>
        </p:spPr>
        <p:txBody>
          <a:bodyPr wrap="square">
            <a:spAutoFit/>
          </a:bodyPr>
          <a:lstStyle/>
          <a:p>
            <a:pPr algn="l"/>
            <a:r>
              <a:rPr sz="5400" b="0" i="0">
                <a:solidFill>
                  <a:srgbClr val="D9B45A"/>
                </a:solidFill>
                <a:latin typeface="Cormorant Garamond"/>
              </a:rPr>
              <a:t>3</a:t>
            </a:r>
          </a:p>
        </p:txBody>
      </p:sp>
      <p:sp>
        <p:nvSpPr>
          <p:cNvPr id="24" name="TextBox 23"/>
          <p:cNvSpPr txBox="1"/>
          <p:nvPr/>
        </p:nvSpPr>
        <p:spPr>
          <a:xfrm>
            <a:off x="6579393" y="1697235"/>
            <a:ext cx="1093812" cy="257175"/>
          </a:xfrm>
          <a:prstGeom prst="rect">
            <a:avLst/>
          </a:prstGeom>
          <a:noFill/>
        </p:spPr>
        <p:txBody>
          <a:bodyPr wrap="square">
            <a:spAutoFit/>
          </a:bodyPr>
          <a:lstStyle/>
          <a:p>
            <a:pPr algn="l"/>
            <a:r>
              <a:rPr sz="2250" b="0" i="0" spc="225">
                <a:solidFill>
                  <a:srgbClr val="F7F4EC"/>
                </a:solidFill>
                <a:latin typeface="Rubik"/>
              </a:rPr>
              <a:t>SCALE / EXIT</a:t>
            </a:r>
          </a:p>
        </p:txBody>
      </p:sp>
      <p:sp>
        <p:nvSpPr>
          <p:cNvPr id="25" name="TextBox 24"/>
          <p:cNvSpPr txBox="1"/>
          <p:nvPr/>
        </p:nvSpPr>
        <p:spPr>
          <a:xfrm>
            <a:off x="6350049" y="2011560"/>
            <a:ext cx="2012974" cy="231457"/>
          </a:xfrm>
          <a:prstGeom prst="rect">
            <a:avLst/>
          </a:prstGeom>
          <a:noFill/>
        </p:spPr>
        <p:txBody>
          <a:bodyPr wrap="square">
            <a:spAutoFit/>
          </a:bodyPr>
          <a:lstStyle/>
          <a:p>
            <a:pPr algn="l"/>
            <a:r>
              <a:rPr sz="2025" b="0" i="0">
                <a:solidFill>
                  <a:srgbClr val="F7F4EC"/>
                </a:solidFill>
                <a:latin typeface="Rubik"/>
              </a:rPr>
              <a:t>Quarterly business review:</a:t>
            </a:r>
          </a:p>
        </p:txBody>
      </p:sp>
      <p:sp>
        <p:nvSpPr>
          <p:cNvPr id="26" name="TextBox 25"/>
          <p:cNvSpPr txBox="1"/>
          <p:nvPr/>
        </p:nvSpPr>
        <p:spPr>
          <a:xfrm>
            <a:off x="6497910" y="2248718"/>
            <a:ext cx="1865114" cy="231457"/>
          </a:xfrm>
          <a:prstGeom prst="rect">
            <a:avLst/>
          </a:prstGeom>
          <a:noFill/>
        </p:spPr>
        <p:txBody>
          <a:bodyPr wrap="square">
            <a:spAutoFit/>
          </a:bodyPr>
          <a:lstStyle/>
          <a:p>
            <a:pPr algn="l"/>
            <a:r>
              <a:rPr sz="2025" b="0" i="0">
                <a:solidFill>
                  <a:srgbClr val="E4EBE1"/>
                </a:solidFill>
                <a:latin typeface="Rubik"/>
              </a:rPr>
              <a:t>Sales vs target</a:t>
            </a:r>
          </a:p>
        </p:txBody>
      </p:sp>
      <p:sp>
        <p:nvSpPr>
          <p:cNvPr id="27" name="TextBox 26"/>
          <p:cNvSpPr txBox="1"/>
          <p:nvPr/>
        </p:nvSpPr>
        <p:spPr>
          <a:xfrm>
            <a:off x="6497910" y="2441599"/>
            <a:ext cx="1865114" cy="231457"/>
          </a:xfrm>
          <a:prstGeom prst="rect">
            <a:avLst/>
          </a:prstGeom>
          <a:noFill/>
        </p:spPr>
        <p:txBody>
          <a:bodyPr wrap="square">
            <a:spAutoFit/>
          </a:bodyPr>
          <a:lstStyle/>
          <a:p>
            <a:pPr algn="l"/>
            <a:r>
              <a:rPr sz="2025" b="0" i="0">
                <a:solidFill>
                  <a:srgbClr val="E4EBE1"/>
                </a:solidFill>
                <a:latin typeface="Rubik"/>
              </a:rPr>
              <a:t>New accounts</a:t>
            </a:r>
          </a:p>
        </p:txBody>
      </p:sp>
      <p:sp>
        <p:nvSpPr>
          <p:cNvPr id="28" name="TextBox 27"/>
          <p:cNvSpPr txBox="1"/>
          <p:nvPr/>
        </p:nvSpPr>
        <p:spPr>
          <a:xfrm>
            <a:off x="6497910" y="2634481"/>
            <a:ext cx="1865114" cy="231457"/>
          </a:xfrm>
          <a:prstGeom prst="rect">
            <a:avLst/>
          </a:prstGeom>
          <a:noFill/>
        </p:spPr>
        <p:txBody>
          <a:bodyPr wrap="square">
            <a:spAutoFit/>
          </a:bodyPr>
          <a:lstStyle/>
          <a:p>
            <a:pPr algn="l"/>
            <a:r>
              <a:rPr sz="2025" b="0" i="0">
                <a:solidFill>
                  <a:srgbClr val="E4EBE1"/>
                </a:solidFill>
                <a:latin typeface="Rubik"/>
              </a:rPr>
              <a:t>Repeat rate</a:t>
            </a:r>
          </a:p>
        </p:txBody>
      </p:sp>
      <p:sp>
        <p:nvSpPr>
          <p:cNvPr id="29" name="TextBox 28"/>
          <p:cNvSpPr txBox="1"/>
          <p:nvPr/>
        </p:nvSpPr>
        <p:spPr>
          <a:xfrm>
            <a:off x="6497910" y="2827362"/>
            <a:ext cx="1865114" cy="231457"/>
          </a:xfrm>
          <a:prstGeom prst="rect">
            <a:avLst/>
          </a:prstGeom>
          <a:noFill/>
        </p:spPr>
        <p:txBody>
          <a:bodyPr wrap="square">
            <a:spAutoFit/>
          </a:bodyPr>
          <a:lstStyle/>
          <a:p>
            <a:pPr algn="l"/>
            <a:r>
              <a:rPr sz="2025" b="0" i="0">
                <a:solidFill>
                  <a:srgbClr val="E4EBE1"/>
                </a:solidFill>
                <a:latin typeface="Rubik"/>
              </a:rPr>
              <a:t>Gross margin</a:t>
            </a:r>
          </a:p>
        </p:txBody>
      </p:sp>
      <p:sp>
        <p:nvSpPr>
          <p:cNvPr id="30" name="TextBox 29"/>
          <p:cNvSpPr txBox="1"/>
          <p:nvPr/>
        </p:nvSpPr>
        <p:spPr>
          <a:xfrm>
            <a:off x="6497910" y="3020243"/>
            <a:ext cx="1865114" cy="231457"/>
          </a:xfrm>
          <a:prstGeom prst="rect">
            <a:avLst/>
          </a:prstGeom>
          <a:noFill/>
        </p:spPr>
        <p:txBody>
          <a:bodyPr wrap="square">
            <a:spAutoFit/>
          </a:bodyPr>
          <a:lstStyle/>
          <a:p>
            <a:pPr algn="l"/>
            <a:r>
              <a:rPr sz="2025" b="0" i="0">
                <a:solidFill>
                  <a:srgbClr val="E4EBE1"/>
                </a:solidFill>
                <a:latin typeface="Rubik"/>
              </a:rPr>
              <a:t>Marketing execution</a:t>
            </a:r>
          </a:p>
        </p:txBody>
      </p:sp>
      <p:sp>
        <p:nvSpPr>
          <p:cNvPr id="31" name="TextBox 30"/>
          <p:cNvSpPr txBox="1"/>
          <p:nvPr/>
        </p:nvSpPr>
        <p:spPr>
          <a:xfrm>
            <a:off x="6350049" y="3775769"/>
            <a:ext cx="2012974" cy="453330"/>
          </a:xfrm>
          <a:prstGeom prst="rect">
            <a:avLst/>
          </a:prstGeom>
          <a:noFill/>
        </p:spPr>
        <p:txBody>
          <a:bodyPr wrap="square">
            <a:spAutoFit/>
          </a:bodyPr>
          <a:lstStyle/>
          <a:p>
            <a:pPr algn="l"/>
            <a:r>
              <a:rPr sz="1800" b="0" i="1">
                <a:solidFill>
                  <a:srgbClr val="F7F4EC"/>
                </a:solidFill>
                <a:latin typeface="Rubik"/>
              </a:rPr>
              <a:t>Upgrade high performers; replace inactive partners.</a:t>
            </a:r>
          </a:p>
        </p:txBody>
      </p:sp>
      <p:sp>
        <p:nvSpPr>
          <p:cNvPr id="32" name="TextBox 31"/>
          <p:cNvSpPr txBox="1"/>
          <p:nvPr/>
        </p:nvSpPr>
        <p:spPr>
          <a:xfrm>
            <a:off x="609600" y="4678709"/>
            <a:ext cx="666750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33" name="TextBox 32"/>
          <p:cNvSpPr txBox="1"/>
          <p:nvPr/>
        </p:nvSpPr>
        <p:spPr>
          <a:xfrm>
            <a:off x="7772400" y="4678709"/>
            <a:ext cx="762000" cy="205740"/>
          </a:xfrm>
          <a:prstGeom prst="rect">
            <a:avLst/>
          </a:prstGeom>
          <a:noFill/>
        </p:spPr>
        <p:txBody>
          <a:bodyPr wrap="square">
            <a:spAutoFit/>
          </a:bodyPr>
          <a:lstStyle/>
          <a:p>
            <a:pPr algn="r"/>
            <a:r>
              <a:rPr sz="1800" b="0" i="0" spc="150">
                <a:solidFill>
                  <a:srgbClr val="8A6A22"/>
                </a:solidFill>
                <a:latin typeface="Rubik"/>
              </a:rPr>
              <a:t>27 / 35</a:t>
            </a:r>
          </a:p>
        </p:txBody>
      </p:sp>
    </p:spTree>
  </p:cSld>
  <p:clrMapOvr>
    <a:masterClrMapping/>
  </p:clrMapOvr>
  <p:transition dur="500" advClick="1">
    <p:fade/>
  </p:transition>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0.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5286747" cy="205740"/>
          </a:xfrm>
          <a:prstGeom prst="rect">
            <a:avLst/>
          </a:prstGeom>
          <a:noFill/>
        </p:spPr>
        <p:txBody>
          <a:bodyPr wrap="square">
            <a:spAutoFit/>
          </a:bodyPr>
          <a:lstStyle/>
          <a:p>
            <a:pPr algn="l"/>
            <a:r>
              <a:rPr sz="1800" b="0" i="0" spc="300">
                <a:solidFill>
                  <a:srgbClr val="8A6A22"/>
                </a:solidFill>
                <a:latin typeface="Rubik"/>
              </a:rPr>
              <a:t>MARKETING · 3-6</a:t>
            </a:r>
          </a:p>
        </p:txBody>
      </p:sp>
      <p:sp>
        <p:nvSpPr>
          <p:cNvPr id="4" name="TextBox 3"/>
          <p:cNvSpPr txBox="1"/>
          <p:nvPr/>
        </p:nvSpPr>
        <p:spPr>
          <a:xfrm>
            <a:off x="609600" y="721965"/>
            <a:ext cx="5286747" cy="548640"/>
          </a:xfrm>
          <a:prstGeom prst="rect">
            <a:avLst/>
          </a:prstGeom>
          <a:noFill/>
        </p:spPr>
        <p:txBody>
          <a:bodyPr wrap="square">
            <a:spAutoFit/>
          </a:bodyPr>
          <a:lstStyle/>
          <a:p>
            <a:pPr algn="l"/>
            <a:r>
              <a:rPr sz="4800" b="0" i="0">
                <a:solidFill>
                  <a:srgbClr val="14281C"/>
                </a:solidFill>
                <a:latin typeface="Cormorant Garamond"/>
              </a:rPr>
              <a:t>Distributor Economics &amp; Commercial Rules</a:t>
            </a:r>
          </a:p>
        </p:txBody>
      </p:sp>
      <p:sp>
        <p:nvSpPr>
          <p:cNvPr id="5" name="TextBox 4"/>
          <p:cNvSpPr txBox="1"/>
          <p:nvPr/>
        </p:nvSpPr>
        <p:spPr>
          <a:xfrm>
            <a:off x="609600" y="1171500"/>
            <a:ext cx="7924800" cy="222885"/>
          </a:xfrm>
          <a:prstGeom prst="rect">
            <a:avLst/>
          </a:prstGeom>
          <a:noFill/>
        </p:spPr>
        <p:txBody>
          <a:bodyPr wrap="square">
            <a:spAutoFit/>
          </a:bodyPr>
          <a:lstStyle/>
          <a:p>
            <a:pPr algn="l"/>
            <a:r>
              <a:rPr sz="1950" b="0" i="1">
                <a:solidFill>
                  <a:srgbClr val="3E6B4C"/>
                </a:solidFill>
                <a:latin typeface="Rubik"/>
              </a:rPr>
              <a:t>Indicative framework — negotiate market by market</a:t>
            </a:r>
          </a:p>
        </p:txBody>
      </p:sp>
      <p:sp>
        <p:nvSpPr>
          <p:cNvPr id="6" name="TextBox 5"/>
          <p:cNvSpPr txBox="1"/>
          <p:nvPr/>
        </p:nvSpPr>
        <p:spPr>
          <a:xfrm>
            <a:off x="766762" y="1597223"/>
            <a:ext cx="2251025" cy="480060"/>
          </a:xfrm>
          <a:prstGeom prst="rect">
            <a:avLst/>
          </a:prstGeom>
          <a:noFill/>
        </p:spPr>
        <p:txBody>
          <a:bodyPr wrap="square">
            <a:spAutoFit/>
          </a:bodyPr>
          <a:lstStyle/>
          <a:p>
            <a:pPr algn="l"/>
            <a:r>
              <a:rPr sz="4200" b="0" i="0">
                <a:solidFill>
                  <a:srgbClr val="8A6A22"/>
                </a:solidFill>
                <a:latin typeface="Cormorant Garamond"/>
              </a:rPr>
              <a:t>20–30%</a:t>
            </a:r>
          </a:p>
        </p:txBody>
      </p:sp>
      <p:sp>
        <p:nvSpPr>
          <p:cNvPr id="7" name="TextBox 6"/>
          <p:cNvSpPr txBox="1"/>
          <p:nvPr/>
        </p:nvSpPr>
        <p:spPr>
          <a:xfrm>
            <a:off x="766762" y="1915343"/>
            <a:ext cx="2251025" cy="205740"/>
          </a:xfrm>
          <a:prstGeom prst="rect">
            <a:avLst/>
          </a:prstGeom>
          <a:noFill/>
        </p:spPr>
        <p:txBody>
          <a:bodyPr wrap="square">
            <a:spAutoFit/>
          </a:bodyPr>
          <a:lstStyle/>
          <a:p>
            <a:pPr algn="l"/>
            <a:r>
              <a:rPr sz="1800" b="0" i="0" spc="225">
                <a:solidFill>
                  <a:srgbClr val="14281C"/>
                </a:solidFill>
                <a:latin typeface="Rubik"/>
              </a:rPr>
              <a:t>DISTRIBUTOR MARGIN</a:t>
            </a:r>
          </a:p>
        </p:txBody>
      </p:sp>
      <p:sp>
        <p:nvSpPr>
          <p:cNvPr id="8" name="TextBox 7"/>
          <p:cNvSpPr txBox="1"/>
          <p:nvPr/>
        </p:nvSpPr>
        <p:spPr>
          <a:xfrm>
            <a:off x="766762" y="2090588"/>
            <a:ext cx="2251025" cy="462781"/>
          </a:xfrm>
          <a:prstGeom prst="rect">
            <a:avLst/>
          </a:prstGeom>
          <a:noFill/>
        </p:spPr>
        <p:txBody>
          <a:bodyPr wrap="square">
            <a:spAutoFit/>
          </a:bodyPr>
          <a:lstStyle/>
          <a:p>
            <a:pPr algn="l"/>
            <a:r>
              <a:rPr sz="1800" b="0" i="0">
                <a:solidFill>
                  <a:srgbClr val="46534A"/>
                </a:solidFill>
                <a:latin typeface="Rubik"/>
              </a:rPr>
              <a:t>Target distributor gross margin: approximately 20–30%, depending on market and services provided.</a:t>
            </a:r>
          </a:p>
        </p:txBody>
      </p:sp>
      <p:sp>
        <p:nvSpPr>
          <p:cNvPr id="9" name="TextBox 8"/>
          <p:cNvSpPr txBox="1"/>
          <p:nvPr/>
        </p:nvSpPr>
        <p:spPr>
          <a:xfrm>
            <a:off x="3446412" y="1597223"/>
            <a:ext cx="2251099" cy="480060"/>
          </a:xfrm>
          <a:prstGeom prst="rect">
            <a:avLst/>
          </a:prstGeom>
          <a:noFill/>
        </p:spPr>
        <p:txBody>
          <a:bodyPr wrap="square">
            <a:spAutoFit/>
          </a:bodyPr>
          <a:lstStyle/>
          <a:p>
            <a:pPr algn="l"/>
            <a:r>
              <a:rPr sz="4200" b="0" i="0">
                <a:solidFill>
                  <a:srgbClr val="8A6A22"/>
                </a:solidFill>
                <a:latin typeface="Cormorant Garamond"/>
              </a:rPr>
              <a:t>Separate</a:t>
            </a:r>
          </a:p>
        </p:txBody>
      </p:sp>
      <p:sp>
        <p:nvSpPr>
          <p:cNvPr id="10" name="TextBox 9"/>
          <p:cNvSpPr txBox="1"/>
          <p:nvPr/>
        </p:nvSpPr>
        <p:spPr>
          <a:xfrm>
            <a:off x="3446412" y="1915343"/>
            <a:ext cx="2251099" cy="205740"/>
          </a:xfrm>
          <a:prstGeom prst="rect">
            <a:avLst/>
          </a:prstGeom>
          <a:noFill/>
        </p:spPr>
        <p:txBody>
          <a:bodyPr wrap="square">
            <a:spAutoFit/>
          </a:bodyPr>
          <a:lstStyle/>
          <a:p>
            <a:pPr algn="l"/>
            <a:r>
              <a:rPr sz="1800" b="0" i="0" spc="225">
                <a:solidFill>
                  <a:srgbClr val="14281C"/>
                </a:solidFill>
                <a:latin typeface="Rubik"/>
              </a:rPr>
              <a:t>RETAILER MARGIN</a:t>
            </a:r>
          </a:p>
        </p:txBody>
      </p:sp>
      <p:sp>
        <p:nvSpPr>
          <p:cNvPr id="11" name="TextBox 10"/>
          <p:cNvSpPr txBox="1"/>
          <p:nvPr/>
        </p:nvSpPr>
        <p:spPr>
          <a:xfrm>
            <a:off x="3446412" y="2090588"/>
            <a:ext cx="2251099" cy="462781"/>
          </a:xfrm>
          <a:prstGeom prst="rect">
            <a:avLst/>
          </a:prstGeom>
          <a:noFill/>
        </p:spPr>
        <p:txBody>
          <a:bodyPr wrap="square">
            <a:spAutoFit/>
          </a:bodyPr>
          <a:lstStyle/>
          <a:p>
            <a:pPr algn="l"/>
            <a:r>
              <a:rPr sz="1800" b="0" i="0">
                <a:solidFill>
                  <a:srgbClr val="46534A"/>
                </a:solidFill>
                <a:latin typeface="Rubik"/>
              </a:rPr>
              <a:t>Typically budgeted separately; protect consumer price positioning rather than competing on discount.</a:t>
            </a:r>
          </a:p>
        </p:txBody>
      </p:sp>
      <p:sp>
        <p:nvSpPr>
          <p:cNvPr id="12" name="TextBox 11"/>
          <p:cNvSpPr txBox="1"/>
          <p:nvPr/>
        </p:nvSpPr>
        <p:spPr>
          <a:xfrm>
            <a:off x="6126137" y="1597223"/>
            <a:ext cx="2251099" cy="480060"/>
          </a:xfrm>
          <a:prstGeom prst="rect">
            <a:avLst/>
          </a:prstGeom>
          <a:noFill/>
        </p:spPr>
        <p:txBody>
          <a:bodyPr wrap="square">
            <a:spAutoFit/>
          </a:bodyPr>
          <a:lstStyle/>
          <a:p>
            <a:pPr algn="l"/>
            <a:r>
              <a:rPr sz="4200" b="0" i="0">
                <a:solidFill>
                  <a:srgbClr val="8A6A22"/>
                </a:solidFill>
                <a:latin typeface="Cormorant Garamond"/>
              </a:rPr>
              <a:t>Step-up</a:t>
            </a:r>
          </a:p>
        </p:txBody>
      </p:sp>
      <p:sp>
        <p:nvSpPr>
          <p:cNvPr id="13" name="TextBox 12"/>
          <p:cNvSpPr txBox="1"/>
          <p:nvPr/>
        </p:nvSpPr>
        <p:spPr>
          <a:xfrm>
            <a:off x="6126137" y="1915343"/>
            <a:ext cx="2251099" cy="205740"/>
          </a:xfrm>
          <a:prstGeom prst="rect">
            <a:avLst/>
          </a:prstGeom>
          <a:noFill/>
        </p:spPr>
        <p:txBody>
          <a:bodyPr wrap="square">
            <a:spAutoFit/>
          </a:bodyPr>
          <a:lstStyle/>
          <a:p>
            <a:pPr algn="l"/>
            <a:r>
              <a:rPr sz="1800" b="0" i="0" spc="225">
                <a:solidFill>
                  <a:srgbClr val="14281C"/>
                </a:solidFill>
                <a:latin typeface="Rubik"/>
              </a:rPr>
              <a:t>ANNUAL TARGET</a:t>
            </a:r>
          </a:p>
        </p:txBody>
      </p:sp>
      <p:sp>
        <p:nvSpPr>
          <p:cNvPr id="14" name="TextBox 13"/>
          <p:cNvSpPr txBox="1"/>
          <p:nvPr/>
        </p:nvSpPr>
        <p:spPr>
          <a:xfrm>
            <a:off x="6126137" y="2090588"/>
            <a:ext cx="2251099" cy="308520"/>
          </a:xfrm>
          <a:prstGeom prst="rect">
            <a:avLst/>
          </a:prstGeom>
          <a:noFill/>
        </p:spPr>
        <p:txBody>
          <a:bodyPr wrap="square">
            <a:spAutoFit/>
          </a:bodyPr>
          <a:lstStyle/>
          <a:p>
            <a:pPr algn="l"/>
            <a:r>
              <a:rPr sz="1800" b="0" i="0">
                <a:solidFill>
                  <a:srgbClr val="46534A"/>
                </a:solidFill>
                <a:latin typeface="Rubik"/>
              </a:rPr>
              <a:t>Start with a realistic base, then step-up based on sell-out performance.</a:t>
            </a:r>
          </a:p>
        </p:txBody>
      </p:sp>
      <p:sp>
        <p:nvSpPr>
          <p:cNvPr id="15" name="TextBox 14"/>
          <p:cNvSpPr txBox="1"/>
          <p:nvPr/>
        </p:nvSpPr>
        <p:spPr>
          <a:xfrm>
            <a:off x="762000" y="3110805"/>
            <a:ext cx="2260550" cy="480060"/>
          </a:xfrm>
          <a:prstGeom prst="rect">
            <a:avLst/>
          </a:prstGeom>
          <a:noFill/>
        </p:spPr>
        <p:txBody>
          <a:bodyPr wrap="square">
            <a:spAutoFit/>
          </a:bodyPr>
          <a:lstStyle/>
          <a:p>
            <a:pPr algn="l"/>
            <a:r>
              <a:rPr sz="4200" b="0" i="0">
                <a:solidFill>
                  <a:srgbClr val="D9B45A"/>
                </a:solidFill>
                <a:latin typeface="Cormorant Garamond"/>
              </a:rPr>
              <a:t>3–5%</a:t>
            </a:r>
          </a:p>
        </p:txBody>
      </p:sp>
      <p:sp>
        <p:nvSpPr>
          <p:cNvPr id="16" name="TextBox 15"/>
          <p:cNvSpPr txBox="1"/>
          <p:nvPr/>
        </p:nvSpPr>
        <p:spPr>
          <a:xfrm>
            <a:off x="762000" y="3428925"/>
            <a:ext cx="2260550" cy="205740"/>
          </a:xfrm>
          <a:prstGeom prst="rect">
            <a:avLst/>
          </a:prstGeom>
          <a:noFill/>
        </p:spPr>
        <p:txBody>
          <a:bodyPr wrap="square">
            <a:spAutoFit/>
          </a:bodyPr>
          <a:lstStyle/>
          <a:p>
            <a:pPr algn="l"/>
            <a:r>
              <a:rPr sz="1800" b="0" i="0" spc="225">
                <a:solidFill>
                  <a:srgbClr val="F7F4EC"/>
                </a:solidFill>
                <a:latin typeface="Rubik"/>
              </a:rPr>
              <a:t>MDF</a:t>
            </a:r>
          </a:p>
        </p:txBody>
      </p:sp>
      <p:sp>
        <p:nvSpPr>
          <p:cNvPr id="17" name="TextBox 16"/>
          <p:cNvSpPr txBox="1"/>
          <p:nvPr/>
        </p:nvSpPr>
        <p:spPr>
          <a:xfrm>
            <a:off x="762000" y="3604170"/>
            <a:ext cx="2260550" cy="462781"/>
          </a:xfrm>
          <a:prstGeom prst="rect">
            <a:avLst/>
          </a:prstGeom>
          <a:noFill/>
        </p:spPr>
        <p:txBody>
          <a:bodyPr wrap="square">
            <a:spAutoFit/>
          </a:bodyPr>
          <a:lstStyle/>
          <a:p>
            <a:pPr algn="l"/>
            <a:r>
              <a:rPr sz="1800" b="0" i="0">
                <a:solidFill>
                  <a:srgbClr val="C9D6C4"/>
                </a:solidFill>
                <a:latin typeface="Rubik"/>
              </a:rPr>
              <a:t>Marketing Development Fund: 3–5% of distributor net sales, tied to approved activities and evidence.</a:t>
            </a:r>
          </a:p>
        </p:txBody>
      </p:sp>
      <p:sp>
        <p:nvSpPr>
          <p:cNvPr id="18" name="TextBox 17"/>
          <p:cNvSpPr txBox="1"/>
          <p:nvPr/>
        </p:nvSpPr>
        <p:spPr>
          <a:xfrm>
            <a:off x="3446412" y="3115567"/>
            <a:ext cx="2251099" cy="480060"/>
          </a:xfrm>
          <a:prstGeom prst="rect">
            <a:avLst/>
          </a:prstGeom>
          <a:noFill/>
        </p:spPr>
        <p:txBody>
          <a:bodyPr wrap="square">
            <a:spAutoFit/>
          </a:bodyPr>
          <a:lstStyle/>
          <a:p>
            <a:pPr algn="l"/>
            <a:r>
              <a:rPr sz="4200" b="0" i="0">
                <a:solidFill>
                  <a:srgbClr val="8A6A22"/>
                </a:solidFill>
                <a:latin typeface="Cormorant Garamond"/>
              </a:rPr>
              <a:t>Proven first</a:t>
            </a:r>
          </a:p>
        </p:txBody>
      </p:sp>
      <p:sp>
        <p:nvSpPr>
          <p:cNvPr id="19" name="TextBox 18"/>
          <p:cNvSpPr txBox="1"/>
          <p:nvPr/>
        </p:nvSpPr>
        <p:spPr>
          <a:xfrm>
            <a:off x="3446412" y="3433688"/>
            <a:ext cx="2251099" cy="205740"/>
          </a:xfrm>
          <a:prstGeom prst="rect">
            <a:avLst/>
          </a:prstGeom>
          <a:noFill/>
        </p:spPr>
        <p:txBody>
          <a:bodyPr wrap="square">
            <a:spAutoFit/>
          </a:bodyPr>
          <a:lstStyle/>
          <a:p>
            <a:pPr algn="l"/>
            <a:r>
              <a:rPr sz="1800" b="0" i="0" spc="225">
                <a:solidFill>
                  <a:srgbClr val="14281C"/>
                </a:solidFill>
                <a:latin typeface="Rubik"/>
              </a:rPr>
              <a:t>EXCLUSIVITY</a:t>
            </a:r>
          </a:p>
        </p:txBody>
      </p:sp>
      <p:sp>
        <p:nvSpPr>
          <p:cNvPr id="20" name="TextBox 19"/>
          <p:cNvSpPr txBox="1"/>
          <p:nvPr/>
        </p:nvSpPr>
        <p:spPr>
          <a:xfrm>
            <a:off x="3446412" y="3608933"/>
            <a:ext cx="2251099" cy="462781"/>
          </a:xfrm>
          <a:prstGeom prst="rect">
            <a:avLst/>
          </a:prstGeom>
          <a:noFill/>
        </p:spPr>
        <p:txBody>
          <a:bodyPr wrap="square">
            <a:spAutoFit/>
          </a:bodyPr>
          <a:lstStyle/>
          <a:p>
            <a:pPr algn="l"/>
            <a:r>
              <a:rPr sz="1800" b="0" i="0">
                <a:solidFill>
                  <a:srgbClr val="46534A"/>
                </a:solidFill>
                <a:latin typeface="Rubik"/>
              </a:rPr>
              <a:t>Only after performance is proven; use minimum purchase and active-account thresholds.</a:t>
            </a:r>
          </a:p>
        </p:txBody>
      </p:sp>
      <p:sp>
        <p:nvSpPr>
          <p:cNvPr id="21" name="TextBox 20"/>
          <p:cNvSpPr txBox="1"/>
          <p:nvPr/>
        </p:nvSpPr>
        <p:spPr>
          <a:xfrm>
            <a:off x="6126137" y="3115567"/>
            <a:ext cx="2251099" cy="480060"/>
          </a:xfrm>
          <a:prstGeom prst="rect">
            <a:avLst/>
          </a:prstGeom>
          <a:noFill/>
        </p:spPr>
        <p:txBody>
          <a:bodyPr wrap="square">
            <a:spAutoFit/>
          </a:bodyPr>
          <a:lstStyle/>
          <a:p>
            <a:pPr algn="l"/>
            <a:r>
              <a:rPr sz="4200" b="0" i="0">
                <a:solidFill>
                  <a:srgbClr val="8A6A22"/>
                </a:solidFill>
                <a:latin typeface="Cormorant Garamond"/>
              </a:rPr>
              <a:t>Quarterly</a:t>
            </a:r>
          </a:p>
        </p:txBody>
      </p:sp>
      <p:sp>
        <p:nvSpPr>
          <p:cNvPr id="22" name="TextBox 21"/>
          <p:cNvSpPr txBox="1"/>
          <p:nvPr/>
        </p:nvSpPr>
        <p:spPr>
          <a:xfrm>
            <a:off x="6126137" y="3433688"/>
            <a:ext cx="2251099" cy="205740"/>
          </a:xfrm>
          <a:prstGeom prst="rect">
            <a:avLst/>
          </a:prstGeom>
          <a:noFill/>
        </p:spPr>
        <p:txBody>
          <a:bodyPr wrap="square">
            <a:spAutoFit/>
          </a:bodyPr>
          <a:lstStyle/>
          <a:p>
            <a:pPr algn="l"/>
            <a:r>
              <a:rPr sz="1800" b="0" i="0" spc="225">
                <a:solidFill>
                  <a:srgbClr val="14281C"/>
                </a:solidFill>
                <a:latin typeface="Rubik"/>
              </a:rPr>
              <a:t>REPORTING</a:t>
            </a:r>
          </a:p>
        </p:txBody>
      </p:sp>
      <p:sp>
        <p:nvSpPr>
          <p:cNvPr id="23" name="TextBox 22"/>
          <p:cNvSpPr txBox="1"/>
          <p:nvPr/>
        </p:nvSpPr>
        <p:spPr>
          <a:xfrm>
            <a:off x="6126137" y="3608933"/>
            <a:ext cx="2251099" cy="462781"/>
          </a:xfrm>
          <a:prstGeom prst="rect">
            <a:avLst/>
          </a:prstGeom>
          <a:noFill/>
        </p:spPr>
        <p:txBody>
          <a:bodyPr wrap="square">
            <a:spAutoFit/>
          </a:bodyPr>
          <a:lstStyle/>
          <a:p>
            <a:pPr algn="l"/>
            <a:r>
              <a:rPr sz="1800" b="0" i="0">
                <a:solidFill>
                  <a:srgbClr val="46534A"/>
                </a:solidFill>
                <a:latin typeface="Rubik"/>
              </a:rPr>
              <a:t>Sell-in / sell-out / inventory reporting should be mandatory for strategic markets.</a:t>
            </a:r>
          </a:p>
        </p:txBody>
      </p:sp>
      <p:sp>
        <p:nvSpPr>
          <p:cNvPr id="24" name="TextBox 23"/>
          <p:cNvSpPr txBox="1"/>
          <p:nvPr/>
        </p:nvSpPr>
        <p:spPr>
          <a:xfrm>
            <a:off x="609600" y="4678709"/>
            <a:ext cx="666750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25" name="TextBox 24"/>
          <p:cNvSpPr txBox="1"/>
          <p:nvPr/>
        </p:nvSpPr>
        <p:spPr>
          <a:xfrm>
            <a:off x="7772400" y="4678709"/>
            <a:ext cx="762000" cy="205740"/>
          </a:xfrm>
          <a:prstGeom prst="rect">
            <a:avLst/>
          </a:prstGeom>
          <a:noFill/>
        </p:spPr>
        <p:txBody>
          <a:bodyPr wrap="square">
            <a:spAutoFit/>
          </a:bodyPr>
          <a:lstStyle/>
          <a:p>
            <a:pPr algn="r"/>
            <a:r>
              <a:rPr sz="1800" b="0" i="0" spc="150">
                <a:solidFill>
                  <a:srgbClr val="8A6A22"/>
                </a:solidFill>
                <a:latin typeface="Rubik"/>
              </a:rPr>
              <a:t>28 / 35</a:t>
            </a:r>
          </a:p>
        </p:txBody>
      </p:sp>
    </p:spTree>
  </p:cSld>
  <p:clrMapOvr>
    <a:masterClrMapping/>
  </p:clrMapOvr>
  <p:transition dur="500" advClick="1">
    <p:fade/>
  </p:transition>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1.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pic>
        <p:nvPicPr>
          <p:cNvPr id="4" name="Picture 3"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pic>
        <p:nvPicPr>
          <p:cNvPr id="5" name="Picture 4"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pic>
        <p:nvPicPr>
          <p:cNvPr id="6" name="Picture 5"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pic>
        <p:nvPicPr>
          <p:cNvPr id="7" name="Picture 6"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8" name="TextBox 7"/>
          <p:cNvSpPr txBox="1"/>
          <p:nvPr/>
        </p:nvSpPr>
        <p:spPr>
          <a:xfrm>
            <a:off x="714375" y="533400"/>
            <a:ext cx="754112" cy="205740"/>
          </a:xfrm>
          <a:prstGeom prst="rect">
            <a:avLst/>
          </a:prstGeom>
          <a:noFill/>
        </p:spPr>
        <p:txBody>
          <a:bodyPr wrap="square">
            <a:spAutoFit/>
          </a:bodyPr>
          <a:lstStyle/>
          <a:p>
            <a:pPr algn="l"/>
            <a:r>
              <a:rPr sz="1800" b="0" i="0" spc="300">
                <a:solidFill>
                  <a:srgbClr val="8A6A22"/>
                </a:solidFill>
                <a:latin typeface="Rubik"/>
              </a:rPr>
              <a:t>CONTENTS</a:t>
            </a:r>
          </a:p>
        </p:txBody>
      </p:sp>
      <p:sp>
        <p:nvSpPr>
          <p:cNvPr id="9" name="TextBox 8"/>
          <p:cNvSpPr txBox="1"/>
          <p:nvPr/>
        </p:nvSpPr>
        <p:spPr>
          <a:xfrm>
            <a:off x="714375" y="695325"/>
            <a:ext cx="1030113" cy="617220"/>
          </a:xfrm>
          <a:prstGeom prst="rect">
            <a:avLst/>
          </a:prstGeom>
          <a:noFill/>
        </p:spPr>
        <p:txBody>
          <a:bodyPr wrap="square">
            <a:spAutoFit/>
          </a:bodyPr>
          <a:lstStyle/>
          <a:p>
            <a:pPr algn="l"/>
            <a:r>
              <a:rPr sz="5400" b="0" i="0">
                <a:solidFill>
                  <a:srgbClr val="14281C"/>
                </a:solidFill>
                <a:latin typeface="Cormorant Garamond"/>
              </a:rPr>
              <a:t>Agenda</a:t>
            </a:r>
          </a:p>
        </p:txBody>
      </p:sp>
      <p:sp>
        <p:nvSpPr>
          <p:cNvPr id="10" name="TextBox 9"/>
          <p:cNvSpPr txBox="1"/>
          <p:nvPr/>
        </p:nvSpPr>
        <p:spPr>
          <a:xfrm>
            <a:off x="838200" y="1524000"/>
            <a:ext cx="323701" cy="720090"/>
          </a:xfrm>
          <a:prstGeom prst="rect">
            <a:avLst/>
          </a:prstGeom>
          <a:noFill/>
        </p:spPr>
        <p:txBody>
          <a:bodyPr wrap="square">
            <a:spAutoFit/>
          </a:bodyPr>
          <a:lstStyle/>
          <a:p>
            <a:pPr algn="l"/>
            <a:r>
              <a:rPr sz="6300" b="0" i="0">
                <a:solidFill>
                  <a:srgbClr val="D9B45A"/>
                </a:solidFill>
                <a:latin typeface="Cormorant Garamond"/>
              </a:rPr>
              <a:t>01</a:t>
            </a:r>
          </a:p>
        </p:txBody>
      </p:sp>
      <p:sp>
        <p:nvSpPr>
          <p:cNvPr id="11" name="TextBox 10"/>
          <p:cNvSpPr txBox="1"/>
          <p:nvPr/>
        </p:nvSpPr>
        <p:spPr>
          <a:xfrm>
            <a:off x="838200" y="3142803"/>
            <a:ext cx="1143000" cy="360045"/>
          </a:xfrm>
          <a:prstGeom prst="rect">
            <a:avLst/>
          </a:prstGeom>
          <a:noFill/>
        </p:spPr>
        <p:txBody>
          <a:bodyPr wrap="square">
            <a:spAutoFit/>
          </a:bodyPr>
          <a:lstStyle/>
          <a:p>
            <a:pPr algn="l"/>
            <a:r>
              <a:rPr sz="3150" b="0" i="0">
                <a:solidFill>
                  <a:srgbClr val="F7F4EC"/>
                </a:solidFill>
                <a:latin typeface="Cormorant Garamond"/>
              </a:rPr>
              <a:t>Product</a:t>
            </a:r>
          </a:p>
        </p:txBody>
      </p:sp>
      <p:sp>
        <p:nvSpPr>
          <p:cNvPr id="12" name="TextBox 11"/>
          <p:cNvSpPr txBox="1"/>
          <p:nvPr/>
        </p:nvSpPr>
        <p:spPr>
          <a:xfrm>
            <a:off x="714375" y="3619500"/>
            <a:ext cx="1390650" cy="308520"/>
          </a:xfrm>
          <a:prstGeom prst="rect">
            <a:avLst/>
          </a:prstGeom>
          <a:noFill/>
        </p:spPr>
        <p:txBody>
          <a:bodyPr wrap="square">
            <a:spAutoFit/>
          </a:bodyPr>
          <a:lstStyle/>
          <a:p>
            <a:pPr algn="ctr"/>
            <a:r>
              <a:rPr sz="1800" b="0" i="0">
                <a:solidFill>
                  <a:srgbClr val="6B776E"/>
                </a:solidFill>
                <a:latin typeface="Rubik"/>
              </a:rPr>
              <a:t>Range · Pricing · Flavored · MOHRA</a:t>
            </a:r>
          </a:p>
        </p:txBody>
      </p:sp>
      <p:sp>
        <p:nvSpPr>
          <p:cNvPr id="13" name="TextBox 12"/>
          <p:cNvSpPr txBox="1"/>
          <p:nvPr/>
        </p:nvSpPr>
        <p:spPr>
          <a:xfrm>
            <a:off x="2419350" y="1524000"/>
            <a:ext cx="351680" cy="720090"/>
          </a:xfrm>
          <a:prstGeom prst="rect">
            <a:avLst/>
          </a:prstGeom>
          <a:noFill/>
        </p:spPr>
        <p:txBody>
          <a:bodyPr wrap="square">
            <a:spAutoFit/>
          </a:bodyPr>
          <a:lstStyle/>
          <a:p>
            <a:pPr algn="l"/>
            <a:r>
              <a:rPr sz="6300" b="0" i="0">
                <a:solidFill>
                  <a:srgbClr val="D9B45A"/>
                </a:solidFill>
                <a:latin typeface="Cormorant Garamond"/>
              </a:rPr>
              <a:t>02</a:t>
            </a:r>
          </a:p>
        </p:txBody>
      </p:sp>
      <p:sp>
        <p:nvSpPr>
          <p:cNvPr id="14" name="TextBox 13"/>
          <p:cNvSpPr txBox="1"/>
          <p:nvPr/>
        </p:nvSpPr>
        <p:spPr>
          <a:xfrm>
            <a:off x="2419350" y="3142803"/>
            <a:ext cx="1143000" cy="360045"/>
          </a:xfrm>
          <a:prstGeom prst="rect">
            <a:avLst/>
          </a:prstGeom>
          <a:noFill/>
        </p:spPr>
        <p:txBody>
          <a:bodyPr wrap="square">
            <a:spAutoFit/>
          </a:bodyPr>
          <a:lstStyle/>
          <a:p>
            <a:pPr algn="l"/>
            <a:r>
              <a:rPr sz="3150" b="0" i="0">
                <a:solidFill>
                  <a:srgbClr val="F7F4EC"/>
                </a:solidFill>
                <a:latin typeface="Cormorant Garamond"/>
              </a:rPr>
              <a:t>Customers</a:t>
            </a:r>
          </a:p>
        </p:txBody>
      </p:sp>
      <p:sp>
        <p:nvSpPr>
          <p:cNvPr id="15" name="TextBox 14"/>
          <p:cNvSpPr txBox="1"/>
          <p:nvPr/>
        </p:nvSpPr>
        <p:spPr>
          <a:xfrm>
            <a:off x="2295525" y="3619500"/>
            <a:ext cx="1390650" cy="308520"/>
          </a:xfrm>
          <a:prstGeom prst="rect">
            <a:avLst/>
          </a:prstGeom>
          <a:noFill/>
        </p:spPr>
        <p:txBody>
          <a:bodyPr wrap="square">
            <a:spAutoFit/>
          </a:bodyPr>
          <a:lstStyle/>
          <a:p>
            <a:pPr algn="ctr"/>
            <a:r>
              <a:rPr sz="1800" b="0" i="0">
                <a:solidFill>
                  <a:srgbClr val="6B776E"/>
                </a:solidFill>
                <a:latin typeface="Rubik"/>
              </a:rPr>
              <a:t>Segments · Markets · B2B · Unit economics</a:t>
            </a:r>
          </a:p>
        </p:txBody>
      </p:sp>
      <p:sp>
        <p:nvSpPr>
          <p:cNvPr id="16" name="TextBox 15"/>
          <p:cNvSpPr txBox="1"/>
          <p:nvPr/>
        </p:nvSpPr>
        <p:spPr>
          <a:xfrm>
            <a:off x="4000500" y="1524000"/>
            <a:ext cx="347662" cy="720090"/>
          </a:xfrm>
          <a:prstGeom prst="rect">
            <a:avLst/>
          </a:prstGeom>
          <a:noFill/>
        </p:spPr>
        <p:txBody>
          <a:bodyPr wrap="square">
            <a:spAutoFit/>
          </a:bodyPr>
          <a:lstStyle/>
          <a:p>
            <a:pPr algn="l"/>
            <a:r>
              <a:rPr sz="6300" b="0" i="0">
                <a:solidFill>
                  <a:srgbClr val="D9B45A"/>
                </a:solidFill>
                <a:latin typeface="Cormorant Garamond"/>
              </a:rPr>
              <a:t>03</a:t>
            </a:r>
          </a:p>
        </p:txBody>
      </p:sp>
      <p:sp>
        <p:nvSpPr>
          <p:cNvPr id="17" name="TextBox 16"/>
          <p:cNvSpPr txBox="1"/>
          <p:nvPr/>
        </p:nvSpPr>
        <p:spPr>
          <a:xfrm>
            <a:off x="4000500" y="3142803"/>
            <a:ext cx="1143000" cy="360045"/>
          </a:xfrm>
          <a:prstGeom prst="rect">
            <a:avLst/>
          </a:prstGeom>
          <a:noFill/>
        </p:spPr>
        <p:txBody>
          <a:bodyPr wrap="square">
            <a:spAutoFit/>
          </a:bodyPr>
          <a:lstStyle/>
          <a:p>
            <a:pPr algn="l"/>
            <a:r>
              <a:rPr sz="3150" b="0" i="0">
                <a:solidFill>
                  <a:srgbClr val="F7F4EC"/>
                </a:solidFill>
                <a:latin typeface="Cormorant Garamond"/>
              </a:rPr>
              <a:t>Marketing</a:t>
            </a:r>
          </a:p>
        </p:txBody>
      </p:sp>
      <p:sp>
        <p:nvSpPr>
          <p:cNvPr id="18" name="TextBox 17"/>
          <p:cNvSpPr txBox="1"/>
          <p:nvPr/>
        </p:nvSpPr>
        <p:spPr>
          <a:xfrm>
            <a:off x="3876675" y="3619500"/>
            <a:ext cx="1390650" cy="462781"/>
          </a:xfrm>
          <a:prstGeom prst="rect">
            <a:avLst/>
          </a:prstGeom>
          <a:noFill/>
        </p:spPr>
        <p:txBody>
          <a:bodyPr wrap="square">
            <a:spAutoFit/>
          </a:bodyPr>
          <a:lstStyle/>
          <a:p>
            <a:pPr algn="ctr"/>
            <a:r>
              <a:rPr sz="1800" b="0" i="0">
                <a:solidFill>
                  <a:srgbClr val="6B776E"/>
                </a:solidFill>
                <a:latin typeface="Rubik"/>
              </a:rPr>
              <a:t>Content · KPIs · Operating model · Budget · Distributors</a:t>
            </a:r>
          </a:p>
        </p:txBody>
      </p:sp>
      <p:sp>
        <p:nvSpPr>
          <p:cNvPr id="19" name="TextBox 18"/>
          <p:cNvSpPr txBox="1"/>
          <p:nvPr/>
        </p:nvSpPr>
        <p:spPr>
          <a:xfrm>
            <a:off x="5581650" y="1524000"/>
            <a:ext cx="372516" cy="720090"/>
          </a:xfrm>
          <a:prstGeom prst="rect">
            <a:avLst/>
          </a:prstGeom>
          <a:noFill/>
        </p:spPr>
        <p:txBody>
          <a:bodyPr wrap="square">
            <a:spAutoFit/>
          </a:bodyPr>
          <a:lstStyle/>
          <a:p>
            <a:pPr algn="l"/>
            <a:r>
              <a:rPr sz="6300" b="0" i="0">
                <a:solidFill>
                  <a:srgbClr val="D9B45A"/>
                </a:solidFill>
                <a:latin typeface="Cormorant Garamond"/>
              </a:rPr>
              <a:t>04</a:t>
            </a:r>
          </a:p>
        </p:txBody>
      </p:sp>
      <p:sp>
        <p:nvSpPr>
          <p:cNvPr id="20" name="TextBox 19"/>
          <p:cNvSpPr txBox="1"/>
          <p:nvPr/>
        </p:nvSpPr>
        <p:spPr>
          <a:xfrm>
            <a:off x="5581650" y="3142803"/>
            <a:ext cx="1143000" cy="360045"/>
          </a:xfrm>
          <a:prstGeom prst="rect">
            <a:avLst/>
          </a:prstGeom>
          <a:noFill/>
        </p:spPr>
        <p:txBody>
          <a:bodyPr wrap="square">
            <a:spAutoFit/>
          </a:bodyPr>
          <a:lstStyle/>
          <a:p>
            <a:pPr algn="l"/>
            <a:r>
              <a:rPr sz="3150" b="0" i="0">
                <a:solidFill>
                  <a:srgbClr val="F7F4EC"/>
                </a:solidFill>
                <a:latin typeface="Cormorant Garamond"/>
              </a:rPr>
              <a:t>Financial Plan</a:t>
            </a:r>
          </a:p>
        </p:txBody>
      </p:sp>
      <p:sp>
        <p:nvSpPr>
          <p:cNvPr id="21" name="TextBox 20"/>
          <p:cNvSpPr txBox="1"/>
          <p:nvPr/>
        </p:nvSpPr>
        <p:spPr>
          <a:xfrm>
            <a:off x="5457825" y="3619500"/>
            <a:ext cx="1390650" cy="308520"/>
          </a:xfrm>
          <a:prstGeom prst="rect">
            <a:avLst/>
          </a:prstGeom>
          <a:noFill/>
        </p:spPr>
        <p:txBody>
          <a:bodyPr wrap="square">
            <a:spAutoFit/>
          </a:bodyPr>
          <a:lstStyle/>
          <a:p>
            <a:pPr algn="ctr"/>
            <a:r>
              <a:rPr sz="1800" b="0" i="0">
                <a:solidFill>
                  <a:srgbClr val="14281C"/>
                </a:solidFill>
                <a:latin typeface="Rubik"/>
              </a:rPr>
              <a:t>P&amp;L · Balance sheet · Investment &amp; ROI</a:t>
            </a:r>
          </a:p>
        </p:txBody>
      </p:sp>
      <p:sp>
        <p:nvSpPr>
          <p:cNvPr id="22" name="TextBox 21"/>
          <p:cNvSpPr txBox="1"/>
          <p:nvPr/>
        </p:nvSpPr>
        <p:spPr>
          <a:xfrm>
            <a:off x="7162800" y="1524000"/>
            <a:ext cx="354508" cy="720090"/>
          </a:xfrm>
          <a:prstGeom prst="rect">
            <a:avLst/>
          </a:prstGeom>
          <a:noFill/>
        </p:spPr>
        <p:txBody>
          <a:bodyPr wrap="squar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squar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square">
            <a:spAutoFit/>
          </a:bodyPr>
          <a:lstStyle/>
          <a:p>
            <a:pPr algn="ctr"/>
            <a:r>
              <a:rPr sz="1800" b="0" i="0">
                <a:solidFill>
                  <a:srgbClr val="6B776E"/>
                </a:solidFill>
                <a:latin typeface="Rubik"/>
              </a:rPr>
              <a:t>12-month plan — 2027</a:t>
            </a:r>
          </a:p>
        </p:txBody>
      </p:sp>
    </p:spTree>
  </p:cSld>
  <p:clrMapOvr>
    <a:masterClrMapping/>
  </p:clrMapOvr>
  <p:transition dur="500" advClick="1">
    <p:fade/>
  </p:transition>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2.png"/>
          <p:cNvPicPr>
            <a:picLocks noChangeAspect="1"/>
          </p:cNvPicPr>
          <p:nvPr/>
        </p:nvPicPr>
        <p:blipFill>
          <a:blip r:embed="rId2"/>
          <a:stretch>
            <a:fillRect/>
          </a:stretch>
        </p:blipFill>
        <p:spPr>
          <a:xfrm>
            <a:off x="0" y="0"/>
            <a:ext cx="9144000" cy="5143500"/>
          </a:xfrm>
          <a:prstGeom prst="rect">
            <a:avLst/>
          </a:prstGeom>
        </p:spPr>
      </p:pic>
      <p:pic>
        <p:nvPicPr>
          <p:cNvPr id="3" name="Picture 2" descr="be41f0905ed12fd98ee752a8fbcc25b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square">
            <a:spAutoFit/>
          </a:bodyPr>
          <a:lstStyle/>
          <a:p>
            <a:pPr algn="l"/>
            <a:r>
              <a:rPr sz="19500" b="0" i="0">
                <a:solidFill>
                  <a:srgbClr val="D9B45A"/>
                </a:solidFill>
                <a:latin typeface="Cormorant Garamond"/>
              </a:rPr>
              <a:t>04</a:t>
            </a:r>
          </a:p>
        </p:txBody>
      </p:sp>
      <p:sp>
        <p:nvSpPr>
          <p:cNvPr id="5" name="TextBox 4"/>
          <p:cNvSpPr txBox="1"/>
          <p:nvPr/>
        </p:nvSpPr>
        <p:spPr>
          <a:xfrm>
            <a:off x="609600" y="2286000"/>
            <a:ext cx="3619500" cy="960120"/>
          </a:xfrm>
          <a:prstGeom prst="rect">
            <a:avLst/>
          </a:prstGeom>
          <a:noFill/>
        </p:spPr>
        <p:txBody>
          <a:bodyPr wrap="square">
            <a:spAutoFit/>
          </a:bodyPr>
          <a:lstStyle/>
          <a:p>
            <a:pPr algn="l"/>
            <a:r>
              <a:rPr sz="8400" b="0" i="0">
                <a:solidFill>
                  <a:srgbClr val="F7F4EC"/>
                </a:solidFill>
                <a:latin typeface="Cormorant Garamond"/>
              </a:rPr>
              <a:t>Financial Plan</a:t>
            </a:r>
          </a:p>
        </p:txBody>
      </p:sp>
      <p:sp>
        <p:nvSpPr>
          <p:cNvPr id="6" name="TextBox 5"/>
          <p:cNvSpPr txBox="1"/>
          <p:nvPr/>
        </p:nvSpPr>
        <p:spPr>
          <a:xfrm>
            <a:off x="609600" y="3048000"/>
            <a:ext cx="3619500" cy="257175"/>
          </a:xfrm>
          <a:prstGeom prst="rect">
            <a:avLst/>
          </a:prstGeom>
          <a:noFill/>
        </p:spPr>
        <p:txBody>
          <a:bodyPr wrap="squar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square">
            <a:spAutoFit/>
          </a:bodyPr>
          <a:lstStyle/>
          <a:p>
            <a:pPr algn="l"/>
            <a:r>
              <a:rPr sz="3000" b="0" i="1">
                <a:solidFill>
                  <a:srgbClr val="D9B45A"/>
                </a:solidFill>
                <a:latin typeface="Cormorant Garamond"/>
              </a:rPr>
              <a:t>P&amp;L · Balance sheet · Investment &amp; ROI</a:t>
            </a:r>
          </a:p>
        </p:txBody>
      </p:sp>
    </p:spTree>
  </p:cSld>
  <p:clrMapOvr>
    <a:masterClrMapping/>
  </p:clrMapOvr>
  <p:transition dur="500" advClick="1">
    <p:fade/>
  </p:transition>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3.png"/>
          <p:cNvPicPr>
            <a:picLocks noChangeAspect="1"/>
          </p:cNvPicPr>
          <p:nvPr/>
        </p:nvPicPr>
        <p:blipFill>
          <a:blip r:embed="rId2"/>
          <a:stretch>
            <a:fillRect/>
          </a:stretch>
        </p:blipFill>
        <p:spPr>
          <a:xfrm>
            <a:off x="0" y="0"/>
            <a:ext cx="9144000" cy="5143500"/>
          </a:xfrm>
          <a:prstGeom prst="rect">
            <a:avLst/>
          </a:prstGeom>
        </p:spPr>
      </p:pic>
      <p:pic>
        <p:nvPicPr>
          <p:cNvPr id="3" name="Picture 2" descr="7c2686128e0f47bb4883100ebb9bfc80.png"/>
          <p:cNvPicPr>
            <a:picLocks noChangeAspect="1"/>
          </p:cNvPicPr>
          <p:nvPr/>
        </p:nvPicPr>
        <p:blipFill>
          <a:blip r:embed="rId3"/>
          <a:stretch>
            <a:fillRect/>
          </a:stretch>
        </p:blipFill>
        <p:spPr>
          <a:xfrm>
            <a:off x="623887" y="1176337"/>
            <a:ext cx="7666136" cy="3268116"/>
          </a:xfrm>
          <a:prstGeom prst="rect">
            <a:avLst/>
          </a:prstGeom>
        </p:spPr>
      </p:pic>
      <p:sp>
        <p:nvSpPr>
          <p:cNvPr id="4" name="TextBox 3"/>
          <p:cNvSpPr txBox="1"/>
          <p:nvPr/>
        </p:nvSpPr>
        <p:spPr>
          <a:xfrm>
            <a:off x="609600" y="4678709"/>
            <a:ext cx="6191250" cy="205740"/>
          </a:xfrm>
          <a:prstGeom prst="rect">
            <a:avLst/>
          </a:prstGeom>
          <a:noFill/>
        </p:spPr>
        <p:txBody>
          <a:bodyPr wrap="square">
            <a:spAutoFit/>
          </a:bodyPr>
          <a:lstStyle/>
          <a:p>
            <a:pPr algn="l"/>
            <a:r>
              <a:rPr sz="1800" b="0" i="0">
                <a:solidFill>
                  <a:srgbClr val="6B776E"/>
                </a:solidFill>
                <a:latin typeface="Rubik"/>
              </a:rPr>
              <a:t>* By 2024, 2025 Audit report. 2026 estimated result, 2027 Plan</a:t>
            </a:r>
          </a:p>
        </p:txBody>
      </p:sp>
      <p:sp>
        <p:nvSpPr>
          <p:cNvPr id="5" name="TextBox 4"/>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30 / 35</a:t>
            </a:r>
          </a:p>
        </p:txBody>
      </p:sp>
      <p:sp>
        <p:nvSpPr>
          <p:cNvPr id="6" name="TextBox 5"/>
          <p:cNvSpPr txBox="1"/>
          <p:nvPr/>
        </p:nvSpPr>
        <p:spPr>
          <a:xfrm>
            <a:off x="609600" y="533400"/>
            <a:ext cx="1576461" cy="205740"/>
          </a:xfrm>
          <a:prstGeom prst="rect">
            <a:avLst/>
          </a:prstGeom>
          <a:noFill/>
        </p:spPr>
        <p:txBody>
          <a:bodyPr wrap="square">
            <a:spAutoFit/>
          </a:bodyPr>
          <a:lstStyle/>
          <a:p>
            <a:pPr algn="l"/>
            <a:r>
              <a:rPr sz="1800" b="0" i="0" spc="300">
                <a:solidFill>
                  <a:srgbClr val="8A6A22"/>
                </a:solidFill>
                <a:latin typeface="Rubik"/>
              </a:rPr>
              <a:t>FINANCIAL PLAN · 4-1</a:t>
            </a:r>
          </a:p>
        </p:txBody>
      </p:sp>
      <p:sp>
        <p:nvSpPr>
          <p:cNvPr id="7" name="TextBox 6"/>
          <p:cNvSpPr txBox="1"/>
          <p:nvPr/>
        </p:nvSpPr>
        <p:spPr>
          <a:xfrm>
            <a:off x="609600" y="721965"/>
            <a:ext cx="1576461" cy="548640"/>
          </a:xfrm>
          <a:prstGeom prst="rect">
            <a:avLst/>
          </a:prstGeom>
          <a:noFill/>
        </p:spPr>
        <p:txBody>
          <a:bodyPr wrap="square">
            <a:spAutoFit/>
          </a:bodyPr>
          <a:lstStyle/>
          <a:p>
            <a:pPr algn="l"/>
            <a:r>
              <a:rPr sz="4800" b="0" i="0">
                <a:solidFill>
                  <a:srgbClr val="14281C"/>
                </a:solidFill>
                <a:latin typeface="Cormorant Garamond"/>
              </a:rPr>
              <a:t>Profit &amp; Loss</a:t>
            </a:r>
          </a:p>
        </p:txBody>
      </p:sp>
    </p:spTree>
  </p:cSld>
  <p:clrMapOvr>
    <a:masterClrMapping/>
  </p:clrMapOvr>
  <p:transition dur="500" advClick="1">
    <p:fade/>
  </p:transition>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4.png"/>
          <p:cNvPicPr>
            <a:picLocks noChangeAspect="1"/>
          </p:cNvPicPr>
          <p:nvPr/>
        </p:nvPicPr>
        <p:blipFill>
          <a:blip r:embed="rId2"/>
          <a:stretch>
            <a:fillRect/>
          </a:stretch>
        </p:blipFill>
        <p:spPr>
          <a:xfrm>
            <a:off x="0" y="0"/>
            <a:ext cx="9144000" cy="5143500"/>
          </a:xfrm>
          <a:prstGeom prst="rect">
            <a:avLst/>
          </a:prstGeom>
        </p:spPr>
      </p:pic>
      <p:pic>
        <p:nvPicPr>
          <p:cNvPr id="3" name="Picture 2" descr="e748aa5d24580365268b236a828abfe5.png"/>
          <p:cNvPicPr>
            <a:picLocks noChangeAspect="1"/>
          </p:cNvPicPr>
          <p:nvPr/>
        </p:nvPicPr>
        <p:blipFill>
          <a:blip r:embed="rId3"/>
          <a:stretch>
            <a:fillRect/>
          </a:stretch>
        </p:blipFill>
        <p:spPr>
          <a:xfrm>
            <a:off x="728662" y="853380"/>
            <a:ext cx="7580262" cy="3460477"/>
          </a:xfrm>
          <a:prstGeom prst="rect">
            <a:avLst/>
          </a:prstGeom>
        </p:spPr>
      </p:pic>
      <p:sp>
        <p:nvSpPr>
          <p:cNvPr id="4" name="TextBox 3"/>
          <p:cNvSpPr txBox="1"/>
          <p:nvPr/>
        </p:nvSpPr>
        <p:spPr>
          <a:xfrm>
            <a:off x="609600" y="4678709"/>
            <a:ext cx="6191250" cy="205740"/>
          </a:xfrm>
          <a:prstGeom prst="rect">
            <a:avLst/>
          </a:prstGeom>
          <a:noFill/>
        </p:spPr>
        <p:txBody>
          <a:bodyPr wrap="square">
            <a:spAutoFit/>
          </a:bodyPr>
          <a:lstStyle/>
          <a:p>
            <a:pPr algn="l"/>
            <a:r>
              <a:rPr sz="1800" b="0" i="0">
                <a:solidFill>
                  <a:srgbClr val="6B776E"/>
                </a:solidFill>
                <a:latin typeface="Rubik"/>
              </a:rPr>
              <a:t>* By 2024, 2025 Audit report. 2026 estimated result, 2027 Plan</a:t>
            </a:r>
          </a:p>
        </p:txBody>
      </p:sp>
      <p:sp>
        <p:nvSpPr>
          <p:cNvPr id="5" name="TextBox 4"/>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31 / 35</a:t>
            </a:r>
          </a:p>
        </p:txBody>
      </p:sp>
      <p:sp>
        <p:nvSpPr>
          <p:cNvPr id="6" name="TextBox 5"/>
          <p:cNvSpPr txBox="1"/>
          <p:nvPr/>
        </p:nvSpPr>
        <p:spPr>
          <a:xfrm>
            <a:off x="444326" y="180454"/>
            <a:ext cx="1647825" cy="205740"/>
          </a:xfrm>
          <a:prstGeom prst="rect">
            <a:avLst/>
          </a:prstGeom>
          <a:noFill/>
        </p:spPr>
        <p:txBody>
          <a:bodyPr wrap="square">
            <a:spAutoFit/>
          </a:bodyPr>
          <a:lstStyle/>
          <a:p>
            <a:pPr algn="l"/>
            <a:r>
              <a:rPr sz="1800" b="0" i="0" spc="300">
                <a:solidFill>
                  <a:srgbClr val="8A6A22"/>
                </a:solidFill>
                <a:latin typeface="Rubik"/>
              </a:rPr>
              <a:t>FINANCIAL PLAN · 4-2</a:t>
            </a:r>
          </a:p>
        </p:txBody>
      </p:sp>
      <p:sp>
        <p:nvSpPr>
          <p:cNvPr id="7" name="TextBox 6"/>
          <p:cNvSpPr txBox="1"/>
          <p:nvPr/>
        </p:nvSpPr>
        <p:spPr>
          <a:xfrm>
            <a:off x="444326" y="369019"/>
            <a:ext cx="1647825" cy="548640"/>
          </a:xfrm>
          <a:prstGeom prst="rect">
            <a:avLst/>
          </a:prstGeom>
          <a:noFill/>
        </p:spPr>
        <p:txBody>
          <a:bodyPr wrap="square">
            <a:spAutoFit/>
          </a:bodyPr>
          <a:lstStyle/>
          <a:p>
            <a:pPr algn="l"/>
            <a:r>
              <a:rPr sz="4800" b="0" i="0">
                <a:solidFill>
                  <a:srgbClr val="14281C"/>
                </a:solidFill>
                <a:latin typeface="Cormorant Garamond"/>
              </a:rPr>
              <a:t>Balance Sheet</a:t>
            </a:r>
          </a:p>
        </p:txBody>
      </p:sp>
    </p:spTree>
  </p:cSld>
  <p:clrMapOvr>
    <a:masterClrMapping/>
  </p:clrMapOvr>
  <p:transition dur="500" advClick="1">
    <p:fade/>
  </p:transition>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5.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533400"/>
            <a:ext cx="3417614" cy="205740"/>
          </a:xfrm>
          <a:prstGeom prst="rect">
            <a:avLst/>
          </a:prstGeom>
          <a:noFill/>
        </p:spPr>
        <p:txBody>
          <a:bodyPr wrap="square">
            <a:spAutoFit/>
          </a:bodyPr>
          <a:lstStyle/>
          <a:p>
            <a:pPr algn="l"/>
            <a:r>
              <a:rPr sz="1800" b="0" i="0" spc="300">
                <a:solidFill>
                  <a:srgbClr val="8A6A22"/>
                </a:solidFill>
                <a:latin typeface="Rubik"/>
              </a:rPr>
              <a:t>FINANCIAL PLAN · 4-3</a:t>
            </a:r>
          </a:p>
        </p:txBody>
      </p:sp>
      <p:sp>
        <p:nvSpPr>
          <p:cNvPr id="4" name="TextBox 3"/>
          <p:cNvSpPr txBox="1"/>
          <p:nvPr/>
        </p:nvSpPr>
        <p:spPr>
          <a:xfrm>
            <a:off x="609600" y="721965"/>
            <a:ext cx="3417614" cy="548640"/>
          </a:xfrm>
          <a:prstGeom prst="rect">
            <a:avLst/>
          </a:prstGeom>
          <a:noFill/>
        </p:spPr>
        <p:txBody>
          <a:bodyPr wrap="square">
            <a:spAutoFit/>
          </a:bodyPr>
          <a:lstStyle/>
          <a:p>
            <a:pPr algn="l"/>
            <a:r>
              <a:rPr sz="4800" b="0" i="0">
                <a:solidFill>
                  <a:srgbClr val="14281C"/>
                </a:solidFill>
                <a:latin typeface="Cormorant Garamond"/>
              </a:rPr>
              <a:t>Investment Priorities &amp; ROI</a:t>
            </a:r>
          </a:p>
        </p:txBody>
      </p:sp>
      <p:sp>
        <p:nvSpPr>
          <p:cNvPr id="5" name="TextBox 4"/>
          <p:cNvSpPr txBox="1"/>
          <p:nvPr/>
        </p:nvSpPr>
        <p:spPr>
          <a:xfrm>
            <a:off x="800100" y="1313854"/>
            <a:ext cx="656108" cy="514350"/>
          </a:xfrm>
          <a:prstGeom prst="rect">
            <a:avLst/>
          </a:prstGeom>
          <a:noFill/>
        </p:spPr>
        <p:txBody>
          <a:bodyPr wrap="square">
            <a:spAutoFit/>
          </a:bodyPr>
          <a:lstStyle/>
          <a:p>
            <a:pPr algn="l"/>
            <a:r>
              <a:rPr sz="4500" b="0" i="0">
                <a:solidFill>
                  <a:srgbClr val="F7F4EC"/>
                </a:solidFill>
                <a:latin typeface="Cormorant Garamond"/>
              </a:rPr>
              <a:t>€150k</a:t>
            </a:r>
          </a:p>
        </p:txBody>
      </p:sp>
      <p:sp>
        <p:nvSpPr>
          <p:cNvPr id="6" name="TextBox 5"/>
          <p:cNvSpPr txBox="1"/>
          <p:nvPr/>
        </p:nvSpPr>
        <p:spPr>
          <a:xfrm>
            <a:off x="1551458" y="1371004"/>
            <a:ext cx="171450" cy="308610"/>
          </a:xfrm>
          <a:prstGeom prst="rect">
            <a:avLst/>
          </a:prstGeom>
          <a:noFill/>
        </p:spPr>
        <p:txBody>
          <a:bodyPr wrap="square">
            <a:spAutoFit/>
          </a:bodyPr>
          <a:lstStyle/>
          <a:p>
            <a:pPr algn="l"/>
            <a:r>
              <a:rPr sz="2700" b="0" i="0">
                <a:solidFill>
                  <a:srgbClr val="D9B45A"/>
                </a:solidFill>
                <a:latin typeface="Rubik"/>
              </a:rPr>
              <a:t>→</a:t>
            </a:r>
          </a:p>
        </p:txBody>
      </p:sp>
      <p:sp>
        <p:nvSpPr>
          <p:cNvPr id="7" name="TextBox 6"/>
          <p:cNvSpPr txBox="1"/>
          <p:nvPr/>
        </p:nvSpPr>
        <p:spPr>
          <a:xfrm>
            <a:off x="1818158" y="1313854"/>
            <a:ext cx="689297" cy="514350"/>
          </a:xfrm>
          <a:prstGeom prst="rect">
            <a:avLst/>
          </a:prstGeom>
          <a:noFill/>
        </p:spPr>
        <p:txBody>
          <a:bodyPr wrap="square">
            <a:spAutoFit/>
          </a:bodyPr>
          <a:lstStyle/>
          <a:p>
            <a:pPr algn="l"/>
            <a:r>
              <a:rPr sz="4500" b="0" i="0">
                <a:solidFill>
                  <a:srgbClr val="D9B45A"/>
                </a:solidFill>
                <a:latin typeface="Cormorant Garamond"/>
              </a:rPr>
              <a:t>€2.3M</a:t>
            </a:r>
          </a:p>
        </p:txBody>
      </p:sp>
      <p:sp>
        <p:nvSpPr>
          <p:cNvPr id="8" name="TextBox 7"/>
          <p:cNvSpPr txBox="1"/>
          <p:nvPr/>
        </p:nvSpPr>
        <p:spPr>
          <a:xfrm>
            <a:off x="2893218" y="1295325"/>
            <a:ext cx="5450681" cy="334267"/>
          </a:xfrm>
          <a:prstGeom prst="rect">
            <a:avLst/>
          </a:prstGeom>
          <a:noFill/>
        </p:spPr>
        <p:txBody>
          <a:bodyPr wrap="square">
            <a:spAutoFit/>
          </a:bodyPr>
          <a:lstStyle/>
          <a:p>
            <a:pPr algn="l"/>
            <a:r>
              <a:rPr sz="1950" b="0" i="0">
                <a:solidFill>
                  <a:srgbClr val="E4EBE1"/>
                </a:solidFill>
                <a:latin typeface="Rubik"/>
              </a:rPr>
              <a:t>Separate Year 1 marketing budget → P&amp;L 2027 sales of 7,800 K-TND — 1 : 15 (≈ 6.5% of sales). Gross margin 20% = 1,560 K-TND.</a:t>
            </a:r>
          </a:p>
        </p:txBody>
      </p:sp>
      <p:sp>
        <p:nvSpPr>
          <p:cNvPr id="9" name="TextBox 8"/>
          <p:cNvSpPr txBox="1"/>
          <p:nvPr/>
        </p:nvSpPr>
        <p:spPr>
          <a:xfrm>
            <a:off x="804862" y="1958206"/>
            <a:ext cx="1809750" cy="205740"/>
          </a:xfrm>
          <a:prstGeom prst="rect">
            <a:avLst/>
          </a:prstGeom>
          <a:noFill/>
        </p:spPr>
        <p:txBody>
          <a:bodyPr wrap="square">
            <a:spAutoFit/>
          </a:bodyPr>
          <a:lstStyle/>
          <a:p>
            <a:pPr algn="l"/>
            <a:r>
              <a:rPr sz="1800" b="0" i="0" spc="225">
                <a:solidFill>
                  <a:srgbClr val="D9B45A"/>
                </a:solidFill>
                <a:latin typeface="Rubik"/>
              </a:rPr>
              <a:t>INVESTMENT</a:t>
            </a:r>
          </a:p>
        </p:txBody>
      </p:sp>
      <p:sp>
        <p:nvSpPr>
          <p:cNvPr id="10" name="TextBox 9"/>
          <p:cNvSpPr txBox="1"/>
          <p:nvPr/>
        </p:nvSpPr>
        <p:spPr>
          <a:xfrm>
            <a:off x="2614612" y="1958206"/>
            <a:ext cx="3629025" cy="205740"/>
          </a:xfrm>
          <a:prstGeom prst="rect">
            <a:avLst/>
          </a:prstGeom>
          <a:noFill/>
        </p:spPr>
        <p:txBody>
          <a:bodyPr wrap="square">
            <a:spAutoFit/>
          </a:bodyPr>
          <a:lstStyle/>
          <a:p>
            <a:pPr algn="l"/>
            <a:r>
              <a:rPr sz="1800" b="0" i="0" spc="225">
                <a:solidFill>
                  <a:srgbClr val="D9B45A"/>
                </a:solidFill>
                <a:latin typeface="Rubik"/>
              </a:rPr>
              <a:t>SCOPE</a:t>
            </a:r>
          </a:p>
        </p:txBody>
      </p:sp>
      <p:sp>
        <p:nvSpPr>
          <p:cNvPr id="11" name="TextBox 10"/>
          <p:cNvSpPr txBox="1"/>
          <p:nvPr/>
        </p:nvSpPr>
        <p:spPr>
          <a:xfrm>
            <a:off x="6243637" y="1958206"/>
            <a:ext cx="2095500" cy="205740"/>
          </a:xfrm>
          <a:prstGeom prst="rect">
            <a:avLst/>
          </a:prstGeom>
          <a:noFill/>
        </p:spPr>
        <p:txBody>
          <a:bodyPr wrap="square">
            <a:spAutoFit/>
          </a:bodyPr>
          <a:lstStyle/>
          <a:p>
            <a:pPr algn="l"/>
            <a:r>
              <a:rPr sz="1800" b="0" i="0" spc="225">
                <a:solidFill>
                  <a:srgbClr val="D9B45A"/>
                </a:solidFill>
                <a:latin typeface="Rubik"/>
              </a:rPr>
              <a:t>EXPECTED RETURN</a:t>
            </a:r>
          </a:p>
        </p:txBody>
      </p:sp>
      <p:sp>
        <p:nvSpPr>
          <p:cNvPr id="12" name="TextBox 11"/>
          <p:cNvSpPr txBox="1"/>
          <p:nvPr/>
        </p:nvSpPr>
        <p:spPr>
          <a:xfrm>
            <a:off x="804862" y="2263006"/>
            <a:ext cx="1809750" cy="308610"/>
          </a:xfrm>
          <a:prstGeom prst="rect">
            <a:avLst/>
          </a:prstGeom>
          <a:noFill/>
        </p:spPr>
        <p:txBody>
          <a:bodyPr wrap="square">
            <a:spAutoFit/>
          </a:bodyPr>
          <a:lstStyle/>
          <a:p>
            <a:pPr algn="l"/>
            <a:r>
              <a:rPr sz="2700" b="0" i="0">
                <a:solidFill>
                  <a:srgbClr val="14281C"/>
                </a:solidFill>
                <a:latin typeface="Cormorant Garamond"/>
              </a:rPr>
              <a:t>01 Brand assets</a:t>
            </a:r>
          </a:p>
        </p:txBody>
      </p:sp>
      <p:sp>
        <p:nvSpPr>
          <p:cNvPr id="13" name="TextBox 12"/>
          <p:cNvSpPr txBox="1"/>
          <p:nvPr/>
        </p:nvSpPr>
        <p:spPr>
          <a:xfrm>
            <a:off x="2614612" y="2209651"/>
            <a:ext cx="3629025" cy="346620"/>
          </a:xfrm>
          <a:prstGeom prst="rect">
            <a:avLst/>
          </a:prstGeom>
          <a:noFill/>
        </p:spPr>
        <p:txBody>
          <a:bodyPr wrap="square">
            <a:spAutoFit/>
          </a:bodyPr>
          <a:lstStyle/>
          <a:p>
            <a:pPr algn="l"/>
            <a:r>
              <a:rPr sz="1950" b="0" i="0">
                <a:solidFill>
                  <a:srgbClr val="46534A"/>
                </a:solidFill>
                <a:latin typeface="Rubik"/>
              </a:rPr>
              <a:t>Professional Tunisia / farm / artisan / product photography and video.</a:t>
            </a:r>
          </a:p>
        </p:txBody>
      </p:sp>
      <p:sp>
        <p:nvSpPr>
          <p:cNvPr id="14" name="TextBox 13"/>
          <p:cNvSpPr txBox="1"/>
          <p:nvPr/>
        </p:nvSpPr>
        <p:spPr>
          <a:xfrm>
            <a:off x="6243637" y="2222003"/>
            <a:ext cx="2095500" cy="321915"/>
          </a:xfrm>
          <a:prstGeom prst="rect">
            <a:avLst/>
          </a:prstGeom>
          <a:noFill/>
        </p:spPr>
        <p:txBody>
          <a:bodyPr wrap="square">
            <a:spAutoFit/>
          </a:bodyPr>
          <a:lstStyle/>
          <a:p>
            <a:pPr algn="l"/>
            <a:r>
              <a:rPr sz="1950" b="0" i="0">
                <a:solidFill>
                  <a:srgbClr val="8A6A22"/>
                </a:solidFill>
                <a:latin typeface="Rubik"/>
              </a:rPr>
              <a:t>One global photo / video bank reused in every market</a:t>
            </a:r>
          </a:p>
        </p:txBody>
      </p:sp>
      <p:sp>
        <p:nvSpPr>
          <p:cNvPr id="15" name="TextBox 14"/>
          <p:cNvSpPr txBox="1"/>
          <p:nvPr/>
        </p:nvSpPr>
        <p:spPr>
          <a:xfrm>
            <a:off x="804862" y="2625923"/>
            <a:ext cx="1809750" cy="308610"/>
          </a:xfrm>
          <a:prstGeom prst="rect">
            <a:avLst/>
          </a:prstGeom>
          <a:noFill/>
        </p:spPr>
        <p:txBody>
          <a:bodyPr wrap="square">
            <a:spAutoFit/>
          </a:bodyPr>
          <a:lstStyle/>
          <a:p>
            <a:pPr algn="l"/>
            <a:r>
              <a:rPr sz="2700" b="0" i="0">
                <a:solidFill>
                  <a:srgbClr val="14281C"/>
                </a:solidFill>
                <a:latin typeface="Cormorant Garamond"/>
              </a:rPr>
              <a:t>02 Digital</a:t>
            </a:r>
          </a:p>
        </p:txBody>
      </p:sp>
      <p:sp>
        <p:nvSpPr>
          <p:cNvPr id="16" name="TextBox 15"/>
          <p:cNvSpPr txBox="1"/>
          <p:nvPr/>
        </p:nvSpPr>
        <p:spPr>
          <a:xfrm>
            <a:off x="2614612" y="2572568"/>
            <a:ext cx="3629025" cy="346620"/>
          </a:xfrm>
          <a:prstGeom prst="rect">
            <a:avLst/>
          </a:prstGeom>
          <a:noFill/>
        </p:spPr>
        <p:txBody>
          <a:bodyPr wrap="square">
            <a:spAutoFit/>
          </a:bodyPr>
          <a:lstStyle/>
          <a:p>
            <a:pPr algn="l"/>
            <a:r>
              <a:rPr sz="1950" b="0" i="0">
                <a:solidFill>
                  <a:srgbClr val="46534A"/>
                </a:solidFill>
                <a:latin typeface="Rubik"/>
              </a:rPr>
              <a:t>Multilingual website / EC landing pages and social content production.</a:t>
            </a:r>
          </a:p>
        </p:txBody>
      </p:sp>
      <p:sp>
        <p:nvSpPr>
          <p:cNvPr id="17" name="TextBox 16"/>
          <p:cNvSpPr txBox="1"/>
          <p:nvPr/>
        </p:nvSpPr>
        <p:spPr>
          <a:xfrm>
            <a:off x="6243637" y="2665437"/>
            <a:ext cx="2095500" cy="222885"/>
          </a:xfrm>
          <a:prstGeom prst="rect">
            <a:avLst/>
          </a:prstGeom>
          <a:noFill/>
        </p:spPr>
        <p:txBody>
          <a:bodyPr wrap="square">
            <a:spAutoFit/>
          </a:bodyPr>
          <a:lstStyle/>
          <a:p>
            <a:pPr algn="l"/>
            <a:r>
              <a:rPr sz="1950" b="0" i="0">
                <a:solidFill>
                  <a:srgbClr val="8A6A22"/>
                </a:solidFill>
                <a:latin typeface="Rubik"/>
              </a:rPr>
              <a:t>Engagement &gt;5% + traffic to EC</a:t>
            </a:r>
          </a:p>
        </p:txBody>
      </p:sp>
      <p:sp>
        <p:nvSpPr>
          <p:cNvPr id="18" name="TextBox 17"/>
          <p:cNvSpPr txBox="1"/>
          <p:nvPr/>
        </p:nvSpPr>
        <p:spPr>
          <a:xfrm>
            <a:off x="804862" y="2988840"/>
            <a:ext cx="1809750" cy="308610"/>
          </a:xfrm>
          <a:prstGeom prst="rect">
            <a:avLst/>
          </a:prstGeom>
          <a:noFill/>
        </p:spPr>
        <p:txBody>
          <a:bodyPr wrap="square">
            <a:spAutoFit/>
          </a:bodyPr>
          <a:lstStyle/>
          <a:p>
            <a:pPr algn="l"/>
            <a:r>
              <a:rPr sz="2700" b="0" i="0">
                <a:solidFill>
                  <a:srgbClr val="14281C"/>
                </a:solidFill>
                <a:latin typeface="Cormorant Garamond"/>
              </a:rPr>
              <a:t>03 Sampling</a:t>
            </a:r>
          </a:p>
        </p:txBody>
      </p:sp>
      <p:sp>
        <p:nvSpPr>
          <p:cNvPr id="19" name="TextBox 18"/>
          <p:cNvSpPr txBox="1"/>
          <p:nvPr/>
        </p:nvSpPr>
        <p:spPr>
          <a:xfrm>
            <a:off x="2614612" y="3022178"/>
            <a:ext cx="3629025" cy="222885"/>
          </a:xfrm>
          <a:prstGeom prst="rect">
            <a:avLst/>
          </a:prstGeom>
          <a:noFill/>
        </p:spPr>
        <p:txBody>
          <a:bodyPr wrap="square">
            <a:spAutoFit/>
          </a:bodyPr>
          <a:lstStyle/>
          <a:p>
            <a:pPr algn="l"/>
            <a:r>
              <a:rPr sz="1950" b="0" i="0">
                <a:solidFill>
                  <a:srgbClr val="46534A"/>
                </a:solidFill>
                <a:latin typeface="Rubik"/>
              </a:rPr>
              <a:t>Chef, hotel, gourmet retail and influencer seeding.</a:t>
            </a:r>
          </a:p>
        </p:txBody>
      </p:sp>
      <p:sp>
        <p:nvSpPr>
          <p:cNvPr id="20" name="TextBox 19"/>
          <p:cNvSpPr txBox="1"/>
          <p:nvPr/>
        </p:nvSpPr>
        <p:spPr>
          <a:xfrm>
            <a:off x="6243637" y="3028354"/>
            <a:ext cx="2095500" cy="222885"/>
          </a:xfrm>
          <a:prstGeom prst="rect">
            <a:avLst/>
          </a:prstGeom>
          <a:noFill/>
        </p:spPr>
        <p:txBody>
          <a:bodyPr wrap="square">
            <a:spAutoFit/>
          </a:bodyPr>
          <a:lstStyle/>
          <a:p>
            <a:pPr algn="l"/>
            <a:r>
              <a:rPr sz="1950" b="0" i="0">
                <a:solidFill>
                  <a:srgbClr val="8A6A22"/>
                </a:solidFill>
                <a:latin typeface="Rubik"/>
              </a:rPr>
              <a:t>&gt;20% sample → first order</a:t>
            </a:r>
          </a:p>
        </p:txBody>
      </p:sp>
      <p:sp>
        <p:nvSpPr>
          <p:cNvPr id="21" name="TextBox 20"/>
          <p:cNvSpPr txBox="1"/>
          <p:nvPr/>
        </p:nvSpPr>
        <p:spPr>
          <a:xfrm>
            <a:off x="804862" y="3351758"/>
            <a:ext cx="1809750" cy="308610"/>
          </a:xfrm>
          <a:prstGeom prst="rect">
            <a:avLst/>
          </a:prstGeom>
          <a:noFill/>
        </p:spPr>
        <p:txBody>
          <a:bodyPr wrap="square">
            <a:spAutoFit/>
          </a:bodyPr>
          <a:lstStyle/>
          <a:p>
            <a:pPr algn="l"/>
            <a:r>
              <a:rPr sz="2700" b="0" i="0">
                <a:solidFill>
                  <a:srgbClr val="14281C"/>
                </a:solidFill>
                <a:latin typeface="Cormorant Garamond"/>
              </a:rPr>
              <a:t>04 Packaging</a:t>
            </a:r>
          </a:p>
        </p:txBody>
      </p:sp>
      <p:sp>
        <p:nvSpPr>
          <p:cNvPr id="22" name="TextBox 21"/>
          <p:cNvSpPr txBox="1"/>
          <p:nvPr/>
        </p:nvSpPr>
        <p:spPr>
          <a:xfrm>
            <a:off x="2614612" y="3385095"/>
            <a:ext cx="3629025" cy="222885"/>
          </a:xfrm>
          <a:prstGeom prst="rect">
            <a:avLst/>
          </a:prstGeom>
          <a:noFill/>
        </p:spPr>
        <p:txBody>
          <a:bodyPr wrap="square">
            <a:spAutoFit/>
          </a:bodyPr>
          <a:lstStyle/>
          <a:p>
            <a:pPr algn="l"/>
            <a:r>
              <a:rPr sz="1950" b="0" i="0">
                <a:solidFill>
                  <a:srgbClr val="46534A"/>
                </a:solidFill>
                <a:latin typeface="Rubik"/>
              </a:rPr>
              <a:t>Clear premium hierarchy, discovery sets and gifting formats.</a:t>
            </a:r>
          </a:p>
        </p:txBody>
      </p:sp>
      <p:sp>
        <p:nvSpPr>
          <p:cNvPr id="23" name="TextBox 22"/>
          <p:cNvSpPr txBox="1"/>
          <p:nvPr/>
        </p:nvSpPr>
        <p:spPr>
          <a:xfrm>
            <a:off x="6243637" y="3391272"/>
            <a:ext cx="2095500" cy="222885"/>
          </a:xfrm>
          <a:prstGeom prst="rect">
            <a:avLst/>
          </a:prstGeom>
          <a:noFill/>
        </p:spPr>
        <p:txBody>
          <a:bodyPr wrap="square">
            <a:spAutoFit/>
          </a:bodyPr>
          <a:lstStyle/>
          <a:p>
            <a:pPr algn="l"/>
            <a:r>
              <a:rPr sz="1950" b="0" i="0">
                <a:solidFill>
                  <a:srgbClr val="8A6A22"/>
                </a:solidFill>
                <a:latin typeface="Rubik"/>
              </a:rPr>
              <a:t>AOV +15% via sets &amp; gifting</a:t>
            </a:r>
          </a:p>
        </p:txBody>
      </p:sp>
      <p:sp>
        <p:nvSpPr>
          <p:cNvPr id="24" name="TextBox 23"/>
          <p:cNvSpPr txBox="1"/>
          <p:nvPr/>
        </p:nvSpPr>
        <p:spPr>
          <a:xfrm>
            <a:off x="804862" y="3714675"/>
            <a:ext cx="1809750" cy="308610"/>
          </a:xfrm>
          <a:prstGeom prst="rect">
            <a:avLst/>
          </a:prstGeom>
          <a:noFill/>
        </p:spPr>
        <p:txBody>
          <a:bodyPr wrap="square">
            <a:spAutoFit/>
          </a:bodyPr>
          <a:lstStyle/>
          <a:p>
            <a:pPr algn="l"/>
            <a:r>
              <a:rPr sz="2700" b="0" i="0">
                <a:solidFill>
                  <a:srgbClr val="14281C"/>
                </a:solidFill>
                <a:latin typeface="Cormorant Garamond"/>
              </a:rPr>
              <a:t>05 Sales enablement</a:t>
            </a:r>
          </a:p>
        </p:txBody>
      </p:sp>
      <p:sp>
        <p:nvSpPr>
          <p:cNvPr id="25" name="TextBox 24"/>
          <p:cNvSpPr txBox="1"/>
          <p:nvPr/>
        </p:nvSpPr>
        <p:spPr>
          <a:xfrm>
            <a:off x="2614612" y="3748013"/>
            <a:ext cx="3629025" cy="222885"/>
          </a:xfrm>
          <a:prstGeom prst="rect">
            <a:avLst/>
          </a:prstGeom>
          <a:noFill/>
        </p:spPr>
        <p:txBody>
          <a:bodyPr wrap="square">
            <a:spAutoFit/>
          </a:bodyPr>
          <a:lstStyle/>
          <a:p>
            <a:pPr algn="l"/>
            <a:r>
              <a:rPr sz="1950" b="0" i="0">
                <a:solidFill>
                  <a:srgbClr val="46534A"/>
                </a:solidFill>
                <a:latin typeface="Rubik"/>
              </a:rPr>
              <a:t>Distributor deck, chef kit, product samples and account CRM.</a:t>
            </a:r>
          </a:p>
        </p:txBody>
      </p:sp>
      <p:sp>
        <p:nvSpPr>
          <p:cNvPr id="26" name="TextBox 25"/>
          <p:cNvSpPr txBox="1"/>
          <p:nvPr/>
        </p:nvSpPr>
        <p:spPr>
          <a:xfrm>
            <a:off x="6243637" y="3673673"/>
            <a:ext cx="2095500" cy="321915"/>
          </a:xfrm>
          <a:prstGeom prst="rect">
            <a:avLst/>
          </a:prstGeom>
          <a:noFill/>
        </p:spPr>
        <p:txBody>
          <a:bodyPr wrap="square">
            <a:spAutoFit/>
          </a:bodyPr>
          <a:lstStyle/>
          <a:p>
            <a:pPr algn="l"/>
            <a:r>
              <a:rPr sz="1950" b="0" i="0">
                <a:solidFill>
                  <a:srgbClr val="8A6A22"/>
                </a:solidFill>
                <a:latin typeface="Rubik"/>
              </a:rPr>
              <a:t>1 Japan importer + 2 EU distributors signed by June</a:t>
            </a:r>
          </a:p>
        </p:txBody>
      </p:sp>
      <p:sp>
        <p:nvSpPr>
          <p:cNvPr id="27" name="TextBox 26"/>
          <p:cNvSpPr txBox="1"/>
          <p:nvPr/>
        </p:nvSpPr>
        <p:spPr>
          <a:xfrm>
            <a:off x="804862" y="4077592"/>
            <a:ext cx="1809750" cy="308610"/>
          </a:xfrm>
          <a:prstGeom prst="rect">
            <a:avLst/>
          </a:prstGeom>
          <a:noFill/>
        </p:spPr>
        <p:txBody>
          <a:bodyPr wrap="square">
            <a:spAutoFit/>
          </a:bodyPr>
          <a:lstStyle/>
          <a:p>
            <a:pPr algn="l"/>
            <a:r>
              <a:rPr sz="2700" b="0" i="0">
                <a:solidFill>
                  <a:srgbClr val="14281C"/>
                </a:solidFill>
                <a:latin typeface="Cormorant Garamond"/>
              </a:rPr>
              <a:t>06 Measurement</a:t>
            </a:r>
          </a:p>
        </p:txBody>
      </p:sp>
      <p:sp>
        <p:nvSpPr>
          <p:cNvPr id="28" name="TextBox 27"/>
          <p:cNvSpPr txBox="1"/>
          <p:nvPr/>
        </p:nvSpPr>
        <p:spPr>
          <a:xfrm>
            <a:off x="2614612" y="4110930"/>
            <a:ext cx="3629025" cy="222885"/>
          </a:xfrm>
          <a:prstGeom prst="rect">
            <a:avLst/>
          </a:prstGeom>
          <a:noFill/>
        </p:spPr>
        <p:txBody>
          <a:bodyPr wrap="square">
            <a:spAutoFit/>
          </a:bodyPr>
          <a:lstStyle/>
          <a:p>
            <a:pPr algn="l"/>
            <a:r>
              <a:rPr sz="1950" b="0" i="0">
                <a:solidFill>
                  <a:srgbClr val="46534A"/>
                </a:solidFill>
                <a:latin typeface="Rubik"/>
              </a:rPr>
              <a:t>Monthly global dashboard by market / channel / SKU.</a:t>
            </a:r>
          </a:p>
        </p:txBody>
      </p:sp>
      <p:sp>
        <p:nvSpPr>
          <p:cNvPr id="29" name="TextBox 28"/>
          <p:cNvSpPr txBox="1"/>
          <p:nvPr/>
        </p:nvSpPr>
        <p:spPr>
          <a:xfrm>
            <a:off x="6243637" y="4036590"/>
            <a:ext cx="2095500" cy="321915"/>
          </a:xfrm>
          <a:prstGeom prst="rect">
            <a:avLst/>
          </a:prstGeom>
          <a:noFill/>
        </p:spPr>
        <p:txBody>
          <a:bodyPr wrap="square">
            <a:spAutoFit/>
          </a:bodyPr>
          <a:lstStyle/>
          <a:p>
            <a:pPr algn="l"/>
            <a:r>
              <a:rPr sz="1950" b="0" i="0">
                <a:solidFill>
                  <a:srgbClr val="8A6A22"/>
                </a:solidFill>
                <a:latin typeface="Rubik"/>
              </a:rPr>
              <a:t>Repeat &gt;30% · tranche 2 only if June checkpoint is met</a:t>
            </a:r>
          </a:p>
        </p:txBody>
      </p:sp>
      <p:sp>
        <p:nvSpPr>
          <p:cNvPr id="30" name="TextBox 29"/>
          <p:cNvSpPr txBox="1"/>
          <p:nvPr/>
        </p:nvSpPr>
        <p:spPr>
          <a:xfrm>
            <a:off x="609600" y="4678709"/>
            <a:ext cx="619125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31" name="TextBox 30"/>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32 / 35</a:t>
            </a:r>
          </a:p>
        </p:txBody>
      </p:sp>
    </p:spTree>
  </p:cSld>
  <p:clrMapOvr>
    <a:masterClrMapping/>
  </p:clrMapOvr>
  <p:transition dur="500" advClick="1">
    <p:fade/>
  </p:transition>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6.png"/>
          <p:cNvPicPr>
            <a:picLocks noChangeAspect="1"/>
          </p:cNvPicPr>
          <p:nvPr/>
        </p:nvPicPr>
        <p:blipFill>
          <a:blip r:embed="rId2"/>
          <a:stretch>
            <a:fillRect/>
          </a:stretch>
        </p:blipFill>
        <p:spPr>
          <a:xfrm>
            <a:off x="0" y="0"/>
            <a:ext cx="9144000" cy="5143500"/>
          </a:xfrm>
          <a:prstGeom prst="rect">
            <a:avLst/>
          </a:prstGeom>
        </p:spPr>
      </p:pic>
      <p:pic>
        <p:nvPicPr>
          <p:cNvPr id="3" name="Picture 2" descr="70a5d8eb39a37f327db4acc351dbb6c5.jpg"/>
          <p:cNvPicPr>
            <a:picLocks noChangeAspect="1"/>
          </p:cNvPicPr>
          <p:nvPr/>
        </p:nvPicPr>
        <p:blipFill>
          <a:blip r:embed="rId3"/>
          <a:stretch>
            <a:fillRect/>
          </a:stretch>
        </p:blipFill>
        <p:spPr>
          <a:xfrm>
            <a:off x="714375" y="1428750"/>
            <a:ext cx="1390650" cy="2047875"/>
          </a:xfrm>
          <a:prstGeom prst="rect">
            <a:avLst/>
          </a:prstGeom>
        </p:spPr>
      </p:pic>
      <p:pic>
        <p:nvPicPr>
          <p:cNvPr id="4" name="Picture 3" descr="c6dd24b92400134059fc0c40d7e564c6.jpg"/>
          <p:cNvPicPr>
            <a:picLocks noChangeAspect="1"/>
          </p:cNvPicPr>
          <p:nvPr/>
        </p:nvPicPr>
        <p:blipFill>
          <a:blip r:embed="rId4"/>
          <a:stretch>
            <a:fillRect/>
          </a:stretch>
        </p:blipFill>
        <p:spPr>
          <a:xfrm>
            <a:off x="2295525" y="1428750"/>
            <a:ext cx="1390650" cy="2047875"/>
          </a:xfrm>
          <a:prstGeom prst="rect">
            <a:avLst/>
          </a:prstGeom>
        </p:spPr>
      </p:pic>
      <p:pic>
        <p:nvPicPr>
          <p:cNvPr id="5" name="Picture 4" descr="f3e81edb5306616e57a5fa3eca01ee32.jpg"/>
          <p:cNvPicPr>
            <a:picLocks noChangeAspect="1"/>
          </p:cNvPicPr>
          <p:nvPr/>
        </p:nvPicPr>
        <p:blipFill>
          <a:blip r:embed="rId5"/>
          <a:stretch>
            <a:fillRect/>
          </a:stretch>
        </p:blipFill>
        <p:spPr>
          <a:xfrm>
            <a:off x="3876675" y="1428750"/>
            <a:ext cx="1390650" cy="2047875"/>
          </a:xfrm>
          <a:prstGeom prst="rect">
            <a:avLst/>
          </a:prstGeom>
        </p:spPr>
      </p:pic>
      <p:pic>
        <p:nvPicPr>
          <p:cNvPr id="6" name="Picture 5" descr="be41f0905ed12fd98ee752a8fbcc25b6.jpg"/>
          <p:cNvPicPr>
            <a:picLocks noChangeAspect="1"/>
          </p:cNvPicPr>
          <p:nvPr/>
        </p:nvPicPr>
        <p:blipFill>
          <a:blip r:embed="rId6"/>
          <a:stretch>
            <a:fillRect/>
          </a:stretch>
        </p:blipFill>
        <p:spPr>
          <a:xfrm>
            <a:off x="5457825" y="1428750"/>
            <a:ext cx="1390650" cy="2047875"/>
          </a:xfrm>
          <a:prstGeom prst="rect">
            <a:avLst/>
          </a:prstGeom>
        </p:spPr>
      </p:pic>
      <p:pic>
        <p:nvPicPr>
          <p:cNvPr id="7" name="Picture 6" descr="17b04c08fbf1177dfd9e5611f6dde926.jpg"/>
          <p:cNvPicPr>
            <a:picLocks noChangeAspect="1"/>
          </p:cNvPicPr>
          <p:nvPr/>
        </p:nvPicPr>
        <p:blipFill>
          <a:blip r:embed="rId7"/>
          <a:stretch>
            <a:fillRect/>
          </a:stretch>
        </p:blipFill>
        <p:spPr>
          <a:xfrm>
            <a:off x="7038975" y="1428750"/>
            <a:ext cx="1390650" cy="2047875"/>
          </a:xfrm>
          <a:prstGeom prst="rect">
            <a:avLst/>
          </a:prstGeom>
        </p:spPr>
      </p:pic>
      <p:sp>
        <p:nvSpPr>
          <p:cNvPr id="8" name="TextBox 7"/>
          <p:cNvSpPr txBox="1"/>
          <p:nvPr/>
        </p:nvSpPr>
        <p:spPr>
          <a:xfrm>
            <a:off x="714375" y="533400"/>
            <a:ext cx="754112" cy="205740"/>
          </a:xfrm>
          <a:prstGeom prst="rect">
            <a:avLst/>
          </a:prstGeom>
          <a:noFill/>
        </p:spPr>
        <p:txBody>
          <a:bodyPr wrap="square">
            <a:spAutoFit/>
          </a:bodyPr>
          <a:lstStyle/>
          <a:p>
            <a:pPr algn="l"/>
            <a:r>
              <a:rPr sz="1800" b="0" i="0" spc="300">
                <a:solidFill>
                  <a:srgbClr val="8A6A22"/>
                </a:solidFill>
                <a:latin typeface="Rubik"/>
              </a:rPr>
              <a:t>CONTENTS</a:t>
            </a:r>
          </a:p>
        </p:txBody>
      </p:sp>
      <p:sp>
        <p:nvSpPr>
          <p:cNvPr id="9" name="TextBox 8"/>
          <p:cNvSpPr txBox="1"/>
          <p:nvPr/>
        </p:nvSpPr>
        <p:spPr>
          <a:xfrm>
            <a:off x="714375" y="695325"/>
            <a:ext cx="1030113" cy="617220"/>
          </a:xfrm>
          <a:prstGeom prst="rect">
            <a:avLst/>
          </a:prstGeom>
          <a:noFill/>
        </p:spPr>
        <p:txBody>
          <a:bodyPr wrap="square">
            <a:spAutoFit/>
          </a:bodyPr>
          <a:lstStyle/>
          <a:p>
            <a:pPr algn="l"/>
            <a:r>
              <a:rPr sz="5400" b="0" i="0">
                <a:solidFill>
                  <a:srgbClr val="14281C"/>
                </a:solidFill>
                <a:latin typeface="Cormorant Garamond"/>
              </a:rPr>
              <a:t>Agenda</a:t>
            </a:r>
          </a:p>
        </p:txBody>
      </p:sp>
      <p:sp>
        <p:nvSpPr>
          <p:cNvPr id="10" name="TextBox 9"/>
          <p:cNvSpPr txBox="1"/>
          <p:nvPr/>
        </p:nvSpPr>
        <p:spPr>
          <a:xfrm>
            <a:off x="838200" y="1524000"/>
            <a:ext cx="323701" cy="720090"/>
          </a:xfrm>
          <a:prstGeom prst="rect">
            <a:avLst/>
          </a:prstGeom>
          <a:noFill/>
        </p:spPr>
        <p:txBody>
          <a:bodyPr wrap="square">
            <a:spAutoFit/>
          </a:bodyPr>
          <a:lstStyle/>
          <a:p>
            <a:pPr algn="l"/>
            <a:r>
              <a:rPr sz="6300" b="0" i="0">
                <a:solidFill>
                  <a:srgbClr val="D9B45A"/>
                </a:solidFill>
                <a:latin typeface="Cormorant Garamond"/>
              </a:rPr>
              <a:t>01</a:t>
            </a:r>
          </a:p>
        </p:txBody>
      </p:sp>
      <p:sp>
        <p:nvSpPr>
          <p:cNvPr id="11" name="TextBox 10"/>
          <p:cNvSpPr txBox="1"/>
          <p:nvPr/>
        </p:nvSpPr>
        <p:spPr>
          <a:xfrm>
            <a:off x="838200" y="3142803"/>
            <a:ext cx="1143000" cy="360045"/>
          </a:xfrm>
          <a:prstGeom prst="rect">
            <a:avLst/>
          </a:prstGeom>
          <a:noFill/>
        </p:spPr>
        <p:txBody>
          <a:bodyPr wrap="square">
            <a:spAutoFit/>
          </a:bodyPr>
          <a:lstStyle/>
          <a:p>
            <a:pPr algn="l"/>
            <a:r>
              <a:rPr sz="3150" b="0" i="0">
                <a:solidFill>
                  <a:srgbClr val="F7F4EC"/>
                </a:solidFill>
                <a:latin typeface="Cormorant Garamond"/>
              </a:rPr>
              <a:t>Product</a:t>
            </a:r>
          </a:p>
        </p:txBody>
      </p:sp>
      <p:sp>
        <p:nvSpPr>
          <p:cNvPr id="12" name="TextBox 11"/>
          <p:cNvSpPr txBox="1"/>
          <p:nvPr/>
        </p:nvSpPr>
        <p:spPr>
          <a:xfrm>
            <a:off x="714375" y="3619500"/>
            <a:ext cx="1390650" cy="308520"/>
          </a:xfrm>
          <a:prstGeom prst="rect">
            <a:avLst/>
          </a:prstGeom>
          <a:noFill/>
        </p:spPr>
        <p:txBody>
          <a:bodyPr wrap="square">
            <a:spAutoFit/>
          </a:bodyPr>
          <a:lstStyle/>
          <a:p>
            <a:pPr algn="ctr"/>
            <a:r>
              <a:rPr sz="1800" b="0" i="0">
                <a:solidFill>
                  <a:srgbClr val="6B776E"/>
                </a:solidFill>
                <a:latin typeface="Rubik"/>
              </a:rPr>
              <a:t>Range · Pricing · Flavored · MOHRA</a:t>
            </a:r>
          </a:p>
        </p:txBody>
      </p:sp>
      <p:sp>
        <p:nvSpPr>
          <p:cNvPr id="13" name="TextBox 12"/>
          <p:cNvSpPr txBox="1"/>
          <p:nvPr/>
        </p:nvSpPr>
        <p:spPr>
          <a:xfrm>
            <a:off x="2419350" y="1524000"/>
            <a:ext cx="351680" cy="720090"/>
          </a:xfrm>
          <a:prstGeom prst="rect">
            <a:avLst/>
          </a:prstGeom>
          <a:noFill/>
        </p:spPr>
        <p:txBody>
          <a:bodyPr wrap="square">
            <a:spAutoFit/>
          </a:bodyPr>
          <a:lstStyle/>
          <a:p>
            <a:pPr algn="l"/>
            <a:r>
              <a:rPr sz="6300" b="0" i="0">
                <a:solidFill>
                  <a:srgbClr val="D9B45A"/>
                </a:solidFill>
                <a:latin typeface="Cormorant Garamond"/>
              </a:rPr>
              <a:t>02</a:t>
            </a:r>
          </a:p>
        </p:txBody>
      </p:sp>
      <p:sp>
        <p:nvSpPr>
          <p:cNvPr id="14" name="TextBox 13"/>
          <p:cNvSpPr txBox="1"/>
          <p:nvPr/>
        </p:nvSpPr>
        <p:spPr>
          <a:xfrm>
            <a:off x="2419350" y="3142803"/>
            <a:ext cx="1143000" cy="360045"/>
          </a:xfrm>
          <a:prstGeom prst="rect">
            <a:avLst/>
          </a:prstGeom>
          <a:noFill/>
        </p:spPr>
        <p:txBody>
          <a:bodyPr wrap="square">
            <a:spAutoFit/>
          </a:bodyPr>
          <a:lstStyle/>
          <a:p>
            <a:pPr algn="l"/>
            <a:r>
              <a:rPr sz="3150" b="0" i="0">
                <a:solidFill>
                  <a:srgbClr val="F7F4EC"/>
                </a:solidFill>
                <a:latin typeface="Cormorant Garamond"/>
              </a:rPr>
              <a:t>Customers</a:t>
            </a:r>
          </a:p>
        </p:txBody>
      </p:sp>
      <p:sp>
        <p:nvSpPr>
          <p:cNvPr id="15" name="TextBox 14"/>
          <p:cNvSpPr txBox="1"/>
          <p:nvPr/>
        </p:nvSpPr>
        <p:spPr>
          <a:xfrm>
            <a:off x="2295525" y="3619500"/>
            <a:ext cx="1390650" cy="308520"/>
          </a:xfrm>
          <a:prstGeom prst="rect">
            <a:avLst/>
          </a:prstGeom>
          <a:noFill/>
        </p:spPr>
        <p:txBody>
          <a:bodyPr wrap="square">
            <a:spAutoFit/>
          </a:bodyPr>
          <a:lstStyle/>
          <a:p>
            <a:pPr algn="ctr"/>
            <a:r>
              <a:rPr sz="1800" b="0" i="0">
                <a:solidFill>
                  <a:srgbClr val="6B776E"/>
                </a:solidFill>
                <a:latin typeface="Rubik"/>
              </a:rPr>
              <a:t>Segments · Markets · B2B · Unit economics</a:t>
            </a:r>
          </a:p>
        </p:txBody>
      </p:sp>
      <p:sp>
        <p:nvSpPr>
          <p:cNvPr id="16" name="TextBox 15"/>
          <p:cNvSpPr txBox="1"/>
          <p:nvPr/>
        </p:nvSpPr>
        <p:spPr>
          <a:xfrm>
            <a:off x="4000500" y="1524000"/>
            <a:ext cx="347662" cy="720090"/>
          </a:xfrm>
          <a:prstGeom prst="rect">
            <a:avLst/>
          </a:prstGeom>
          <a:noFill/>
        </p:spPr>
        <p:txBody>
          <a:bodyPr wrap="square">
            <a:spAutoFit/>
          </a:bodyPr>
          <a:lstStyle/>
          <a:p>
            <a:pPr algn="l"/>
            <a:r>
              <a:rPr sz="6300" b="0" i="0">
                <a:solidFill>
                  <a:srgbClr val="D9B45A"/>
                </a:solidFill>
                <a:latin typeface="Cormorant Garamond"/>
              </a:rPr>
              <a:t>03</a:t>
            </a:r>
          </a:p>
        </p:txBody>
      </p:sp>
      <p:sp>
        <p:nvSpPr>
          <p:cNvPr id="17" name="TextBox 16"/>
          <p:cNvSpPr txBox="1"/>
          <p:nvPr/>
        </p:nvSpPr>
        <p:spPr>
          <a:xfrm>
            <a:off x="4000500" y="3142803"/>
            <a:ext cx="1143000" cy="360045"/>
          </a:xfrm>
          <a:prstGeom prst="rect">
            <a:avLst/>
          </a:prstGeom>
          <a:noFill/>
        </p:spPr>
        <p:txBody>
          <a:bodyPr wrap="square">
            <a:spAutoFit/>
          </a:bodyPr>
          <a:lstStyle/>
          <a:p>
            <a:pPr algn="l"/>
            <a:r>
              <a:rPr sz="3150" b="0" i="0">
                <a:solidFill>
                  <a:srgbClr val="F7F4EC"/>
                </a:solidFill>
                <a:latin typeface="Cormorant Garamond"/>
              </a:rPr>
              <a:t>Marketing</a:t>
            </a:r>
          </a:p>
        </p:txBody>
      </p:sp>
      <p:sp>
        <p:nvSpPr>
          <p:cNvPr id="18" name="TextBox 17"/>
          <p:cNvSpPr txBox="1"/>
          <p:nvPr/>
        </p:nvSpPr>
        <p:spPr>
          <a:xfrm>
            <a:off x="3876675" y="3619500"/>
            <a:ext cx="1390650" cy="462781"/>
          </a:xfrm>
          <a:prstGeom prst="rect">
            <a:avLst/>
          </a:prstGeom>
          <a:noFill/>
        </p:spPr>
        <p:txBody>
          <a:bodyPr wrap="square">
            <a:spAutoFit/>
          </a:bodyPr>
          <a:lstStyle/>
          <a:p>
            <a:pPr algn="ctr"/>
            <a:r>
              <a:rPr sz="1800" b="0" i="0">
                <a:solidFill>
                  <a:srgbClr val="6B776E"/>
                </a:solidFill>
                <a:latin typeface="Rubik"/>
              </a:rPr>
              <a:t>Content · KPIs · Operating model · Budget · Distributors</a:t>
            </a:r>
          </a:p>
        </p:txBody>
      </p:sp>
      <p:sp>
        <p:nvSpPr>
          <p:cNvPr id="19" name="TextBox 18"/>
          <p:cNvSpPr txBox="1"/>
          <p:nvPr/>
        </p:nvSpPr>
        <p:spPr>
          <a:xfrm>
            <a:off x="5581650" y="1524000"/>
            <a:ext cx="372516" cy="720090"/>
          </a:xfrm>
          <a:prstGeom prst="rect">
            <a:avLst/>
          </a:prstGeom>
          <a:noFill/>
        </p:spPr>
        <p:txBody>
          <a:bodyPr wrap="square">
            <a:spAutoFit/>
          </a:bodyPr>
          <a:lstStyle/>
          <a:p>
            <a:pPr algn="l"/>
            <a:r>
              <a:rPr sz="6300" b="0" i="0">
                <a:solidFill>
                  <a:srgbClr val="D9B45A"/>
                </a:solidFill>
                <a:latin typeface="Cormorant Garamond"/>
              </a:rPr>
              <a:t>04</a:t>
            </a:r>
          </a:p>
        </p:txBody>
      </p:sp>
      <p:sp>
        <p:nvSpPr>
          <p:cNvPr id="20" name="TextBox 19"/>
          <p:cNvSpPr txBox="1"/>
          <p:nvPr/>
        </p:nvSpPr>
        <p:spPr>
          <a:xfrm>
            <a:off x="5581650" y="3142803"/>
            <a:ext cx="1143000" cy="360045"/>
          </a:xfrm>
          <a:prstGeom prst="rect">
            <a:avLst/>
          </a:prstGeom>
          <a:noFill/>
        </p:spPr>
        <p:txBody>
          <a:bodyPr wrap="square">
            <a:spAutoFit/>
          </a:bodyPr>
          <a:lstStyle/>
          <a:p>
            <a:pPr algn="l"/>
            <a:r>
              <a:rPr sz="3150" b="0" i="0">
                <a:solidFill>
                  <a:srgbClr val="F7F4EC"/>
                </a:solidFill>
                <a:latin typeface="Cormorant Garamond"/>
              </a:rPr>
              <a:t>Financial Plan</a:t>
            </a:r>
          </a:p>
        </p:txBody>
      </p:sp>
      <p:sp>
        <p:nvSpPr>
          <p:cNvPr id="21" name="TextBox 20"/>
          <p:cNvSpPr txBox="1"/>
          <p:nvPr/>
        </p:nvSpPr>
        <p:spPr>
          <a:xfrm>
            <a:off x="5457825" y="3619500"/>
            <a:ext cx="1390650" cy="308520"/>
          </a:xfrm>
          <a:prstGeom prst="rect">
            <a:avLst/>
          </a:prstGeom>
          <a:noFill/>
        </p:spPr>
        <p:txBody>
          <a:bodyPr wrap="square">
            <a:spAutoFit/>
          </a:bodyPr>
          <a:lstStyle/>
          <a:p>
            <a:pPr algn="ctr"/>
            <a:r>
              <a:rPr sz="1800" b="0" i="0">
                <a:solidFill>
                  <a:srgbClr val="6B776E"/>
                </a:solidFill>
                <a:latin typeface="Rubik"/>
              </a:rPr>
              <a:t>P&amp;L · Balance sheet · Investment &amp; ROI</a:t>
            </a:r>
          </a:p>
        </p:txBody>
      </p:sp>
      <p:sp>
        <p:nvSpPr>
          <p:cNvPr id="22" name="TextBox 21"/>
          <p:cNvSpPr txBox="1"/>
          <p:nvPr/>
        </p:nvSpPr>
        <p:spPr>
          <a:xfrm>
            <a:off x="7162800" y="1524000"/>
            <a:ext cx="354508" cy="720090"/>
          </a:xfrm>
          <a:prstGeom prst="rect">
            <a:avLst/>
          </a:prstGeom>
          <a:noFill/>
        </p:spPr>
        <p:txBody>
          <a:bodyPr wrap="square">
            <a:spAutoFit/>
          </a:bodyPr>
          <a:lstStyle/>
          <a:p>
            <a:pPr algn="l"/>
            <a:r>
              <a:rPr sz="6300" b="0" i="0">
                <a:solidFill>
                  <a:srgbClr val="D9B45A"/>
                </a:solidFill>
                <a:latin typeface="Cormorant Garamond"/>
              </a:rPr>
              <a:t>05</a:t>
            </a:r>
          </a:p>
        </p:txBody>
      </p:sp>
      <p:sp>
        <p:nvSpPr>
          <p:cNvPr id="23" name="TextBox 22"/>
          <p:cNvSpPr txBox="1"/>
          <p:nvPr/>
        </p:nvSpPr>
        <p:spPr>
          <a:xfrm>
            <a:off x="7162800" y="3142803"/>
            <a:ext cx="1143000" cy="360045"/>
          </a:xfrm>
          <a:prstGeom prst="rect">
            <a:avLst/>
          </a:prstGeom>
          <a:noFill/>
        </p:spPr>
        <p:txBody>
          <a:bodyPr wrap="square">
            <a:spAutoFit/>
          </a:bodyPr>
          <a:lstStyle/>
          <a:p>
            <a:pPr algn="l"/>
            <a:r>
              <a:rPr sz="3150" b="0" i="0">
                <a:solidFill>
                  <a:srgbClr val="F7F4EC"/>
                </a:solidFill>
                <a:latin typeface="Cormorant Garamond"/>
              </a:rPr>
              <a:t>Action Plan</a:t>
            </a:r>
          </a:p>
        </p:txBody>
      </p:sp>
      <p:sp>
        <p:nvSpPr>
          <p:cNvPr id="24" name="TextBox 23"/>
          <p:cNvSpPr txBox="1"/>
          <p:nvPr/>
        </p:nvSpPr>
        <p:spPr>
          <a:xfrm>
            <a:off x="7038975" y="3619500"/>
            <a:ext cx="1390650" cy="205740"/>
          </a:xfrm>
          <a:prstGeom prst="rect">
            <a:avLst/>
          </a:prstGeom>
          <a:noFill/>
        </p:spPr>
        <p:txBody>
          <a:bodyPr wrap="square">
            <a:spAutoFit/>
          </a:bodyPr>
          <a:lstStyle/>
          <a:p>
            <a:pPr algn="ctr"/>
            <a:r>
              <a:rPr sz="1800" b="0" i="0">
                <a:solidFill>
                  <a:srgbClr val="14281C"/>
                </a:solidFill>
                <a:latin typeface="Rubik"/>
              </a:rPr>
              <a:t>12-month plan — 2027</a:t>
            </a:r>
          </a:p>
        </p:txBody>
      </p:sp>
    </p:spTree>
  </p:cSld>
  <p:clrMapOvr>
    <a:masterClrMapping/>
  </p:clrMapOvr>
  <p:transition dur="50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7.png"/>
          <p:cNvPicPr>
            <a:picLocks noChangeAspect="1"/>
          </p:cNvPicPr>
          <p:nvPr/>
        </p:nvPicPr>
        <p:blipFill>
          <a:blip r:embed="rId2"/>
          <a:stretch>
            <a:fillRect/>
          </a:stretch>
        </p:blipFill>
        <p:spPr>
          <a:xfrm>
            <a:off x="0" y="0"/>
            <a:ext cx="9144000" cy="5143500"/>
          </a:xfrm>
          <a:prstGeom prst="rect">
            <a:avLst/>
          </a:prstGeom>
        </p:spPr>
      </p:pic>
      <p:pic>
        <p:nvPicPr>
          <p:cNvPr id="3" name="Picture 2" descr="17b04c08fbf1177dfd9e5611f6dde926.jpg"/>
          <p:cNvPicPr>
            <a:picLocks noChangeAspect="1"/>
          </p:cNvPicPr>
          <p:nvPr/>
        </p:nvPicPr>
        <p:blipFill>
          <a:blip r:embed="rId3"/>
          <a:stretch>
            <a:fillRect/>
          </a:stretch>
        </p:blipFill>
        <p:spPr>
          <a:xfrm>
            <a:off x="0" y="0"/>
            <a:ext cx="9144000" cy="5143500"/>
          </a:xfrm>
          <a:prstGeom prst="rect">
            <a:avLst/>
          </a:prstGeom>
        </p:spPr>
      </p:pic>
      <p:sp>
        <p:nvSpPr>
          <p:cNvPr id="4" name="TextBox 3"/>
          <p:cNvSpPr txBox="1"/>
          <p:nvPr/>
        </p:nvSpPr>
        <p:spPr>
          <a:xfrm>
            <a:off x="609600" y="933450"/>
            <a:ext cx="3333750" cy="2228850"/>
          </a:xfrm>
          <a:prstGeom prst="rect">
            <a:avLst/>
          </a:prstGeom>
          <a:noFill/>
        </p:spPr>
        <p:txBody>
          <a:bodyPr wrap="square">
            <a:spAutoFit/>
          </a:bodyPr>
          <a:lstStyle/>
          <a:p>
            <a:pPr algn="l"/>
            <a:r>
              <a:rPr sz="19500" b="0" i="0">
                <a:solidFill>
                  <a:srgbClr val="D9B45A"/>
                </a:solidFill>
                <a:latin typeface="Cormorant Garamond"/>
              </a:rPr>
              <a:t>05</a:t>
            </a:r>
          </a:p>
        </p:txBody>
      </p:sp>
      <p:sp>
        <p:nvSpPr>
          <p:cNvPr id="5" name="TextBox 4"/>
          <p:cNvSpPr txBox="1"/>
          <p:nvPr/>
        </p:nvSpPr>
        <p:spPr>
          <a:xfrm>
            <a:off x="609600" y="2286000"/>
            <a:ext cx="3619500" cy="1097280"/>
          </a:xfrm>
          <a:prstGeom prst="rect">
            <a:avLst/>
          </a:prstGeom>
          <a:noFill/>
        </p:spPr>
        <p:txBody>
          <a:bodyPr wrap="square">
            <a:spAutoFit/>
          </a:bodyPr>
          <a:lstStyle/>
          <a:p>
            <a:pPr algn="l"/>
            <a:r>
              <a:rPr sz="9600" b="0" i="0">
                <a:solidFill>
                  <a:srgbClr val="F7F4EC"/>
                </a:solidFill>
                <a:latin typeface="Cormorant Garamond"/>
              </a:rPr>
              <a:t>Action Plan</a:t>
            </a:r>
          </a:p>
        </p:txBody>
      </p:sp>
      <p:sp>
        <p:nvSpPr>
          <p:cNvPr id="6" name="TextBox 5"/>
          <p:cNvSpPr txBox="1"/>
          <p:nvPr/>
        </p:nvSpPr>
        <p:spPr>
          <a:xfrm>
            <a:off x="609600" y="3048000"/>
            <a:ext cx="3619500" cy="257175"/>
          </a:xfrm>
          <a:prstGeom prst="rect">
            <a:avLst/>
          </a:prstGeom>
          <a:noFill/>
        </p:spPr>
        <p:txBody>
          <a:bodyPr wrap="square">
            <a:spAutoFit/>
          </a:bodyPr>
          <a:lstStyle/>
          <a:p>
            <a:pPr algn="l"/>
            <a:r>
              <a:rPr sz="2250" b="0" i="0" spc="150">
                <a:solidFill>
                  <a:srgbClr val="F7F4EC"/>
                </a:solidFill>
                <a:latin typeface="Rubik"/>
              </a:rPr>
              <a:t>Global Marketing Strategy</a:t>
            </a:r>
          </a:p>
        </p:txBody>
      </p:sp>
      <p:sp>
        <p:nvSpPr>
          <p:cNvPr id="7" name="TextBox 6"/>
          <p:cNvSpPr txBox="1"/>
          <p:nvPr/>
        </p:nvSpPr>
        <p:spPr>
          <a:xfrm>
            <a:off x="609600" y="3286125"/>
            <a:ext cx="3619500" cy="342900"/>
          </a:xfrm>
          <a:prstGeom prst="rect">
            <a:avLst/>
          </a:prstGeom>
          <a:noFill/>
        </p:spPr>
        <p:txBody>
          <a:bodyPr wrap="square">
            <a:spAutoFit/>
          </a:bodyPr>
          <a:lstStyle/>
          <a:p>
            <a:pPr algn="l"/>
            <a:r>
              <a:rPr sz="3000" b="0" i="1">
                <a:solidFill>
                  <a:srgbClr val="D9B45A"/>
                </a:solidFill>
                <a:latin typeface="Cormorant Garamond"/>
              </a:rPr>
              <a:t>12-month plan — 2027</a:t>
            </a:r>
          </a:p>
        </p:txBody>
      </p:sp>
    </p:spTree>
  </p:cSld>
  <p:clrMapOvr>
    <a:masterClrMapping/>
  </p:clrMapOvr>
  <p:transition dur="50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8.png"/>
          <p:cNvPicPr>
            <a:picLocks noChangeAspect="1"/>
          </p:cNvPicPr>
          <p:nvPr/>
        </p:nvPicPr>
        <p:blipFill>
          <a:blip r:embed="rId2"/>
          <a:stretch>
            <a:fillRect/>
          </a:stretch>
        </p:blipFill>
        <p:spPr>
          <a:xfrm>
            <a:off x="0" y="0"/>
            <a:ext cx="9144000" cy="5143500"/>
          </a:xfrm>
          <a:prstGeom prst="rect">
            <a:avLst/>
          </a:prstGeom>
        </p:spPr>
      </p:pic>
      <p:pic>
        <p:nvPicPr>
          <p:cNvPr id="3" name="Picture 2" descr="fc0392d72a01fc2b6bf39c1a1d327eaa.png"/>
          <p:cNvPicPr>
            <a:picLocks noChangeAspect="1"/>
          </p:cNvPicPr>
          <p:nvPr/>
        </p:nvPicPr>
        <p:blipFill>
          <a:blip r:embed="rId3"/>
          <a:stretch>
            <a:fillRect/>
          </a:stretch>
        </p:blipFill>
        <p:spPr>
          <a:xfrm>
            <a:off x="3965525" y="4086225"/>
            <a:ext cx="600075" cy="285750"/>
          </a:xfrm>
          <a:prstGeom prst="rect">
            <a:avLst/>
          </a:prstGeom>
        </p:spPr>
      </p:pic>
      <p:pic>
        <p:nvPicPr>
          <p:cNvPr id="4" name="Picture 3" descr="7a1558f19a007a91b7d9e57cb2da3482.png"/>
          <p:cNvPicPr>
            <a:picLocks noChangeAspect="1"/>
          </p:cNvPicPr>
          <p:nvPr/>
        </p:nvPicPr>
        <p:blipFill>
          <a:blip r:embed="rId4"/>
          <a:stretch>
            <a:fillRect/>
          </a:stretch>
        </p:blipFill>
        <p:spPr>
          <a:xfrm>
            <a:off x="4756100" y="4086225"/>
            <a:ext cx="314325" cy="285750"/>
          </a:xfrm>
          <a:prstGeom prst="rect">
            <a:avLst/>
          </a:prstGeom>
        </p:spPr>
      </p:pic>
      <p:pic>
        <p:nvPicPr>
          <p:cNvPr id="5" name="Picture 4" descr="8101219862ce79abce6e43268fcb5329.png"/>
          <p:cNvPicPr>
            <a:picLocks noChangeAspect="1"/>
          </p:cNvPicPr>
          <p:nvPr/>
        </p:nvPicPr>
        <p:blipFill>
          <a:blip r:embed="rId5"/>
          <a:stretch>
            <a:fillRect/>
          </a:stretch>
        </p:blipFill>
        <p:spPr>
          <a:xfrm>
            <a:off x="5260925" y="4086225"/>
            <a:ext cx="409575" cy="285750"/>
          </a:xfrm>
          <a:prstGeom prst="rect">
            <a:avLst/>
          </a:prstGeom>
        </p:spPr>
      </p:pic>
      <p:sp>
        <p:nvSpPr>
          <p:cNvPr id="6" name="TextBox 5"/>
          <p:cNvSpPr txBox="1"/>
          <p:nvPr/>
        </p:nvSpPr>
        <p:spPr>
          <a:xfrm>
            <a:off x="609600" y="495300"/>
            <a:ext cx="3564656" cy="205740"/>
          </a:xfrm>
          <a:prstGeom prst="rect">
            <a:avLst/>
          </a:prstGeom>
          <a:noFill/>
        </p:spPr>
        <p:txBody>
          <a:bodyPr wrap="square">
            <a:spAutoFit/>
          </a:bodyPr>
          <a:lstStyle/>
          <a:p>
            <a:pPr algn="l"/>
            <a:r>
              <a:rPr sz="1800" b="0" i="0" spc="300">
                <a:solidFill>
                  <a:srgbClr val="8A6A22"/>
                </a:solidFill>
                <a:latin typeface="Rubik"/>
              </a:rPr>
              <a:t>ACTION PLAN · 5-1</a:t>
            </a:r>
          </a:p>
        </p:txBody>
      </p:sp>
      <p:sp>
        <p:nvSpPr>
          <p:cNvPr id="7" name="TextBox 6"/>
          <p:cNvSpPr txBox="1"/>
          <p:nvPr/>
        </p:nvSpPr>
        <p:spPr>
          <a:xfrm>
            <a:off x="609600" y="683865"/>
            <a:ext cx="3564656" cy="548640"/>
          </a:xfrm>
          <a:prstGeom prst="rect">
            <a:avLst/>
          </a:prstGeom>
          <a:noFill/>
        </p:spPr>
        <p:txBody>
          <a:bodyPr wrap="square">
            <a:spAutoFit/>
          </a:bodyPr>
          <a:lstStyle/>
          <a:p>
            <a:pPr algn="l"/>
            <a:r>
              <a:rPr sz="4800" b="0" i="0">
                <a:solidFill>
                  <a:srgbClr val="14281C"/>
                </a:solidFill>
                <a:latin typeface="Cormorant Garamond"/>
              </a:rPr>
              <a:t>12-Month Action Plan — 2027</a:t>
            </a:r>
          </a:p>
        </p:txBody>
      </p:sp>
      <p:sp>
        <p:nvSpPr>
          <p:cNvPr id="8" name="TextBox 7"/>
          <p:cNvSpPr txBox="1"/>
          <p:nvPr/>
        </p:nvSpPr>
        <p:spPr>
          <a:xfrm>
            <a:off x="1419225" y="1133400"/>
            <a:ext cx="266700" cy="274320"/>
          </a:xfrm>
          <a:prstGeom prst="rect">
            <a:avLst/>
          </a:prstGeom>
          <a:noFill/>
        </p:spPr>
        <p:txBody>
          <a:bodyPr wrap="square">
            <a:spAutoFit/>
          </a:bodyPr>
          <a:lstStyle/>
          <a:p>
            <a:pPr algn="ctr"/>
            <a:r>
              <a:rPr sz="2400" b="0" i="0">
                <a:solidFill>
                  <a:srgbClr val="D9B45A"/>
                </a:solidFill>
                <a:latin typeface="Cormorant Garamond"/>
              </a:rPr>
              <a:t>1</a:t>
            </a:r>
          </a:p>
        </p:txBody>
      </p:sp>
      <p:sp>
        <p:nvSpPr>
          <p:cNvPr id="9" name="TextBox 8"/>
          <p:cNvSpPr txBox="1"/>
          <p:nvPr/>
        </p:nvSpPr>
        <p:spPr>
          <a:xfrm>
            <a:off x="3433762" y="1133400"/>
            <a:ext cx="266700" cy="274320"/>
          </a:xfrm>
          <a:prstGeom prst="rect">
            <a:avLst/>
          </a:prstGeom>
          <a:noFill/>
        </p:spPr>
        <p:txBody>
          <a:bodyPr wrap="square">
            <a:spAutoFit/>
          </a:bodyPr>
          <a:lstStyle/>
          <a:p>
            <a:pPr algn="ctr"/>
            <a:r>
              <a:rPr sz="2400" b="0" i="0">
                <a:solidFill>
                  <a:srgbClr val="D9B45A"/>
                </a:solidFill>
                <a:latin typeface="Cormorant Garamond"/>
              </a:rPr>
              <a:t>2</a:t>
            </a:r>
          </a:p>
        </p:txBody>
      </p:sp>
      <p:sp>
        <p:nvSpPr>
          <p:cNvPr id="10" name="TextBox 9"/>
          <p:cNvSpPr txBox="1"/>
          <p:nvPr/>
        </p:nvSpPr>
        <p:spPr>
          <a:xfrm>
            <a:off x="5448300" y="1133400"/>
            <a:ext cx="266700" cy="274320"/>
          </a:xfrm>
          <a:prstGeom prst="rect">
            <a:avLst/>
          </a:prstGeom>
          <a:noFill/>
        </p:spPr>
        <p:txBody>
          <a:bodyPr wrap="square">
            <a:spAutoFit/>
          </a:bodyPr>
          <a:lstStyle/>
          <a:p>
            <a:pPr algn="ctr"/>
            <a:r>
              <a:rPr sz="2400" b="0" i="0">
                <a:solidFill>
                  <a:srgbClr val="D9B45A"/>
                </a:solidFill>
                <a:latin typeface="Cormorant Garamond"/>
              </a:rPr>
              <a:t>3</a:t>
            </a:r>
          </a:p>
        </p:txBody>
      </p:sp>
      <p:sp>
        <p:nvSpPr>
          <p:cNvPr id="11" name="TextBox 10"/>
          <p:cNvSpPr txBox="1"/>
          <p:nvPr/>
        </p:nvSpPr>
        <p:spPr>
          <a:xfrm>
            <a:off x="7462837" y="1133400"/>
            <a:ext cx="266700" cy="274320"/>
          </a:xfrm>
          <a:prstGeom prst="rect">
            <a:avLst/>
          </a:prstGeom>
          <a:noFill/>
        </p:spPr>
        <p:txBody>
          <a:bodyPr wrap="square">
            <a:spAutoFit/>
          </a:bodyPr>
          <a:lstStyle/>
          <a:p>
            <a:pPr algn="ctr"/>
            <a:r>
              <a:rPr sz="2400" b="0" i="0">
                <a:solidFill>
                  <a:srgbClr val="D9B45A"/>
                </a:solidFill>
                <a:latin typeface="Cormorant Garamond"/>
              </a:rPr>
              <a:t>4</a:t>
            </a:r>
          </a:p>
        </p:txBody>
      </p:sp>
      <p:sp>
        <p:nvSpPr>
          <p:cNvPr id="12" name="TextBox 11"/>
          <p:cNvSpPr txBox="1"/>
          <p:nvPr/>
        </p:nvSpPr>
        <p:spPr>
          <a:xfrm>
            <a:off x="757237" y="1427559"/>
            <a:ext cx="1588293" cy="205740"/>
          </a:xfrm>
          <a:prstGeom prst="rect">
            <a:avLst/>
          </a:prstGeom>
          <a:noFill/>
        </p:spPr>
        <p:txBody>
          <a:bodyPr wrap="square">
            <a:spAutoFit/>
          </a:bodyPr>
          <a:lstStyle/>
          <a:p>
            <a:pPr algn="l"/>
            <a:r>
              <a:rPr sz="1800" b="0" i="0" spc="225">
                <a:solidFill>
                  <a:srgbClr val="D9B45A"/>
                </a:solidFill>
                <a:latin typeface="Rubik"/>
              </a:rPr>
              <a:t>Q1 2027</a:t>
            </a:r>
          </a:p>
        </p:txBody>
      </p:sp>
      <p:sp>
        <p:nvSpPr>
          <p:cNvPr id="13" name="TextBox 12"/>
          <p:cNvSpPr txBox="1"/>
          <p:nvPr/>
        </p:nvSpPr>
        <p:spPr>
          <a:xfrm>
            <a:off x="757237" y="1644699"/>
            <a:ext cx="1588293" cy="360045"/>
          </a:xfrm>
          <a:prstGeom prst="rect">
            <a:avLst/>
          </a:prstGeom>
          <a:noFill/>
        </p:spPr>
        <p:txBody>
          <a:bodyPr wrap="square">
            <a:spAutoFit/>
          </a:bodyPr>
          <a:lstStyle/>
          <a:p>
            <a:pPr algn="l"/>
            <a:r>
              <a:rPr sz="3150" b="0" i="0">
                <a:solidFill>
                  <a:srgbClr val="14281C"/>
                </a:solidFill>
                <a:latin typeface="Cormorant Garamond"/>
              </a:rPr>
              <a:t>Build the base</a:t>
            </a:r>
          </a:p>
        </p:txBody>
      </p:sp>
      <p:sp>
        <p:nvSpPr>
          <p:cNvPr id="14" name="TextBox 13"/>
          <p:cNvSpPr txBox="1"/>
          <p:nvPr/>
        </p:nvSpPr>
        <p:spPr>
          <a:xfrm>
            <a:off x="894159" y="1983283"/>
            <a:ext cx="1451371" cy="333375"/>
          </a:xfrm>
          <a:prstGeom prst="rect">
            <a:avLst/>
          </a:prstGeom>
          <a:noFill/>
        </p:spPr>
        <p:txBody>
          <a:bodyPr wrap="square">
            <a:spAutoFit/>
          </a:bodyPr>
          <a:lstStyle/>
          <a:p>
            <a:pPr algn="l"/>
            <a:r>
              <a:rPr sz="1875" b="0" i="0">
                <a:solidFill>
                  <a:srgbClr val="46534A"/>
                </a:solidFill>
                <a:latin typeface="Rubik"/>
              </a:rPr>
              <a:t>Sales kit EN / FR / JP, export price list</a:t>
            </a:r>
          </a:p>
        </p:txBody>
      </p:sp>
      <p:sp>
        <p:nvSpPr>
          <p:cNvPr id="15" name="TextBox 14"/>
          <p:cNvSpPr txBox="1"/>
          <p:nvPr/>
        </p:nvSpPr>
        <p:spPr>
          <a:xfrm>
            <a:off x="894159" y="2316658"/>
            <a:ext cx="1451371" cy="214312"/>
          </a:xfrm>
          <a:prstGeom prst="rect">
            <a:avLst/>
          </a:prstGeom>
          <a:noFill/>
        </p:spPr>
        <p:txBody>
          <a:bodyPr wrap="square">
            <a:spAutoFit/>
          </a:bodyPr>
          <a:lstStyle/>
          <a:p>
            <a:pPr algn="l"/>
            <a:r>
              <a:rPr sz="1875" b="0" i="0">
                <a:solidFill>
                  <a:srgbClr val="46534A"/>
                </a:solidFill>
                <a:latin typeface="Rubik"/>
              </a:rPr>
              <a:t>Multilingual website</a:t>
            </a:r>
          </a:p>
        </p:txBody>
      </p:sp>
      <p:sp>
        <p:nvSpPr>
          <p:cNvPr id="16" name="TextBox 15"/>
          <p:cNvSpPr txBox="1"/>
          <p:nvPr/>
        </p:nvSpPr>
        <p:spPr>
          <a:xfrm>
            <a:off x="894159" y="2483346"/>
            <a:ext cx="1451371" cy="333375"/>
          </a:xfrm>
          <a:prstGeom prst="rect">
            <a:avLst/>
          </a:prstGeom>
          <a:noFill/>
        </p:spPr>
        <p:txBody>
          <a:bodyPr wrap="square">
            <a:spAutoFit/>
          </a:bodyPr>
          <a:lstStyle/>
          <a:p>
            <a:pPr algn="l"/>
            <a:r>
              <a:rPr sz="1875" b="0" i="0">
                <a:solidFill>
                  <a:srgbClr val="46534A"/>
                </a:solidFill>
                <a:latin typeface="Rubik"/>
              </a:rPr>
              <a:t>BIOFACH &amp; FOODEX Japan</a:t>
            </a:r>
          </a:p>
        </p:txBody>
      </p:sp>
      <p:sp>
        <p:nvSpPr>
          <p:cNvPr id="17" name="TextBox 16"/>
          <p:cNvSpPr txBox="1"/>
          <p:nvPr/>
        </p:nvSpPr>
        <p:spPr>
          <a:xfrm>
            <a:off x="894159" y="2816721"/>
            <a:ext cx="1451371" cy="214312"/>
          </a:xfrm>
          <a:prstGeom prst="rect">
            <a:avLst/>
          </a:prstGeom>
          <a:noFill/>
        </p:spPr>
        <p:txBody>
          <a:bodyPr wrap="square">
            <a:spAutoFit/>
          </a:bodyPr>
          <a:lstStyle/>
          <a:p>
            <a:pPr algn="l"/>
            <a:r>
              <a:rPr sz="1875" b="0" i="0">
                <a:solidFill>
                  <a:srgbClr val="46534A"/>
                </a:solidFill>
                <a:latin typeface="Rubik"/>
              </a:rPr>
              <a:t>1–2 quality competitions</a:t>
            </a:r>
          </a:p>
        </p:txBody>
      </p:sp>
      <p:sp>
        <p:nvSpPr>
          <p:cNvPr id="18" name="TextBox 17"/>
          <p:cNvSpPr txBox="1"/>
          <p:nvPr/>
        </p:nvSpPr>
        <p:spPr>
          <a:xfrm>
            <a:off x="757237" y="3355776"/>
            <a:ext cx="1588293" cy="392310"/>
          </a:xfrm>
          <a:prstGeom prst="rect">
            <a:avLst/>
          </a:prstGeom>
          <a:noFill/>
        </p:spPr>
        <p:txBody>
          <a:bodyPr wrap="square">
            <a:spAutoFit/>
          </a:bodyPr>
          <a:lstStyle/>
          <a:p>
            <a:pPr algn="l"/>
            <a:r>
              <a:rPr sz="1800" b="0" i="0">
                <a:solidFill>
                  <a:srgbClr val="14281C"/>
                </a:solidFill>
                <a:latin typeface="Rubik"/>
              </a:rPr>
              <a:t>KPI: Sales kit ready, importer shortlist</a:t>
            </a:r>
          </a:p>
        </p:txBody>
      </p:sp>
      <p:sp>
        <p:nvSpPr>
          <p:cNvPr id="19" name="TextBox 18"/>
          <p:cNvSpPr txBox="1"/>
          <p:nvPr/>
        </p:nvSpPr>
        <p:spPr>
          <a:xfrm>
            <a:off x="2774156" y="1427559"/>
            <a:ext cx="1588293" cy="205740"/>
          </a:xfrm>
          <a:prstGeom prst="rect">
            <a:avLst/>
          </a:prstGeom>
          <a:noFill/>
        </p:spPr>
        <p:txBody>
          <a:bodyPr wrap="square">
            <a:spAutoFit/>
          </a:bodyPr>
          <a:lstStyle/>
          <a:p>
            <a:pPr algn="l"/>
            <a:r>
              <a:rPr sz="1800" b="0" i="0" spc="225">
                <a:solidFill>
                  <a:srgbClr val="D9B45A"/>
                </a:solidFill>
                <a:latin typeface="Rubik"/>
              </a:rPr>
              <a:t>Q2 2027</a:t>
            </a:r>
          </a:p>
        </p:txBody>
      </p:sp>
      <p:sp>
        <p:nvSpPr>
          <p:cNvPr id="20" name="TextBox 19"/>
          <p:cNvSpPr txBox="1"/>
          <p:nvPr/>
        </p:nvSpPr>
        <p:spPr>
          <a:xfrm>
            <a:off x="2774156" y="1644699"/>
            <a:ext cx="1588293" cy="360045"/>
          </a:xfrm>
          <a:prstGeom prst="rect">
            <a:avLst/>
          </a:prstGeom>
          <a:noFill/>
        </p:spPr>
        <p:txBody>
          <a:bodyPr wrap="square">
            <a:spAutoFit/>
          </a:bodyPr>
          <a:lstStyle/>
          <a:p>
            <a:pPr algn="l"/>
            <a:r>
              <a:rPr sz="3150" b="0" i="0">
                <a:solidFill>
                  <a:srgbClr val="14281C"/>
                </a:solidFill>
                <a:latin typeface="Cormorant Garamond"/>
              </a:rPr>
              <a:t>Seed &amp; sign</a:t>
            </a:r>
          </a:p>
        </p:txBody>
      </p:sp>
      <p:sp>
        <p:nvSpPr>
          <p:cNvPr id="21" name="TextBox 20"/>
          <p:cNvSpPr txBox="1"/>
          <p:nvPr/>
        </p:nvSpPr>
        <p:spPr>
          <a:xfrm>
            <a:off x="2911078" y="1983283"/>
            <a:ext cx="1451371" cy="333375"/>
          </a:xfrm>
          <a:prstGeom prst="rect">
            <a:avLst/>
          </a:prstGeom>
          <a:noFill/>
        </p:spPr>
        <p:txBody>
          <a:bodyPr wrap="square">
            <a:spAutoFit/>
          </a:bodyPr>
          <a:lstStyle/>
          <a:p>
            <a:pPr algn="l"/>
            <a:r>
              <a:rPr sz="1875" b="0" i="0">
                <a:solidFill>
                  <a:srgbClr val="46534A"/>
                </a:solidFill>
                <a:latin typeface="Rubik"/>
              </a:rPr>
              <a:t>Targeted samples: chefs, delis, organic stores</a:t>
            </a:r>
          </a:p>
        </p:txBody>
      </p:sp>
      <p:sp>
        <p:nvSpPr>
          <p:cNvPr id="22" name="TextBox 21"/>
          <p:cNvSpPr txBox="1"/>
          <p:nvPr/>
        </p:nvSpPr>
        <p:spPr>
          <a:xfrm>
            <a:off x="2911078" y="2316658"/>
            <a:ext cx="1451371" cy="333375"/>
          </a:xfrm>
          <a:prstGeom prst="rect">
            <a:avLst/>
          </a:prstGeom>
          <a:noFill/>
        </p:spPr>
        <p:txBody>
          <a:bodyPr wrap="square">
            <a:spAutoFit/>
          </a:bodyPr>
          <a:lstStyle/>
          <a:p>
            <a:pPr algn="l"/>
            <a:r>
              <a:rPr sz="1875" b="0" i="0">
                <a:solidFill>
                  <a:srgbClr val="46534A"/>
                </a:solidFill>
                <a:latin typeface="Rubik"/>
              </a:rPr>
              <a:t>Sign 1 Japan importer + 2 EU distributors</a:t>
            </a:r>
          </a:p>
        </p:txBody>
      </p:sp>
      <p:sp>
        <p:nvSpPr>
          <p:cNvPr id="23" name="TextBox 22"/>
          <p:cNvSpPr txBox="1"/>
          <p:nvPr/>
        </p:nvSpPr>
        <p:spPr>
          <a:xfrm>
            <a:off x="2911078" y="2650033"/>
            <a:ext cx="1451371" cy="214312"/>
          </a:xfrm>
          <a:prstGeom prst="rect">
            <a:avLst/>
          </a:prstGeom>
          <a:noFill/>
        </p:spPr>
        <p:txBody>
          <a:bodyPr wrap="square">
            <a:spAutoFit/>
          </a:bodyPr>
          <a:lstStyle/>
          <a:p>
            <a:pPr algn="l"/>
            <a:r>
              <a:rPr sz="1875" b="0" i="0">
                <a:solidFill>
                  <a:srgbClr val="46534A"/>
                </a:solidFill>
                <a:latin typeface="Rubik"/>
              </a:rPr>
              <a:t>Launch Flavored gift box</a:t>
            </a:r>
          </a:p>
        </p:txBody>
      </p:sp>
      <p:sp>
        <p:nvSpPr>
          <p:cNvPr id="24" name="TextBox 23"/>
          <p:cNvSpPr txBox="1"/>
          <p:nvPr/>
        </p:nvSpPr>
        <p:spPr>
          <a:xfrm>
            <a:off x="2911078" y="2816721"/>
            <a:ext cx="1451371" cy="333375"/>
          </a:xfrm>
          <a:prstGeom prst="rect">
            <a:avLst/>
          </a:prstGeom>
          <a:noFill/>
        </p:spPr>
        <p:txBody>
          <a:bodyPr wrap="square">
            <a:spAutoFit/>
          </a:bodyPr>
          <a:lstStyle/>
          <a:p>
            <a:pPr algn="l"/>
            <a:r>
              <a:rPr sz="1875" b="0" i="0">
                <a:solidFill>
                  <a:srgbClr val="46534A"/>
                </a:solidFill>
                <a:latin typeface="Rubik"/>
              </a:rPr>
              <a:t>1 duty-free operator abroad</a:t>
            </a:r>
          </a:p>
        </p:txBody>
      </p:sp>
      <p:sp>
        <p:nvSpPr>
          <p:cNvPr id="25" name="TextBox 24"/>
          <p:cNvSpPr txBox="1"/>
          <p:nvPr/>
        </p:nvSpPr>
        <p:spPr>
          <a:xfrm>
            <a:off x="2774156" y="3207246"/>
            <a:ext cx="1588293" cy="540841"/>
          </a:xfrm>
          <a:prstGeom prst="rect">
            <a:avLst/>
          </a:prstGeom>
          <a:noFill/>
        </p:spPr>
        <p:txBody>
          <a:bodyPr wrap="square">
            <a:spAutoFit/>
          </a:bodyPr>
          <a:lstStyle/>
          <a:p>
            <a:pPr algn="l"/>
            <a:r>
              <a:rPr sz="1800" b="0" i="0">
                <a:solidFill>
                  <a:srgbClr val="14281C"/>
                </a:solidFill>
                <a:latin typeface="Rubik"/>
              </a:rPr>
              <a:t>June checkpoint: &gt;20% sample → order · 15 HORECA</a:t>
            </a:r>
          </a:p>
        </p:txBody>
      </p:sp>
      <p:sp>
        <p:nvSpPr>
          <p:cNvPr id="26" name="TextBox 25"/>
          <p:cNvSpPr txBox="1"/>
          <p:nvPr/>
        </p:nvSpPr>
        <p:spPr>
          <a:xfrm>
            <a:off x="4791075" y="1427559"/>
            <a:ext cx="1588293" cy="205740"/>
          </a:xfrm>
          <a:prstGeom prst="rect">
            <a:avLst/>
          </a:prstGeom>
          <a:noFill/>
        </p:spPr>
        <p:txBody>
          <a:bodyPr wrap="square">
            <a:spAutoFit/>
          </a:bodyPr>
          <a:lstStyle/>
          <a:p>
            <a:pPr algn="l"/>
            <a:r>
              <a:rPr sz="1800" b="0" i="0" spc="225">
                <a:solidFill>
                  <a:srgbClr val="D9B45A"/>
                </a:solidFill>
                <a:latin typeface="Rubik"/>
              </a:rPr>
              <a:t>Q3 2027</a:t>
            </a:r>
          </a:p>
        </p:txBody>
      </p:sp>
      <p:sp>
        <p:nvSpPr>
          <p:cNvPr id="27" name="TextBox 26"/>
          <p:cNvSpPr txBox="1"/>
          <p:nvPr/>
        </p:nvSpPr>
        <p:spPr>
          <a:xfrm>
            <a:off x="4791075" y="1644699"/>
            <a:ext cx="1588293" cy="360045"/>
          </a:xfrm>
          <a:prstGeom prst="rect">
            <a:avLst/>
          </a:prstGeom>
          <a:noFill/>
        </p:spPr>
        <p:txBody>
          <a:bodyPr wrap="square">
            <a:spAutoFit/>
          </a:bodyPr>
          <a:lstStyle/>
          <a:p>
            <a:pPr algn="l"/>
            <a:r>
              <a:rPr sz="3150" b="0" i="0">
                <a:solidFill>
                  <a:srgbClr val="14281C"/>
                </a:solidFill>
                <a:latin typeface="Cormorant Garamond"/>
              </a:rPr>
              <a:t>Activate</a:t>
            </a:r>
          </a:p>
        </p:txBody>
      </p:sp>
      <p:sp>
        <p:nvSpPr>
          <p:cNvPr id="28" name="TextBox 27"/>
          <p:cNvSpPr txBox="1"/>
          <p:nvPr/>
        </p:nvSpPr>
        <p:spPr>
          <a:xfrm>
            <a:off x="4927996" y="1983283"/>
            <a:ext cx="1451371" cy="333375"/>
          </a:xfrm>
          <a:prstGeom prst="rect">
            <a:avLst/>
          </a:prstGeom>
          <a:noFill/>
        </p:spPr>
        <p:txBody>
          <a:bodyPr wrap="square">
            <a:spAutoFit/>
          </a:bodyPr>
          <a:lstStyle/>
          <a:p>
            <a:pPr algn="l"/>
            <a:r>
              <a:rPr sz="1875" b="0" i="0">
                <a:solidFill>
                  <a:srgbClr val="46534A"/>
                </a:solidFill>
                <a:latin typeface="Rubik"/>
              </a:rPr>
              <a:t>Chef ambassadors, in-store tastings</a:t>
            </a:r>
          </a:p>
        </p:txBody>
      </p:sp>
      <p:sp>
        <p:nvSpPr>
          <p:cNvPr id="29" name="TextBox 28"/>
          <p:cNvSpPr txBox="1"/>
          <p:nvPr/>
        </p:nvSpPr>
        <p:spPr>
          <a:xfrm>
            <a:off x="4927996" y="2316658"/>
            <a:ext cx="1451371" cy="333375"/>
          </a:xfrm>
          <a:prstGeom prst="rect">
            <a:avLst/>
          </a:prstGeom>
          <a:noFill/>
        </p:spPr>
        <p:txBody>
          <a:bodyPr wrap="square">
            <a:spAutoFit/>
          </a:bodyPr>
          <a:lstStyle/>
          <a:p>
            <a:pPr algn="l"/>
            <a:r>
              <a:rPr sz="1875" b="0" i="0">
                <a:solidFill>
                  <a:srgbClr val="46534A"/>
                </a:solidFill>
                <a:latin typeface="Rubik"/>
              </a:rPr>
              <a:t>Ochugen gift season (Japan)</a:t>
            </a:r>
          </a:p>
        </p:txBody>
      </p:sp>
      <p:sp>
        <p:nvSpPr>
          <p:cNvPr id="30" name="TextBox 29"/>
          <p:cNvSpPr txBox="1"/>
          <p:nvPr/>
        </p:nvSpPr>
        <p:spPr>
          <a:xfrm>
            <a:off x="4927996" y="2650033"/>
            <a:ext cx="1451371" cy="333375"/>
          </a:xfrm>
          <a:prstGeom prst="rect">
            <a:avLst/>
          </a:prstGeom>
          <a:noFill/>
        </p:spPr>
        <p:txBody>
          <a:bodyPr wrap="square">
            <a:spAutoFit/>
          </a:bodyPr>
          <a:lstStyle/>
          <a:p>
            <a:pPr algn="l"/>
            <a:r>
              <a:rPr sz="1875" b="0" i="0">
                <a:solidFill>
                  <a:srgbClr val="46534A"/>
                </a:solidFill>
                <a:latin typeface="Rubik"/>
              </a:rPr>
              <a:t>Gulf: commission agent for corporate gifts</a:t>
            </a:r>
          </a:p>
        </p:txBody>
      </p:sp>
      <p:sp>
        <p:nvSpPr>
          <p:cNvPr id="31" name="TextBox 30"/>
          <p:cNvSpPr txBox="1"/>
          <p:nvPr/>
        </p:nvSpPr>
        <p:spPr>
          <a:xfrm>
            <a:off x="4791075" y="3355776"/>
            <a:ext cx="1588293" cy="392310"/>
          </a:xfrm>
          <a:prstGeom prst="rect">
            <a:avLst/>
          </a:prstGeom>
          <a:noFill/>
        </p:spPr>
        <p:txBody>
          <a:bodyPr wrap="square">
            <a:spAutoFit/>
          </a:bodyPr>
          <a:lstStyle/>
          <a:p>
            <a:pPr algn="l"/>
            <a:r>
              <a:rPr sz="1800" b="0" i="0">
                <a:solidFill>
                  <a:srgbClr val="14281C"/>
                </a:solidFill>
                <a:latin typeface="Rubik"/>
              </a:rPr>
              <a:t>Tranche 2 (€75k) only if checkpoint met</a:t>
            </a:r>
          </a:p>
        </p:txBody>
      </p:sp>
      <p:sp>
        <p:nvSpPr>
          <p:cNvPr id="32" name="TextBox 31"/>
          <p:cNvSpPr txBox="1"/>
          <p:nvPr/>
        </p:nvSpPr>
        <p:spPr>
          <a:xfrm>
            <a:off x="6803231" y="1422796"/>
            <a:ext cx="1588293" cy="205740"/>
          </a:xfrm>
          <a:prstGeom prst="rect">
            <a:avLst/>
          </a:prstGeom>
          <a:noFill/>
        </p:spPr>
        <p:txBody>
          <a:bodyPr wrap="square">
            <a:spAutoFit/>
          </a:bodyPr>
          <a:lstStyle/>
          <a:p>
            <a:pPr algn="l"/>
            <a:r>
              <a:rPr sz="1800" b="0" i="0" spc="225">
                <a:solidFill>
                  <a:srgbClr val="D9B45A"/>
                </a:solidFill>
                <a:latin typeface="Rubik"/>
              </a:rPr>
              <a:t>Q4 2027</a:t>
            </a:r>
          </a:p>
        </p:txBody>
      </p:sp>
      <p:sp>
        <p:nvSpPr>
          <p:cNvPr id="33" name="TextBox 32"/>
          <p:cNvSpPr txBox="1"/>
          <p:nvPr/>
        </p:nvSpPr>
        <p:spPr>
          <a:xfrm>
            <a:off x="6803231" y="1639937"/>
            <a:ext cx="1588293" cy="360045"/>
          </a:xfrm>
          <a:prstGeom prst="rect">
            <a:avLst/>
          </a:prstGeom>
          <a:noFill/>
        </p:spPr>
        <p:txBody>
          <a:bodyPr wrap="square">
            <a:spAutoFit/>
          </a:bodyPr>
          <a:lstStyle/>
          <a:p>
            <a:pPr algn="l"/>
            <a:r>
              <a:rPr sz="3150" b="0" i="0">
                <a:solidFill>
                  <a:srgbClr val="F7F4EC"/>
                </a:solidFill>
                <a:latin typeface="Cormorant Garamond"/>
              </a:rPr>
              <a:t>Season &amp; review</a:t>
            </a:r>
          </a:p>
        </p:txBody>
      </p:sp>
      <p:sp>
        <p:nvSpPr>
          <p:cNvPr id="34" name="TextBox 33"/>
          <p:cNvSpPr txBox="1"/>
          <p:nvPr/>
        </p:nvSpPr>
        <p:spPr>
          <a:xfrm>
            <a:off x="6940153" y="1978521"/>
            <a:ext cx="1451371" cy="333375"/>
          </a:xfrm>
          <a:prstGeom prst="rect">
            <a:avLst/>
          </a:prstGeom>
          <a:noFill/>
        </p:spPr>
        <p:txBody>
          <a:bodyPr wrap="square">
            <a:spAutoFit/>
          </a:bodyPr>
          <a:lstStyle/>
          <a:p>
            <a:pPr algn="l"/>
            <a:r>
              <a:rPr sz="1875" b="0" i="0">
                <a:solidFill>
                  <a:srgbClr val="E4EBE1"/>
                </a:solidFill>
                <a:latin typeface="Rubik"/>
              </a:rPr>
              <a:t>Year-end gift boxes &amp; MOHRA (Oseibo)</a:t>
            </a:r>
          </a:p>
        </p:txBody>
      </p:sp>
      <p:sp>
        <p:nvSpPr>
          <p:cNvPr id="35" name="TextBox 34"/>
          <p:cNvSpPr txBox="1"/>
          <p:nvPr/>
        </p:nvSpPr>
        <p:spPr>
          <a:xfrm>
            <a:off x="6940153" y="2311896"/>
            <a:ext cx="1451371" cy="214312"/>
          </a:xfrm>
          <a:prstGeom prst="rect">
            <a:avLst/>
          </a:prstGeom>
          <a:noFill/>
        </p:spPr>
        <p:txBody>
          <a:bodyPr wrap="square">
            <a:spAutoFit/>
          </a:bodyPr>
          <a:lstStyle/>
          <a:p>
            <a:pPr algn="l"/>
            <a:r>
              <a:rPr sz="1875" b="0" i="0">
                <a:solidFill>
                  <a:srgbClr val="E4EBE1"/>
                </a:solidFill>
                <a:latin typeface="Rubik"/>
              </a:rPr>
              <a:t>Review the 8 KPIs vs P&amp;L</a:t>
            </a:r>
          </a:p>
        </p:txBody>
      </p:sp>
      <p:sp>
        <p:nvSpPr>
          <p:cNvPr id="36" name="TextBox 35"/>
          <p:cNvSpPr txBox="1"/>
          <p:nvPr/>
        </p:nvSpPr>
        <p:spPr>
          <a:xfrm>
            <a:off x="6940153" y="2478583"/>
            <a:ext cx="1451371" cy="214312"/>
          </a:xfrm>
          <a:prstGeom prst="rect">
            <a:avLst/>
          </a:prstGeom>
          <a:noFill/>
        </p:spPr>
        <p:txBody>
          <a:bodyPr wrap="square">
            <a:spAutoFit/>
          </a:bodyPr>
          <a:lstStyle/>
          <a:p>
            <a:pPr algn="l"/>
            <a:r>
              <a:rPr sz="1875" b="0" i="0">
                <a:solidFill>
                  <a:srgbClr val="E4EBE1"/>
                </a:solidFill>
                <a:latin typeface="Rubik"/>
              </a:rPr>
              <a:t>2028 plan: new markets?</a:t>
            </a:r>
          </a:p>
        </p:txBody>
      </p:sp>
      <p:sp>
        <p:nvSpPr>
          <p:cNvPr id="37" name="TextBox 36"/>
          <p:cNvSpPr txBox="1"/>
          <p:nvPr/>
        </p:nvSpPr>
        <p:spPr>
          <a:xfrm>
            <a:off x="6803231" y="3360539"/>
            <a:ext cx="1588293" cy="392310"/>
          </a:xfrm>
          <a:prstGeom prst="rect">
            <a:avLst/>
          </a:prstGeom>
          <a:noFill/>
        </p:spPr>
        <p:txBody>
          <a:bodyPr wrap="square">
            <a:spAutoFit/>
          </a:bodyPr>
          <a:lstStyle/>
          <a:p>
            <a:pPr algn="l"/>
            <a:r>
              <a:rPr sz="1800" b="0" i="0">
                <a:solidFill>
                  <a:srgbClr val="D9B45A"/>
                </a:solidFill>
                <a:latin typeface="Rubik"/>
              </a:rPr>
              <a:t>KPI: 7,800 K-TND · 40 HORECA · &gt;30% repeat</a:t>
            </a:r>
          </a:p>
        </p:txBody>
      </p:sp>
      <p:sp>
        <p:nvSpPr>
          <p:cNvPr id="38" name="TextBox 37"/>
          <p:cNvSpPr txBox="1"/>
          <p:nvPr/>
        </p:nvSpPr>
        <p:spPr>
          <a:xfrm>
            <a:off x="762000" y="4149104"/>
            <a:ext cx="1037480" cy="205740"/>
          </a:xfrm>
          <a:prstGeom prst="rect">
            <a:avLst/>
          </a:prstGeom>
          <a:noFill/>
        </p:spPr>
        <p:txBody>
          <a:bodyPr wrap="square">
            <a:spAutoFit/>
          </a:bodyPr>
          <a:lstStyle/>
          <a:p>
            <a:pPr algn="l"/>
            <a:r>
              <a:rPr sz="1800" b="0" i="0" spc="225">
                <a:solidFill>
                  <a:srgbClr val="D9B45A"/>
                </a:solidFill>
                <a:latin typeface="Rubik"/>
              </a:rPr>
              <a:t>ALL YEAR 2027</a:t>
            </a:r>
          </a:p>
        </p:txBody>
      </p:sp>
      <p:sp>
        <p:nvSpPr>
          <p:cNvPr id="39" name="TextBox 38"/>
          <p:cNvSpPr txBox="1"/>
          <p:nvPr/>
        </p:nvSpPr>
        <p:spPr>
          <a:xfrm>
            <a:off x="2070943" y="4109070"/>
            <a:ext cx="1704082" cy="308610"/>
          </a:xfrm>
          <a:prstGeom prst="rect">
            <a:avLst/>
          </a:prstGeom>
          <a:noFill/>
        </p:spPr>
        <p:txBody>
          <a:bodyPr wrap="square">
            <a:spAutoFit/>
          </a:bodyPr>
          <a:lstStyle/>
          <a:p>
            <a:pPr algn="l"/>
            <a:r>
              <a:rPr sz="2700" b="0" i="0">
                <a:solidFill>
                  <a:srgbClr val="F7F4EC"/>
                </a:solidFill>
                <a:latin typeface="Cormorant Garamond"/>
              </a:rPr>
              <a:t>Certifications in progress</a:t>
            </a:r>
          </a:p>
        </p:txBody>
      </p:sp>
      <p:sp>
        <p:nvSpPr>
          <p:cNvPr id="40" name="TextBox 39"/>
          <p:cNvSpPr txBox="1"/>
          <p:nvPr/>
        </p:nvSpPr>
        <p:spPr>
          <a:xfrm>
            <a:off x="5861000" y="4080569"/>
            <a:ext cx="2520999" cy="297060"/>
          </a:xfrm>
          <a:prstGeom prst="rect">
            <a:avLst/>
          </a:prstGeom>
          <a:noFill/>
        </p:spPr>
        <p:txBody>
          <a:bodyPr wrap="square">
            <a:spAutoFit/>
          </a:bodyPr>
          <a:lstStyle/>
          <a:p>
            <a:pPr algn="l"/>
            <a:r>
              <a:rPr sz="1800" b="0" i="0">
                <a:solidFill>
                  <a:srgbClr val="C9D6C4"/>
                </a:solidFill>
                <a:latin typeface="Rubik"/>
              </a:rPr>
              <a:t>IFS Food · BRCGS · Halal — opens the large retail chains and the Halal markets</a:t>
            </a:r>
          </a:p>
        </p:txBody>
      </p:sp>
      <p:sp>
        <p:nvSpPr>
          <p:cNvPr id="41" name="TextBox 40"/>
          <p:cNvSpPr txBox="1"/>
          <p:nvPr/>
        </p:nvSpPr>
        <p:spPr>
          <a:xfrm>
            <a:off x="609600" y="4678709"/>
            <a:ext cx="6191250" cy="205740"/>
          </a:xfrm>
          <a:prstGeom prst="rect">
            <a:avLst/>
          </a:prstGeom>
          <a:noFill/>
        </p:spPr>
        <p:txBody>
          <a:bodyPr wrap="square">
            <a:spAutoFit/>
          </a:bodyPr>
          <a:lstStyle/>
          <a:p>
            <a:pPr algn="l"/>
            <a:r>
              <a:rPr sz="1800" b="0" i="0">
                <a:solidFill>
                  <a:srgbClr val="6B776E"/>
                </a:solidFill>
                <a:latin typeface="Rubik"/>
              </a:rPr>
              <a:t>Strategic assumptions — to be validated by SNPT management, distributor quotes and local market research</a:t>
            </a:r>
          </a:p>
        </p:txBody>
      </p:sp>
      <p:sp>
        <p:nvSpPr>
          <p:cNvPr id="42" name="TextBox 41"/>
          <p:cNvSpPr txBox="1"/>
          <p:nvPr/>
        </p:nvSpPr>
        <p:spPr>
          <a:xfrm>
            <a:off x="7581900" y="4678709"/>
            <a:ext cx="952500" cy="205740"/>
          </a:xfrm>
          <a:prstGeom prst="rect">
            <a:avLst/>
          </a:prstGeom>
          <a:noFill/>
        </p:spPr>
        <p:txBody>
          <a:bodyPr wrap="square">
            <a:spAutoFit/>
          </a:bodyPr>
          <a:lstStyle/>
          <a:p>
            <a:pPr algn="r"/>
            <a:r>
              <a:rPr sz="1800" b="0" i="0" spc="150">
                <a:solidFill>
                  <a:srgbClr val="8A6A22"/>
                </a:solidFill>
                <a:latin typeface="Rubik"/>
              </a:rPr>
              <a:t>34 / 35</a:t>
            </a:r>
          </a:p>
        </p:txBody>
      </p:sp>
    </p:spTree>
  </p:cSld>
  <p:clrMapOvr>
    <a:masterClrMapping/>
  </p:clrMapOvr>
  <p:transition dur="50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39.png"/>
          <p:cNvPicPr>
            <a:picLocks noChangeAspect="1"/>
          </p:cNvPicPr>
          <p:nvPr/>
        </p:nvPicPr>
        <p:blipFill>
          <a:blip r:embed="rId2"/>
          <a:stretch>
            <a:fillRect/>
          </a:stretch>
        </p:blipFill>
        <p:spPr>
          <a:xfrm>
            <a:off x="0" y="0"/>
            <a:ext cx="9144000" cy="5143500"/>
          </a:xfrm>
          <a:prstGeom prst="rect">
            <a:avLst/>
          </a:prstGeom>
        </p:spPr>
      </p:pic>
      <p:pic>
        <p:nvPicPr>
          <p:cNvPr id="3" name="Picture 2" descr="magon_spray_7flavors.jpg"/>
          <p:cNvPicPr>
            <a:picLocks noChangeAspect="1"/>
          </p:cNvPicPr>
          <p:nvPr/>
        </p:nvPicPr>
        <p:blipFill>
          <a:blip r:embed="rId3"/>
          <a:stretch>
            <a:fillRect/>
          </a:stretch>
        </p:blipFill>
        <p:spPr>
          <a:xfrm>
            <a:off x="6729412" y="1777231"/>
            <a:ext cx="1809750" cy="2698253"/>
          </a:xfrm>
          <a:prstGeom prst="rect">
            <a:avLst/>
          </a:prstGeom>
        </p:spPr>
      </p:pic>
      <p:sp>
        <p:nvSpPr>
          <p:cNvPr id="4" name="TextBox 3"/>
          <p:cNvSpPr txBox="1"/>
          <p:nvPr/>
        </p:nvSpPr>
        <p:spPr>
          <a:xfrm>
            <a:off x="609600" y="495300"/>
            <a:ext cx="3937322" cy="205740"/>
          </a:xfrm>
          <a:prstGeom prst="rect">
            <a:avLst/>
          </a:prstGeom>
          <a:noFill/>
        </p:spPr>
        <p:txBody>
          <a:bodyPr wrap="square">
            <a:spAutoFit/>
          </a:bodyPr>
          <a:lstStyle/>
          <a:p>
            <a:pPr algn="l"/>
            <a:r>
              <a:rPr sz="1800" b="0" i="0" spc="300">
                <a:solidFill>
                  <a:srgbClr val="8A6A22"/>
                </a:solidFill>
                <a:latin typeface="Rubik"/>
              </a:rPr>
              <a:t>ACTION PLAN · 5-2</a:t>
            </a:r>
          </a:p>
        </p:txBody>
      </p:sp>
      <p:sp>
        <p:nvSpPr>
          <p:cNvPr id="5" name="TextBox 4"/>
          <p:cNvSpPr txBox="1"/>
          <p:nvPr/>
        </p:nvSpPr>
        <p:spPr>
          <a:xfrm>
            <a:off x="609600" y="683865"/>
            <a:ext cx="3937322" cy="548640"/>
          </a:xfrm>
          <a:prstGeom prst="rect">
            <a:avLst/>
          </a:prstGeom>
          <a:noFill/>
        </p:spPr>
        <p:txBody>
          <a:bodyPr wrap="square">
            <a:spAutoFit/>
          </a:bodyPr>
          <a:lstStyle/>
          <a:p>
            <a:pPr algn="l"/>
            <a:r>
              <a:rPr sz="4800" b="0" i="0">
                <a:solidFill>
                  <a:srgbClr val="14281C"/>
                </a:solidFill>
                <a:latin typeface="Cormorant Garamond"/>
              </a:rPr>
              <a:t>USA — Flavored Olive Oil Spray</a:t>
            </a:r>
          </a:p>
        </p:txBody>
      </p:sp>
      <p:sp>
        <p:nvSpPr>
          <p:cNvPr id="6" name="TextBox 5"/>
          <p:cNvSpPr txBox="1"/>
          <p:nvPr/>
        </p:nvSpPr>
        <p:spPr>
          <a:xfrm>
            <a:off x="781050" y="1315789"/>
            <a:ext cx="1273745" cy="205740"/>
          </a:xfrm>
          <a:prstGeom prst="rect">
            <a:avLst/>
          </a:prstGeom>
          <a:noFill/>
        </p:spPr>
        <p:txBody>
          <a:bodyPr wrap="square">
            <a:spAutoFit/>
          </a:bodyPr>
          <a:lstStyle/>
          <a:p>
            <a:pPr algn="l"/>
            <a:r>
              <a:rPr sz="1800" b="0" i="0" spc="225">
                <a:solidFill>
                  <a:srgbClr val="D9B45A"/>
                </a:solidFill>
                <a:latin typeface="Rubik"/>
              </a:rPr>
              <a:t>THE OPPORTUNITY</a:t>
            </a:r>
          </a:p>
        </p:txBody>
      </p:sp>
      <p:sp>
        <p:nvSpPr>
          <p:cNvPr id="7" name="TextBox 6"/>
          <p:cNvSpPr txBox="1"/>
          <p:nvPr/>
        </p:nvSpPr>
        <p:spPr>
          <a:xfrm>
            <a:off x="2326258" y="1228650"/>
            <a:ext cx="6036691" cy="334267"/>
          </a:xfrm>
          <a:prstGeom prst="rect">
            <a:avLst/>
          </a:prstGeom>
          <a:noFill/>
        </p:spPr>
        <p:txBody>
          <a:bodyPr wrap="square">
            <a:spAutoFit/>
          </a:bodyPr>
          <a:lstStyle/>
          <a:p>
            <a:pPr algn="l"/>
            <a:r>
              <a:rPr sz="1950" b="0" i="0">
                <a:solidFill>
                  <a:srgbClr val="F7F4EC"/>
                </a:solidFill>
                <a:latin typeface="Rubik"/>
              </a:rPr>
              <a:t>Strong US demand for flavored olive oil in spray 150 ml &amp; 200 ml — a new SKU built on our 7 natural flavors.</a:t>
            </a:r>
          </a:p>
        </p:txBody>
      </p:sp>
      <p:sp>
        <p:nvSpPr>
          <p:cNvPr id="8" name="TextBox 7"/>
          <p:cNvSpPr txBox="1"/>
          <p:nvPr/>
        </p:nvSpPr>
        <p:spPr>
          <a:xfrm>
            <a:off x="709612" y="1853431"/>
            <a:ext cx="169589" cy="377190"/>
          </a:xfrm>
          <a:prstGeom prst="rect">
            <a:avLst/>
          </a:prstGeom>
          <a:noFill/>
        </p:spPr>
        <p:txBody>
          <a:bodyPr wrap="square">
            <a:spAutoFit/>
          </a:bodyPr>
          <a:lstStyle/>
          <a:p>
            <a:pPr algn="l"/>
            <a:r>
              <a:rPr sz="3300" b="0" i="0">
                <a:solidFill>
                  <a:srgbClr val="D9B45A"/>
                </a:solidFill>
                <a:latin typeface="Cormorant Garamond"/>
              </a:rPr>
              <a:t>01</a:t>
            </a:r>
          </a:p>
        </p:txBody>
      </p:sp>
      <p:sp>
        <p:nvSpPr>
          <p:cNvPr id="9" name="TextBox 8"/>
          <p:cNvSpPr txBox="1"/>
          <p:nvPr/>
        </p:nvSpPr>
        <p:spPr>
          <a:xfrm>
            <a:off x="1989236" y="1920106"/>
            <a:ext cx="469775" cy="188595"/>
          </a:xfrm>
          <a:prstGeom prst="rect">
            <a:avLst/>
          </a:prstGeom>
          <a:noFill/>
        </p:spPr>
        <p:txBody>
          <a:bodyPr wrap="square">
            <a:spAutoFit/>
          </a:bodyPr>
          <a:lstStyle/>
          <a:p>
            <a:pPr algn="l"/>
            <a:r>
              <a:rPr sz="1650" b="0" i="0" spc="75">
                <a:solidFill>
                  <a:srgbClr val="8A6A22"/>
                </a:solidFill>
                <a:latin typeface="Rubik"/>
              </a:rPr>
              <a:t>Q4 2026</a:t>
            </a:r>
          </a:p>
        </p:txBody>
      </p:sp>
      <p:sp>
        <p:nvSpPr>
          <p:cNvPr id="10" name="TextBox 9"/>
          <p:cNvSpPr txBox="1"/>
          <p:nvPr/>
        </p:nvSpPr>
        <p:spPr>
          <a:xfrm>
            <a:off x="709612" y="2095351"/>
            <a:ext cx="1749400" cy="257175"/>
          </a:xfrm>
          <a:prstGeom prst="rect">
            <a:avLst/>
          </a:prstGeom>
          <a:noFill/>
        </p:spPr>
        <p:txBody>
          <a:bodyPr wrap="square">
            <a:spAutoFit/>
          </a:bodyPr>
          <a:lstStyle/>
          <a:p>
            <a:pPr algn="l"/>
            <a:r>
              <a:rPr sz="2250" b="0" i="0">
                <a:solidFill>
                  <a:srgbClr val="14281C"/>
                </a:solidFill>
                <a:latin typeface="Cormorant Garamond"/>
              </a:rPr>
              <a:t>Validate demand</a:t>
            </a:r>
          </a:p>
        </p:txBody>
      </p:sp>
      <p:sp>
        <p:nvSpPr>
          <p:cNvPr id="11" name="TextBox 10"/>
          <p:cNvSpPr txBox="1"/>
          <p:nvPr/>
        </p:nvSpPr>
        <p:spPr>
          <a:xfrm>
            <a:off x="830088" y="2273944"/>
            <a:ext cx="1628923" cy="293340"/>
          </a:xfrm>
          <a:prstGeom prst="rect">
            <a:avLst/>
          </a:prstGeom>
          <a:noFill/>
        </p:spPr>
        <p:txBody>
          <a:bodyPr wrap="square">
            <a:spAutoFit/>
          </a:bodyPr>
          <a:lstStyle/>
          <a:p>
            <a:pPr algn="l"/>
            <a:r>
              <a:rPr sz="1650" b="0" i="0">
                <a:solidFill>
                  <a:srgbClr val="46534A"/>
                </a:solidFill>
                <a:latin typeface="Rubik"/>
              </a:rPr>
              <a:t>Confirm volumes with the US importer</a:t>
            </a:r>
          </a:p>
        </p:txBody>
      </p:sp>
      <p:sp>
        <p:nvSpPr>
          <p:cNvPr id="12" name="TextBox 11"/>
          <p:cNvSpPr txBox="1"/>
          <p:nvPr/>
        </p:nvSpPr>
        <p:spPr>
          <a:xfrm>
            <a:off x="830088" y="2567285"/>
            <a:ext cx="1628923" cy="188595"/>
          </a:xfrm>
          <a:prstGeom prst="rect">
            <a:avLst/>
          </a:prstGeom>
          <a:noFill/>
        </p:spPr>
        <p:txBody>
          <a:bodyPr wrap="square">
            <a:spAutoFit/>
          </a:bodyPr>
          <a:lstStyle/>
          <a:p>
            <a:pPr algn="l"/>
            <a:r>
              <a:rPr sz="1650" b="0" i="0">
                <a:solidFill>
                  <a:srgbClr val="46534A"/>
                </a:solidFill>
                <a:latin typeface="Rubik"/>
              </a:rPr>
              <a:t>Pick the top 3 flavors from the 7</a:t>
            </a:r>
          </a:p>
        </p:txBody>
      </p:sp>
      <p:sp>
        <p:nvSpPr>
          <p:cNvPr id="13" name="TextBox 12"/>
          <p:cNvSpPr txBox="1"/>
          <p:nvPr/>
        </p:nvSpPr>
        <p:spPr>
          <a:xfrm>
            <a:off x="830088" y="2713955"/>
            <a:ext cx="1628923" cy="188595"/>
          </a:xfrm>
          <a:prstGeom prst="rect">
            <a:avLst/>
          </a:prstGeom>
          <a:noFill/>
        </p:spPr>
        <p:txBody>
          <a:bodyPr wrap="square">
            <a:spAutoFit/>
          </a:bodyPr>
          <a:lstStyle/>
          <a:p>
            <a:pPr algn="l"/>
            <a:r>
              <a:rPr sz="1650" b="0" i="0">
                <a:solidFill>
                  <a:srgbClr val="46534A"/>
                </a:solidFill>
                <a:latin typeface="Rubik"/>
              </a:rPr>
              <a:t>Agree target shelf price</a:t>
            </a:r>
          </a:p>
        </p:txBody>
      </p:sp>
      <p:sp>
        <p:nvSpPr>
          <p:cNvPr id="14" name="TextBox 13"/>
          <p:cNvSpPr txBox="1"/>
          <p:nvPr/>
        </p:nvSpPr>
        <p:spPr>
          <a:xfrm>
            <a:off x="2735237" y="1853431"/>
            <a:ext cx="184249" cy="377190"/>
          </a:xfrm>
          <a:prstGeom prst="rect">
            <a:avLst/>
          </a:prstGeom>
          <a:noFill/>
        </p:spPr>
        <p:txBody>
          <a:bodyPr wrap="square">
            <a:spAutoFit/>
          </a:bodyPr>
          <a:lstStyle/>
          <a:p>
            <a:pPr algn="l"/>
            <a:r>
              <a:rPr sz="3300" b="0" i="0">
                <a:solidFill>
                  <a:srgbClr val="D9B45A"/>
                </a:solidFill>
                <a:latin typeface="Cormorant Garamond"/>
              </a:rPr>
              <a:t>02</a:t>
            </a:r>
          </a:p>
        </p:txBody>
      </p:sp>
      <p:sp>
        <p:nvSpPr>
          <p:cNvPr id="15" name="TextBox 14"/>
          <p:cNvSpPr txBox="1"/>
          <p:nvPr/>
        </p:nvSpPr>
        <p:spPr>
          <a:xfrm>
            <a:off x="4042990" y="1920106"/>
            <a:ext cx="441647" cy="188595"/>
          </a:xfrm>
          <a:prstGeom prst="rect">
            <a:avLst/>
          </a:prstGeom>
          <a:noFill/>
        </p:spPr>
        <p:txBody>
          <a:bodyPr wrap="square">
            <a:spAutoFit/>
          </a:bodyPr>
          <a:lstStyle/>
          <a:p>
            <a:pPr algn="l"/>
            <a:r>
              <a:rPr sz="1650" b="0" i="0" spc="75">
                <a:solidFill>
                  <a:srgbClr val="8A6A22"/>
                </a:solidFill>
                <a:latin typeface="Rubik"/>
              </a:rPr>
              <a:t>Q1 2027</a:t>
            </a:r>
          </a:p>
        </p:txBody>
      </p:sp>
      <p:sp>
        <p:nvSpPr>
          <p:cNvPr id="16" name="TextBox 15"/>
          <p:cNvSpPr txBox="1"/>
          <p:nvPr/>
        </p:nvSpPr>
        <p:spPr>
          <a:xfrm>
            <a:off x="2735237" y="2095351"/>
            <a:ext cx="1749400" cy="257175"/>
          </a:xfrm>
          <a:prstGeom prst="rect">
            <a:avLst/>
          </a:prstGeom>
          <a:noFill/>
        </p:spPr>
        <p:txBody>
          <a:bodyPr wrap="square">
            <a:spAutoFit/>
          </a:bodyPr>
          <a:lstStyle/>
          <a:p>
            <a:pPr algn="l"/>
            <a:r>
              <a:rPr sz="2250" b="0" i="0">
                <a:solidFill>
                  <a:srgbClr val="14281C"/>
                </a:solidFill>
                <a:latin typeface="Cormorant Garamond"/>
              </a:rPr>
              <a:t>Spray format</a:t>
            </a:r>
          </a:p>
        </p:txBody>
      </p:sp>
      <p:sp>
        <p:nvSpPr>
          <p:cNvPr id="17" name="TextBox 16"/>
          <p:cNvSpPr txBox="1"/>
          <p:nvPr/>
        </p:nvSpPr>
        <p:spPr>
          <a:xfrm>
            <a:off x="2855714" y="2273944"/>
            <a:ext cx="1628923" cy="293340"/>
          </a:xfrm>
          <a:prstGeom prst="rect">
            <a:avLst/>
          </a:prstGeom>
          <a:noFill/>
        </p:spPr>
        <p:txBody>
          <a:bodyPr wrap="square">
            <a:spAutoFit/>
          </a:bodyPr>
          <a:lstStyle/>
          <a:p>
            <a:pPr algn="l"/>
            <a:r>
              <a:rPr sz="1650" b="0" i="0">
                <a:solidFill>
                  <a:srgbClr val="46534A"/>
                </a:solidFill>
                <a:latin typeface="Rubik"/>
              </a:rPr>
              <a:t>Bag-on-Valve (no propellant) or fine-mist pump</a:t>
            </a:r>
          </a:p>
        </p:txBody>
      </p:sp>
      <p:sp>
        <p:nvSpPr>
          <p:cNvPr id="18" name="TextBox 17"/>
          <p:cNvSpPr txBox="1"/>
          <p:nvPr/>
        </p:nvSpPr>
        <p:spPr>
          <a:xfrm>
            <a:off x="2855714" y="2567285"/>
            <a:ext cx="1628923" cy="293340"/>
          </a:xfrm>
          <a:prstGeom prst="rect">
            <a:avLst/>
          </a:prstGeom>
          <a:noFill/>
        </p:spPr>
        <p:txBody>
          <a:bodyPr wrap="square">
            <a:spAutoFit/>
          </a:bodyPr>
          <a:lstStyle/>
          <a:p>
            <a:pPr algn="l"/>
            <a:r>
              <a:rPr sz="1650" b="0" i="0">
                <a:solidFill>
                  <a:srgbClr val="46534A"/>
                </a:solidFill>
                <a:latin typeface="Rubik"/>
              </a:rPr>
              <a:t>150 ml (5.1 fl oz) · 200 ml (6.8 fl oz)</a:t>
            </a:r>
          </a:p>
        </p:txBody>
      </p:sp>
      <p:sp>
        <p:nvSpPr>
          <p:cNvPr id="19" name="TextBox 18"/>
          <p:cNvSpPr txBox="1"/>
          <p:nvPr/>
        </p:nvSpPr>
        <p:spPr>
          <a:xfrm>
            <a:off x="2855714" y="2860625"/>
            <a:ext cx="1628923" cy="188595"/>
          </a:xfrm>
          <a:prstGeom prst="rect">
            <a:avLst/>
          </a:prstGeom>
          <a:noFill/>
        </p:spPr>
        <p:txBody>
          <a:bodyPr wrap="square">
            <a:spAutoFit/>
          </a:bodyPr>
          <a:lstStyle/>
          <a:p>
            <a:pPr algn="l"/>
            <a:r>
              <a:rPr sz="1650" b="0" i="0">
                <a:solidFill>
                  <a:srgbClr val="46534A"/>
                </a:solidFill>
                <a:latin typeface="Rubik"/>
              </a:rPr>
              <a:t>Spray, clog &amp; shelf-life tests</a:t>
            </a:r>
          </a:p>
        </p:txBody>
      </p:sp>
      <p:sp>
        <p:nvSpPr>
          <p:cNvPr id="20" name="TextBox 19"/>
          <p:cNvSpPr txBox="1"/>
          <p:nvPr/>
        </p:nvSpPr>
        <p:spPr>
          <a:xfrm>
            <a:off x="4760862" y="1853431"/>
            <a:ext cx="182165" cy="377190"/>
          </a:xfrm>
          <a:prstGeom prst="rect">
            <a:avLst/>
          </a:prstGeom>
          <a:noFill/>
        </p:spPr>
        <p:txBody>
          <a:bodyPr wrap="square">
            <a:spAutoFit/>
          </a:bodyPr>
          <a:lstStyle/>
          <a:p>
            <a:pPr algn="l"/>
            <a:r>
              <a:rPr sz="3300" b="0" i="0">
                <a:solidFill>
                  <a:srgbClr val="D9B45A"/>
                </a:solidFill>
                <a:latin typeface="Cormorant Garamond"/>
              </a:rPr>
              <a:t>03</a:t>
            </a:r>
          </a:p>
        </p:txBody>
      </p:sp>
      <p:sp>
        <p:nvSpPr>
          <p:cNvPr id="21" name="TextBox 20"/>
          <p:cNvSpPr txBox="1"/>
          <p:nvPr/>
        </p:nvSpPr>
        <p:spPr>
          <a:xfrm>
            <a:off x="6068690" y="1920106"/>
            <a:ext cx="441647" cy="188595"/>
          </a:xfrm>
          <a:prstGeom prst="rect">
            <a:avLst/>
          </a:prstGeom>
          <a:noFill/>
        </p:spPr>
        <p:txBody>
          <a:bodyPr wrap="square">
            <a:spAutoFit/>
          </a:bodyPr>
          <a:lstStyle/>
          <a:p>
            <a:pPr algn="l"/>
            <a:r>
              <a:rPr sz="1650" b="0" i="0" spc="75">
                <a:solidFill>
                  <a:srgbClr val="8A6A22"/>
                </a:solidFill>
                <a:latin typeface="Rubik"/>
              </a:rPr>
              <a:t>Q1 2027</a:t>
            </a:r>
          </a:p>
        </p:txBody>
      </p:sp>
      <p:sp>
        <p:nvSpPr>
          <p:cNvPr id="22" name="TextBox 21"/>
          <p:cNvSpPr txBox="1"/>
          <p:nvPr/>
        </p:nvSpPr>
        <p:spPr>
          <a:xfrm>
            <a:off x="4760862" y="2095351"/>
            <a:ext cx="1749474" cy="257175"/>
          </a:xfrm>
          <a:prstGeom prst="rect">
            <a:avLst/>
          </a:prstGeom>
          <a:noFill/>
        </p:spPr>
        <p:txBody>
          <a:bodyPr wrap="square">
            <a:spAutoFit/>
          </a:bodyPr>
          <a:lstStyle/>
          <a:p>
            <a:pPr algn="l"/>
            <a:r>
              <a:rPr sz="2250" b="0" i="0">
                <a:solidFill>
                  <a:srgbClr val="14281C"/>
                </a:solidFill>
                <a:latin typeface="Cormorant Garamond"/>
              </a:rPr>
              <a:t>US compliance</a:t>
            </a:r>
          </a:p>
        </p:txBody>
      </p:sp>
      <p:sp>
        <p:nvSpPr>
          <p:cNvPr id="23" name="TextBox 22"/>
          <p:cNvSpPr txBox="1"/>
          <p:nvPr/>
        </p:nvSpPr>
        <p:spPr>
          <a:xfrm>
            <a:off x="4881339" y="2273944"/>
            <a:ext cx="1628998" cy="293340"/>
          </a:xfrm>
          <a:prstGeom prst="rect">
            <a:avLst/>
          </a:prstGeom>
          <a:noFill/>
        </p:spPr>
        <p:txBody>
          <a:bodyPr wrap="square">
            <a:spAutoFit/>
          </a:bodyPr>
          <a:lstStyle/>
          <a:p>
            <a:pPr algn="l"/>
            <a:r>
              <a:rPr sz="1650" b="0" i="0">
                <a:solidFill>
                  <a:srgbClr val="46534A"/>
                </a:solidFill>
                <a:latin typeface="Rubik"/>
              </a:rPr>
              <a:t>FDA facility registration up to date</a:t>
            </a:r>
          </a:p>
        </p:txBody>
      </p:sp>
      <p:sp>
        <p:nvSpPr>
          <p:cNvPr id="24" name="TextBox 23"/>
          <p:cNvSpPr txBox="1"/>
          <p:nvPr/>
        </p:nvSpPr>
        <p:spPr>
          <a:xfrm>
            <a:off x="4881339" y="2567285"/>
            <a:ext cx="1628998" cy="188595"/>
          </a:xfrm>
          <a:prstGeom prst="rect">
            <a:avLst/>
          </a:prstGeom>
          <a:noFill/>
        </p:spPr>
        <p:txBody>
          <a:bodyPr wrap="square">
            <a:spAutoFit/>
          </a:bodyPr>
          <a:lstStyle/>
          <a:p>
            <a:pPr algn="l"/>
            <a:r>
              <a:rPr sz="1650" b="0" i="0">
                <a:solidFill>
                  <a:srgbClr val="46534A"/>
                </a:solidFill>
                <a:latin typeface="Rubik"/>
              </a:rPr>
              <a:t>FSVP through the US importer</a:t>
            </a:r>
          </a:p>
        </p:txBody>
      </p:sp>
      <p:sp>
        <p:nvSpPr>
          <p:cNvPr id="25" name="TextBox 24"/>
          <p:cNvSpPr txBox="1"/>
          <p:nvPr/>
        </p:nvSpPr>
        <p:spPr>
          <a:xfrm>
            <a:off x="4881339" y="2713955"/>
            <a:ext cx="1628998" cy="293340"/>
          </a:xfrm>
          <a:prstGeom prst="rect">
            <a:avLst/>
          </a:prstGeom>
          <a:noFill/>
        </p:spPr>
        <p:txBody>
          <a:bodyPr wrap="square">
            <a:spAutoFit/>
          </a:bodyPr>
          <a:lstStyle/>
          <a:p>
            <a:pPr algn="l"/>
            <a:r>
              <a:rPr sz="1650" b="0" i="0">
                <a:solidFill>
                  <a:srgbClr val="46534A"/>
                </a:solidFill>
                <a:latin typeface="Rubik"/>
              </a:rPr>
              <a:t>US label: Nutrition Facts, fl oz, allergens</a:t>
            </a:r>
          </a:p>
        </p:txBody>
      </p:sp>
      <p:sp>
        <p:nvSpPr>
          <p:cNvPr id="26" name="TextBox 25"/>
          <p:cNvSpPr txBox="1"/>
          <p:nvPr/>
        </p:nvSpPr>
        <p:spPr>
          <a:xfrm>
            <a:off x="709612" y="3245420"/>
            <a:ext cx="195113" cy="377190"/>
          </a:xfrm>
          <a:prstGeom prst="rect">
            <a:avLst/>
          </a:prstGeom>
          <a:noFill/>
        </p:spPr>
        <p:txBody>
          <a:bodyPr wrap="square">
            <a:spAutoFit/>
          </a:bodyPr>
          <a:lstStyle/>
          <a:p>
            <a:pPr algn="l"/>
            <a:r>
              <a:rPr sz="3300" b="0" i="0">
                <a:solidFill>
                  <a:srgbClr val="D9B45A"/>
                </a:solidFill>
                <a:latin typeface="Cormorant Garamond"/>
              </a:rPr>
              <a:t>04</a:t>
            </a:r>
          </a:p>
        </p:txBody>
      </p:sp>
      <p:sp>
        <p:nvSpPr>
          <p:cNvPr id="27" name="TextBox 26"/>
          <p:cNvSpPr txBox="1"/>
          <p:nvPr/>
        </p:nvSpPr>
        <p:spPr>
          <a:xfrm>
            <a:off x="2001068" y="3312095"/>
            <a:ext cx="457944" cy="188595"/>
          </a:xfrm>
          <a:prstGeom prst="rect">
            <a:avLst/>
          </a:prstGeom>
          <a:noFill/>
        </p:spPr>
        <p:txBody>
          <a:bodyPr wrap="square">
            <a:spAutoFit/>
          </a:bodyPr>
          <a:lstStyle/>
          <a:p>
            <a:pPr algn="l"/>
            <a:r>
              <a:rPr sz="1650" b="0" i="0" spc="75">
                <a:solidFill>
                  <a:srgbClr val="8A6A22"/>
                </a:solidFill>
                <a:latin typeface="Rubik"/>
              </a:rPr>
              <a:t>Q2 2027</a:t>
            </a:r>
          </a:p>
        </p:txBody>
      </p:sp>
      <p:sp>
        <p:nvSpPr>
          <p:cNvPr id="28" name="TextBox 27"/>
          <p:cNvSpPr txBox="1"/>
          <p:nvPr/>
        </p:nvSpPr>
        <p:spPr>
          <a:xfrm>
            <a:off x="709612" y="3487340"/>
            <a:ext cx="1749400" cy="257175"/>
          </a:xfrm>
          <a:prstGeom prst="rect">
            <a:avLst/>
          </a:prstGeom>
          <a:noFill/>
        </p:spPr>
        <p:txBody>
          <a:bodyPr wrap="square">
            <a:spAutoFit/>
          </a:bodyPr>
          <a:lstStyle/>
          <a:p>
            <a:pPr algn="l"/>
            <a:r>
              <a:rPr sz="2250" b="0" i="0">
                <a:solidFill>
                  <a:srgbClr val="14281C"/>
                </a:solidFill>
                <a:latin typeface="Cormorant Garamond"/>
              </a:rPr>
              <a:t>Pilot production</a:t>
            </a:r>
          </a:p>
        </p:txBody>
      </p:sp>
      <p:sp>
        <p:nvSpPr>
          <p:cNvPr id="29" name="TextBox 28"/>
          <p:cNvSpPr txBox="1"/>
          <p:nvPr/>
        </p:nvSpPr>
        <p:spPr>
          <a:xfrm>
            <a:off x="830088" y="3665934"/>
            <a:ext cx="1628923" cy="293340"/>
          </a:xfrm>
          <a:prstGeom prst="rect">
            <a:avLst/>
          </a:prstGeom>
          <a:noFill/>
        </p:spPr>
        <p:txBody>
          <a:bodyPr wrap="square">
            <a:spAutoFit/>
          </a:bodyPr>
          <a:lstStyle/>
          <a:p>
            <a:pPr algn="l"/>
            <a:r>
              <a:rPr sz="1650" b="0" i="0">
                <a:solidFill>
                  <a:srgbClr val="46534A"/>
                </a:solidFill>
                <a:latin typeface="Rubik"/>
              </a:rPr>
              <a:t>Co-packer or own spray filling line</a:t>
            </a:r>
          </a:p>
        </p:txBody>
      </p:sp>
      <p:sp>
        <p:nvSpPr>
          <p:cNvPr id="30" name="TextBox 29"/>
          <p:cNvSpPr txBox="1"/>
          <p:nvPr/>
        </p:nvSpPr>
        <p:spPr>
          <a:xfrm>
            <a:off x="830088" y="3959274"/>
            <a:ext cx="1628923" cy="293340"/>
          </a:xfrm>
          <a:prstGeom prst="rect">
            <a:avLst/>
          </a:prstGeom>
          <a:noFill/>
        </p:spPr>
        <p:txBody>
          <a:bodyPr wrap="square">
            <a:spAutoFit/>
          </a:bodyPr>
          <a:lstStyle/>
          <a:p>
            <a:pPr algn="l"/>
            <a:r>
              <a:rPr sz="1650" b="0" i="0">
                <a:solidFill>
                  <a:srgbClr val="46534A"/>
                </a:solidFill>
                <a:latin typeface="Rubik"/>
              </a:rPr>
              <a:t>Pilot batch + QC (acidity, K232/K270, taste)</a:t>
            </a:r>
          </a:p>
        </p:txBody>
      </p:sp>
      <p:sp>
        <p:nvSpPr>
          <p:cNvPr id="31" name="TextBox 30"/>
          <p:cNvSpPr txBox="1"/>
          <p:nvPr/>
        </p:nvSpPr>
        <p:spPr>
          <a:xfrm>
            <a:off x="830088" y="4252614"/>
            <a:ext cx="1628923" cy="188595"/>
          </a:xfrm>
          <a:prstGeom prst="rect">
            <a:avLst/>
          </a:prstGeom>
          <a:noFill/>
        </p:spPr>
        <p:txBody>
          <a:bodyPr wrap="square">
            <a:spAutoFit/>
          </a:bodyPr>
          <a:lstStyle/>
          <a:p>
            <a:pPr algn="l"/>
            <a:r>
              <a:rPr sz="1650" b="0" i="0">
                <a:solidFill>
                  <a:srgbClr val="46534A"/>
                </a:solidFill>
                <a:latin typeface="Rubik"/>
              </a:rPr>
              <a:t>Samples to importer &amp; buyers</a:t>
            </a:r>
          </a:p>
        </p:txBody>
      </p:sp>
      <p:sp>
        <p:nvSpPr>
          <p:cNvPr id="32" name="TextBox 31"/>
          <p:cNvSpPr txBox="1"/>
          <p:nvPr/>
        </p:nvSpPr>
        <p:spPr>
          <a:xfrm>
            <a:off x="2735237" y="3245420"/>
            <a:ext cx="185663" cy="377190"/>
          </a:xfrm>
          <a:prstGeom prst="rect">
            <a:avLst/>
          </a:prstGeom>
          <a:noFill/>
        </p:spPr>
        <p:txBody>
          <a:bodyPr wrap="square">
            <a:spAutoFit/>
          </a:bodyPr>
          <a:lstStyle/>
          <a:p>
            <a:pPr algn="l"/>
            <a:r>
              <a:rPr sz="3300" b="0" i="0">
                <a:solidFill>
                  <a:srgbClr val="D9B45A"/>
                </a:solidFill>
                <a:latin typeface="Cormorant Garamond"/>
              </a:rPr>
              <a:t>05</a:t>
            </a:r>
          </a:p>
        </p:txBody>
      </p:sp>
      <p:sp>
        <p:nvSpPr>
          <p:cNvPr id="33" name="TextBox 32"/>
          <p:cNvSpPr txBox="1"/>
          <p:nvPr/>
        </p:nvSpPr>
        <p:spPr>
          <a:xfrm>
            <a:off x="3813125" y="3312095"/>
            <a:ext cx="671512" cy="188595"/>
          </a:xfrm>
          <a:prstGeom prst="rect">
            <a:avLst/>
          </a:prstGeom>
          <a:noFill/>
        </p:spPr>
        <p:txBody>
          <a:bodyPr wrap="square">
            <a:spAutoFit/>
          </a:bodyPr>
          <a:lstStyle/>
          <a:p>
            <a:pPr algn="l"/>
            <a:r>
              <a:rPr sz="1650" b="0" i="0" spc="75">
                <a:solidFill>
                  <a:srgbClr val="8A6A22"/>
                </a:solidFill>
                <a:latin typeface="Rubik"/>
              </a:rPr>
              <a:t>Q2–Q3 2027</a:t>
            </a:r>
          </a:p>
        </p:txBody>
      </p:sp>
      <p:sp>
        <p:nvSpPr>
          <p:cNvPr id="34" name="TextBox 33"/>
          <p:cNvSpPr txBox="1"/>
          <p:nvPr/>
        </p:nvSpPr>
        <p:spPr>
          <a:xfrm>
            <a:off x="2735237" y="3487340"/>
            <a:ext cx="1749400" cy="257175"/>
          </a:xfrm>
          <a:prstGeom prst="rect">
            <a:avLst/>
          </a:prstGeom>
          <a:noFill/>
        </p:spPr>
        <p:txBody>
          <a:bodyPr wrap="square">
            <a:spAutoFit/>
          </a:bodyPr>
          <a:lstStyle/>
          <a:p>
            <a:pPr algn="l"/>
            <a:r>
              <a:rPr sz="2250" b="0" i="0">
                <a:solidFill>
                  <a:srgbClr val="14281C"/>
                </a:solidFill>
                <a:latin typeface="Cormorant Garamond"/>
              </a:rPr>
              <a:t>Launch</a:t>
            </a:r>
          </a:p>
        </p:txBody>
      </p:sp>
      <p:sp>
        <p:nvSpPr>
          <p:cNvPr id="35" name="TextBox 34"/>
          <p:cNvSpPr txBox="1"/>
          <p:nvPr/>
        </p:nvSpPr>
        <p:spPr>
          <a:xfrm>
            <a:off x="2855714" y="3665934"/>
            <a:ext cx="1628923" cy="293340"/>
          </a:xfrm>
          <a:prstGeom prst="rect">
            <a:avLst/>
          </a:prstGeom>
          <a:noFill/>
        </p:spPr>
        <p:txBody>
          <a:bodyPr wrap="square">
            <a:spAutoFit/>
          </a:bodyPr>
          <a:lstStyle/>
          <a:p>
            <a:pPr algn="l"/>
            <a:r>
              <a:rPr sz="1650" b="0" i="0">
                <a:solidFill>
                  <a:srgbClr val="46534A"/>
                </a:solidFill>
                <a:latin typeface="Rubik"/>
              </a:rPr>
              <a:t>Summer Fancy Food Show, New York</a:t>
            </a:r>
          </a:p>
        </p:txBody>
      </p:sp>
      <p:sp>
        <p:nvSpPr>
          <p:cNvPr id="36" name="TextBox 35"/>
          <p:cNvSpPr txBox="1"/>
          <p:nvPr/>
        </p:nvSpPr>
        <p:spPr>
          <a:xfrm>
            <a:off x="2855714" y="3959274"/>
            <a:ext cx="1628923" cy="188595"/>
          </a:xfrm>
          <a:prstGeom prst="rect">
            <a:avLst/>
          </a:prstGeom>
          <a:noFill/>
        </p:spPr>
        <p:txBody>
          <a:bodyPr wrap="square">
            <a:spAutoFit/>
          </a:bodyPr>
          <a:lstStyle/>
          <a:p>
            <a:pPr algn="l"/>
            <a:r>
              <a:rPr sz="1650" b="0" i="0">
                <a:solidFill>
                  <a:srgbClr val="46534A"/>
                </a:solidFill>
                <a:latin typeface="Rubik"/>
              </a:rPr>
              <a:t>First PO + mixed pallet shipment</a:t>
            </a:r>
          </a:p>
        </p:txBody>
      </p:sp>
      <p:sp>
        <p:nvSpPr>
          <p:cNvPr id="37" name="TextBox 36"/>
          <p:cNvSpPr txBox="1"/>
          <p:nvPr/>
        </p:nvSpPr>
        <p:spPr>
          <a:xfrm>
            <a:off x="2855714" y="4105944"/>
            <a:ext cx="1628923" cy="293340"/>
          </a:xfrm>
          <a:prstGeom prst="rect">
            <a:avLst/>
          </a:prstGeom>
          <a:noFill/>
        </p:spPr>
        <p:txBody>
          <a:bodyPr wrap="square">
            <a:spAutoFit/>
          </a:bodyPr>
          <a:lstStyle/>
          <a:p>
            <a:pPr algn="l"/>
            <a:r>
              <a:rPr sz="1650" b="0" i="0">
                <a:solidFill>
                  <a:srgbClr val="46534A"/>
                </a:solidFill>
                <a:latin typeface="Rubik"/>
              </a:rPr>
              <a:t>Amazon US listing + specialty stores</a:t>
            </a:r>
          </a:p>
        </p:txBody>
      </p:sp>
      <p:sp>
        <p:nvSpPr>
          <p:cNvPr id="38" name="TextBox 37"/>
          <p:cNvSpPr txBox="1"/>
          <p:nvPr/>
        </p:nvSpPr>
        <p:spPr>
          <a:xfrm>
            <a:off x="4760862" y="3245420"/>
            <a:ext cx="197420" cy="377190"/>
          </a:xfrm>
          <a:prstGeom prst="rect">
            <a:avLst/>
          </a:prstGeom>
          <a:noFill/>
        </p:spPr>
        <p:txBody>
          <a:bodyPr wrap="square">
            <a:spAutoFit/>
          </a:bodyPr>
          <a:lstStyle/>
          <a:p>
            <a:pPr algn="l"/>
            <a:r>
              <a:rPr sz="3300" b="0" i="0">
                <a:solidFill>
                  <a:srgbClr val="D9B45A"/>
                </a:solidFill>
                <a:latin typeface="Cormorant Garamond"/>
              </a:rPr>
              <a:t>06</a:t>
            </a:r>
          </a:p>
        </p:txBody>
      </p:sp>
      <p:sp>
        <p:nvSpPr>
          <p:cNvPr id="39" name="TextBox 38"/>
          <p:cNvSpPr txBox="1"/>
          <p:nvPr/>
        </p:nvSpPr>
        <p:spPr>
          <a:xfrm>
            <a:off x="6048970" y="3312095"/>
            <a:ext cx="461367" cy="188595"/>
          </a:xfrm>
          <a:prstGeom prst="rect">
            <a:avLst/>
          </a:prstGeom>
          <a:noFill/>
        </p:spPr>
        <p:txBody>
          <a:bodyPr wrap="square">
            <a:spAutoFit/>
          </a:bodyPr>
          <a:lstStyle/>
          <a:p>
            <a:pPr algn="l"/>
            <a:r>
              <a:rPr sz="1650" b="0" i="0" spc="75">
                <a:solidFill>
                  <a:srgbClr val="D9B45A"/>
                </a:solidFill>
                <a:latin typeface="Rubik"/>
              </a:rPr>
              <a:t>Q4 2027</a:t>
            </a:r>
          </a:p>
        </p:txBody>
      </p:sp>
      <p:sp>
        <p:nvSpPr>
          <p:cNvPr id="40" name="TextBox 39"/>
          <p:cNvSpPr txBox="1"/>
          <p:nvPr/>
        </p:nvSpPr>
        <p:spPr>
          <a:xfrm>
            <a:off x="4760862" y="3487340"/>
            <a:ext cx="1749474" cy="257175"/>
          </a:xfrm>
          <a:prstGeom prst="rect">
            <a:avLst/>
          </a:prstGeom>
          <a:noFill/>
        </p:spPr>
        <p:txBody>
          <a:bodyPr wrap="square">
            <a:spAutoFit/>
          </a:bodyPr>
          <a:lstStyle/>
          <a:p>
            <a:pPr algn="l"/>
            <a:r>
              <a:rPr sz="2250" b="0" i="0">
                <a:solidFill>
                  <a:srgbClr val="F7F4EC"/>
                </a:solidFill>
                <a:latin typeface="Cormorant Garamond"/>
              </a:rPr>
              <a:t>Scale</a:t>
            </a:r>
          </a:p>
        </p:txBody>
      </p:sp>
      <p:sp>
        <p:nvSpPr>
          <p:cNvPr id="41" name="TextBox 40"/>
          <p:cNvSpPr txBox="1"/>
          <p:nvPr/>
        </p:nvSpPr>
        <p:spPr>
          <a:xfrm>
            <a:off x="4881339" y="3665934"/>
            <a:ext cx="1628998" cy="188595"/>
          </a:xfrm>
          <a:prstGeom prst="rect">
            <a:avLst/>
          </a:prstGeom>
          <a:noFill/>
        </p:spPr>
        <p:txBody>
          <a:bodyPr wrap="square">
            <a:spAutoFit/>
          </a:bodyPr>
          <a:lstStyle/>
          <a:p>
            <a:pPr algn="l"/>
            <a:r>
              <a:rPr sz="1650" b="0" i="0">
                <a:solidFill>
                  <a:srgbClr val="E4EBE1"/>
                </a:solidFill>
                <a:latin typeface="Rubik"/>
              </a:rPr>
              <a:t>Track sell-out &amp; repeat orders</a:t>
            </a:r>
          </a:p>
        </p:txBody>
      </p:sp>
      <p:sp>
        <p:nvSpPr>
          <p:cNvPr id="42" name="TextBox 41"/>
          <p:cNvSpPr txBox="1"/>
          <p:nvPr/>
        </p:nvSpPr>
        <p:spPr>
          <a:xfrm>
            <a:off x="4881339" y="3812604"/>
            <a:ext cx="1628998" cy="293340"/>
          </a:xfrm>
          <a:prstGeom prst="rect">
            <a:avLst/>
          </a:prstGeom>
          <a:noFill/>
        </p:spPr>
        <p:txBody>
          <a:bodyPr wrap="square">
            <a:spAutoFit/>
          </a:bodyPr>
          <a:lstStyle/>
          <a:p>
            <a:pPr algn="l"/>
            <a:r>
              <a:rPr sz="1650" b="0" i="0">
                <a:solidFill>
                  <a:srgbClr val="E4EBE1"/>
                </a:solidFill>
                <a:latin typeface="Rubik"/>
              </a:rPr>
              <a:t>Add flavors / 2nd format if repeat &gt;30%</a:t>
            </a:r>
          </a:p>
        </p:txBody>
      </p:sp>
      <p:sp>
        <p:nvSpPr>
          <p:cNvPr id="43" name="TextBox 42"/>
          <p:cNvSpPr txBox="1"/>
          <p:nvPr/>
        </p:nvSpPr>
        <p:spPr>
          <a:xfrm>
            <a:off x="4881339" y="4105944"/>
            <a:ext cx="1628998" cy="293340"/>
          </a:xfrm>
          <a:prstGeom prst="rect">
            <a:avLst/>
          </a:prstGeom>
          <a:noFill/>
        </p:spPr>
        <p:txBody>
          <a:bodyPr wrap="square">
            <a:spAutoFit/>
          </a:bodyPr>
          <a:lstStyle/>
          <a:p>
            <a:pPr algn="l"/>
            <a:r>
              <a:rPr sz="1650" b="0" i="0">
                <a:solidFill>
                  <a:srgbClr val="E4EBE1"/>
                </a:solidFill>
                <a:latin typeface="Rubik"/>
              </a:rPr>
              <a:t>Full container when volume allows</a:t>
            </a:r>
          </a:p>
        </p:txBody>
      </p:sp>
      <p:sp>
        <p:nvSpPr>
          <p:cNvPr id="44" name="TextBox 43"/>
          <p:cNvSpPr txBox="1"/>
          <p:nvPr/>
        </p:nvSpPr>
        <p:spPr>
          <a:xfrm>
            <a:off x="6824662" y="4043064"/>
            <a:ext cx="1609725" cy="257175"/>
          </a:xfrm>
          <a:prstGeom prst="rect">
            <a:avLst/>
          </a:prstGeom>
          <a:noFill/>
        </p:spPr>
        <p:txBody>
          <a:bodyPr wrap="square">
            <a:spAutoFit/>
          </a:bodyPr>
          <a:lstStyle/>
          <a:p>
            <a:pPr algn="l"/>
            <a:r>
              <a:rPr sz="2250" b="0" i="0">
                <a:solidFill>
                  <a:srgbClr val="F7F4EC"/>
                </a:solidFill>
                <a:latin typeface="Cormorant Garamond"/>
              </a:rPr>
              <a:t>7 natural flavors</a:t>
            </a:r>
          </a:p>
        </p:txBody>
      </p:sp>
      <p:sp>
        <p:nvSpPr>
          <p:cNvPr id="45" name="TextBox 44"/>
          <p:cNvSpPr txBox="1"/>
          <p:nvPr/>
        </p:nvSpPr>
        <p:spPr>
          <a:xfrm>
            <a:off x="6824662" y="4243089"/>
            <a:ext cx="1609725" cy="188595"/>
          </a:xfrm>
          <a:prstGeom prst="rect">
            <a:avLst/>
          </a:prstGeom>
          <a:noFill/>
        </p:spPr>
        <p:txBody>
          <a:bodyPr wrap="square">
            <a:spAutoFit/>
          </a:bodyPr>
          <a:lstStyle/>
          <a:p>
            <a:pPr algn="l"/>
            <a:r>
              <a:rPr sz="1650" b="0" i="0">
                <a:solidFill>
                  <a:srgbClr val="D9B45A"/>
                </a:solidFill>
                <a:latin typeface="Rubik"/>
              </a:rPr>
              <a:t>→ in spray 150 · 200 ml</a:t>
            </a:r>
          </a:p>
        </p:txBody>
      </p:sp>
      <p:sp>
        <p:nvSpPr>
          <p:cNvPr id="46" name="TextBox 45"/>
          <p:cNvSpPr txBox="1"/>
          <p:nvPr/>
        </p:nvSpPr>
        <p:spPr>
          <a:xfrm>
            <a:off x="866775" y="4688830"/>
            <a:ext cx="5836592" cy="205740"/>
          </a:xfrm>
          <a:prstGeom prst="rect">
            <a:avLst/>
          </a:prstGeom>
          <a:noFill/>
        </p:spPr>
        <p:txBody>
          <a:bodyPr wrap="square">
            <a:spAutoFit/>
          </a:bodyPr>
          <a:lstStyle/>
          <a:p>
            <a:pPr algn="l"/>
            <a:r>
              <a:rPr sz="1800" b="0" i="0">
                <a:solidFill>
                  <a:srgbClr val="14281C"/>
                </a:solidFill>
                <a:latin typeface="Rubik"/>
              </a:rPr>
              <a:t>Go / no-go: invest in the spray filling line only after the US importer confirms volumes and signs the first order.</a:t>
            </a:r>
          </a:p>
        </p:txBody>
      </p:sp>
      <p:sp>
        <p:nvSpPr>
          <p:cNvPr id="47" name="TextBox 46"/>
          <p:cNvSpPr txBox="1"/>
          <p:nvPr/>
        </p:nvSpPr>
        <p:spPr>
          <a:xfrm>
            <a:off x="7581900" y="4735859"/>
            <a:ext cx="952500" cy="205740"/>
          </a:xfrm>
          <a:prstGeom prst="rect">
            <a:avLst/>
          </a:prstGeom>
          <a:noFill/>
        </p:spPr>
        <p:txBody>
          <a:bodyPr wrap="square">
            <a:spAutoFit/>
          </a:bodyPr>
          <a:lstStyle/>
          <a:p>
            <a:pPr algn="r"/>
            <a:r>
              <a:rPr sz="1800" b="0" i="0" spc="150">
                <a:solidFill>
                  <a:srgbClr val="8A6A22"/>
                </a:solidFill>
                <a:latin typeface="Rubik"/>
              </a:rPr>
              <a:t>35 / 35</a:t>
            </a:r>
          </a:p>
        </p:txBody>
      </p:sp>
    </p:spTree>
  </p:cSld>
  <p:clrMapOvr>
    <a:masterClrMapping/>
  </p:clrMapOvr>
  <p:transition dur="50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040.png"/>
          <p:cNvPicPr>
            <a:picLocks noChangeAspect="1"/>
          </p:cNvPicPr>
          <p:nvPr/>
        </p:nvPicPr>
        <p:blipFill>
          <a:blip r:embed="rId2"/>
          <a:stretch>
            <a:fillRect/>
          </a:stretch>
        </p:blipFill>
        <p:spPr>
          <a:xfrm>
            <a:off x="0" y="0"/>
            <a:ext cx="9144000" cy="5143500"/>
          </a:xfrm>
          <a:prstGeom prst="rect">
            <a:avLst/>
          </a:prstGeom>
        </p:spPr>
      </p:pic>
      <p:sp>
        <p:nvSpPr>
          <p:cNvPr id="3" name="TextBox 2"/>
          <p:cNvSpPr txBox="1"/>
          <p:nvPr/>
        </p:nvSpPr>
        <p:spPr>
          <a:xfrm>
            <a:off x="609600" y="933450"/>
            <a:ext cx="3457202" cy="188595"/>
          </a:xfrm>
          <a:prstGeom prst="rect">
            <a:avLst/>
          </a:prstGeom>
          <a:noFill/>
        </p:spPr>
        <p:txBody>
          <a:bodyPr wrap="square">
            <a:spAutoFit/>
          </a:bodyPr>
          <a:lstStyle/>
          <a:p>
            <a:pPr algn="l"/>
            <a:r>
              <a:rPr sz="1650" b="0" i="0" spc="450">
                <a:solidFill>
                  <a:srgbClr val="D9B45A"/>
                </a:solidFill>
                <a:latin typeface="Rubik"/>
              </a:rPr>
              <a:t>MAGON — GLOBAL MARKETING STRATEGY 2027</a:t>
            </a:r>
          </a:p>
        </p:txBody>
      </p:sp>
      <p:sp>
        <p:nvSpPr>
          <p:cNvPr id="4" name="TextBox 3"/>
          <p:cNvSpPr txBox="1"/>
          <p:nvPr/>
        </p:nvSpPr>
        <p:spPr>
          <a:xfrm>
            <a:off x="609600" y="1143000"/>
            <a:ext cx="2254001" cy="1682353"/>
          </a:xfrm>
          <a:prstGeom prst="rect">
            <a:avLst/>
          </a:prstGeom>
          <a:noFill/>
        </p:spPr>
        <p:txBody>
          <a:bodyPr wrap="square">
            <a:spAutoFit/>
          </a:bodyPr>
          <a:lstStyle/>
          <a:p>
            <a:pPr algn="l"/>
            <a:r>
              <a:rPr sz="14400" b="0" i="0">
                <a:solidFill>
                  <a:srgbClr val="F7F4EC"/>
                </a:solidFill>
                <a:latin typeface="Cormorant Garamond"/>
              </a:rPr>
              <a:t>Thank</a:t>
            </a:r>
          </a:p>
          <a:p>
            <a:pPr algn="l"/>
            <a:r>
              <a:rPr sz="14400" b="0" i="0">
                <a:solidFill>
                  <a:srgbClr val="F7F4EC"/>
                </a:solidFill>
                <a:latin typeface="Cormorant Garamond"/>
              </a:rPr>
              <a:t>you.</a:t>
            </a:r>
          </a:p>
        </p:txBody>
      </p:sp>
      <p:sp>
        <p:nvSpPr>
          <p:cNvPr id="5" name="TextBox 4"/>
          <p:cNvSpPr txBox="1"/>
          <p:nvPr/>
        </p:nvSpPr>
        <p:spPr>
          <a:xfrm>
            <a:off x="628650" y="2419350"/>
            <a:ext cx="2716485" cy="377190"/>
          </a:xfrm>
          <a:prstGeom prst="rect">
            <a:avLst/>
          </a:prstGeom>
          <a:noFill/>
        </p:spPr>
        <p:txBody>
          <a:bodyPr wrap="square">
            <a:spAutoFit/>
          </a:bodyPr>
          <a:lstStyle/>
          <a:p>
            <a:pPr algn="l"/>
            <a:r>
              <a:rPr sz="3300" b="0" i="1">
                <a:solidFill>
                  <a:srgbClr val="D9B45A"/>
                </a:solidFill>
                <a:latin typeface="Cormorant Garamond"/>
              </a:rPr>
              <a:t>SARAYA Natural Products · Tunisia</a:t>
            </a:r>
          </a:p>
        </p:txBody>
      </p:sp>
      <p:sp>
        <p:nvSpPr>
          <p:cNvPr id="6" name="TextBox 5"/>
          <p:cNvSpPr txBox="1"/>
          <p:nvPr/>
        </p:nvSpPr>
        <p:spPr>
          <a:xfrm>
            <a:off x="609600" y="2876550"/>
            <a:ext cx="1412006" cy="222885"/>
          </a:xfrm>
          <a:prstGeom prst="rect">
            <a:avLst/>
          </a:prstGeom>
          <a:noFill/>
        </p:spPr>
        <p:txBody>
          <a:bodyPr wrap="square">
            <a:spAutoFit/>
          </a:bodyPr>
          <a:lstStyle/>
          <a:p>
            <a:pPr algn="l"/>
            <a:r>
              <a:rPr sz="1950" b="0" i="0" spc="75">
                <a:solidFill>
                  <a:srgbClr val="A9BFA7"/>
                </a:solidFill>
                <a:latin typeface="Rubik"/>
              </a:rPr>
              <a:t>www.saraya.com.tn</a:t>
            </a:r>
          </a:p>
        </p:txBody>
      </p:sp>
      <p:sp>
        <p:nvSpPr>
          <p:cNvPr id="7" name="TextBox 6"/>
          <p:cNvSpPr txBox="1"/>
          <p:nvPr/>
        </p:nvSpPr>
        <p:spPr>
          <a:xfrm>
            <a:off x="609600" y="3116535"/>
            <a:ext cx="1412006" cy="222885"/>
          </a:xfrm>
          <a:prstGeom prst="rect">
            <a:avLst/>
          </a:prstGeom>
          <a:noFill/>
        </p:spPr>
        <p:txBody>
          <a:bodyPr wrap="square">
            <a:spAutoFit/>
          </a:bodyPr>
          <a:lstStyle/>
          <a:p>
            <a:pPr algn="l"/>
            <a:r>
              <a:rPr sz="1950" b="0" i="0" spc="75">
                <a:solidFill>
                  <a:srgbClr val="A9BFA7"/>
                </a:solidFill>
                <a:latin typeface="Rubik"/>
              </a:rPr>
              <a:t>contact@saraya.com.tn</a:t>
            </a:r>
          </a:p>
        </p:txBody>
      </p:sp>
      <p:sp>
        <p:nvSpPr>
          <p:cNvPr id="8" name="TextBox 7"/>
          <p:cNvSpPr txBox="1"/>
          <p:nvPr/>
        </p:nvSpPr>
        <p:spPr>
          <a:xfrm>
            <a:off x="6914777" y="4339604"/>
            <a:ext cx="1524372" cy="617220"/>
          </a:xfrm>
          <a:prstGeom prst="rect">
            <a:avLst/>
          </a:prstGeom>
          <a:noFill/>
        </p:spPr>
        <p:txBody>
          <a:bodyPr wrap="square">
            <a:spAutoFit/>
          </a:bodyPr>
          <a:lstStyle/>
          <a:p>
            <a:pPr algn="l"/>
            <a:r>
              <a:rPr sz="5400" b="0" i="0" spc="750">
                <a:solidFill>
                  <a:srgbClr val="D9B45A"/>
                </a:solidFill>
                <a:latin typeface="Cormorant Garamond"/>
              </a:rPr>
              <a:t>MAGON</a:t>
            </a:r>
          </a:p>
        </p:txBody>
      </p:sp>
    </p:spTree>
  </p:cSld>
  <p:clrMapOvr>
    <a:masterClrMapping/>
  </p:clrMapOvr>
  <p:transition dur="500" advClick="1">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